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66" r:id="rId2"/>
    <p:sldId id="257" r:id="rId3"/>
    <p:sldId id="271" r:id="rId15"/>
    <p:sldId id="267" r:id="rId4"/>
    <p:sldId id="272" r:id="rId16"/>
    <p:sldId id="268" r:id="rId5"/>
    <p:sldId id="269" r:id="rId6"/>
    <p:sldId id="273" r:id="rId17"/>
    <p:sldId id="270" r:id="rId7"/>
    <p:sldId id="263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9D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40254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>
          <a:extLst>
            <a:ext uri="{FF2B5EF4-FFF2-40B4-BE49-F238E27FC236}">
              <a16:creationId xmlns:a16="http://schemas.microsoft.com/office/drawing/2014/main" id="{AD0AA497-1EE7-F68D-66FB-F8756BE2B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5:notes">
            <a:extLst>
              <a:ext uri="{FF2B5EF4-FFF2-40B4-BE49-F238E27FC236}">
                <a16:creationId xmlns:a16="http://schemas.microsoft.com/office/drawing/2014/main" id="{C453ED9B-995C-6843-B0C9-B3FF94FAE4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Team leader is taken as Harsh Jain, the first listed student and requester. Category 2 is inferred from the supplied Class 10 example and the Class 12 team. School prefix PP follows the Pitampura unit naming used in student email addresses; verify portal conventions before submission.</a:t>
            </a:r>
          </a:p>
        </p:txBody>
      </p:sp>
      <p:sp>
        <p:nvSpPr>
          <p:cNvPr id="241" name="Google Shape;241;p5:notes">
            <a:extLst>
              <a:ext uri="{FF2B5EF4-FFF2-40B4-BE49-F238E27FC236}">
                <a16:creationId xmlns:a16="http://schemas.microsoft.com/office/drawing/2014/main" id="{770BF2B7-2E56-C99A-7196-13F19BC112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463601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>
          <a:extLst>
            <a:ext uri="{FF2B5EF4-FFF2-40B4-BE49-F238E27FC236}">
              <a16:creationId xmlns:a16="http://schemas.microsoft.com/office/drawing/2014/main" id="{FA5E0C8F-2206-51F1-0695-98AC23FD4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5:notes">
            <a:extLst>
              <a:ext uri="{FF2B5EF4-FFF2-40B4-BE49-F238E27FC236}">
                <a16:creationId xmlns:a16="http://schemas.microsoft.com/office/drawing/2014/main" id="{330C7AD0-B8EF-3BDE-5738-FD82CFE984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Verified from VisionWorkerClient.ts: exactly two workers, pose and object, not three. Object analysis lower-frequency CPU. Browser app is statically hosted with Sites. No FastAPI or WebSocket responder backend exists in this repository.</a:t>
            </a:r>
          </a:p>
        </p:txBody>
      </p:sp>
      <p:sp>
        <p:nvSpPr>
          <p:cNvPr id="241" name="Google Shape;241;p5:notes">
            <a:extLst>
              <a:ext uri="{FF2B5EF4-FFF2-40B4-BE49-F238E27FC236}">
                <a16:creationId xmlns:a16="http://schemas.microsoft.com/office/drawing/2014/main" id="{0E11A6CF-2552-132E-B1AC-AC1B179C03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66863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>
          <a:extLst>
            <a:ext uri="{FF2B5EF4-FFF2-40B4-BE49-F238E27FC236}">
              <a16:creationId xmlns:a16="http://schemas.microsoft.com/office/drawing/2014/main" id="{6DAD231F-1DC0-9515-E1B5-D7CCF6D13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5:notes">
            <a:extLst>
              <a:ext uri="{FF2B5EF4-FFF2-40B4-BE49-F238E27FC236}">
                <a16:creationId xmlns:a16="http://schemas.microsoft.com/office/drawing/2014/main" id="{CB7DE707-8FD8-12BB-AA35-20D2291B4B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Privacy boundary follows repo. Future trials require suitable permissions and review of applicable child-data rules. No compliance certification or proven safety outcome is claimed.</a:t>
            </a:r>
          </a:p>
        </p:txBody>
      </p:sp>
      <p:sp>
        <p:nvSpPr>
          <p:cNvPr id="241" name="Google Shape;241;p5:notes">
            <a:extLst>
              <a:ext uri="{FF2B5EF4-FFF2-40B4-BE49-F238E27FC236}">
                <a16:creationId xmlns:a16="http://schemas.microsoft.com/office/drawing/2014/main" id="{861050B9-84D2-944C-3F44-9842BDB72B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461025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>
          <a:extLst>
            <a:ext uri="{FF2B5EF4-FFF2-40B4-BE49-F238E27FC236}">
              <a16:creationId xmlns:a16="http://schemas.microsoft.com/office/drawing/2014/main" id="{39E0E29C-D5BC-44CC-1199-60754AFDF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5:notes">
            <a:extLst>
              <a:ext uri="{FF2B5EF4-FFF2-40B4-BE49-F238E27FC236}">
                <a16:creationId xmlns:a16="http://schemas.microsoft.com/office/drawing/2014/main" id="{D26FF8F9-AD59-07B9-E00F-B1BCFD985A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Benefits are intended outcomes. Measure missed events, false alerts, review latency and usability. Earlier attention and reduced harm have not been measured in a deployment.</a:t>
            </a:r>
          </a:p>
        </p:txBody>
      </p:sp>
      <p:sp>
        <p:nvSpPr>
          <p:cNvPr id="241" name="Google Shape;241;p5:notes">
            <a:extLst>
              <a:ext uri="{FF2B5EF4-FFF2-40B4-BE49-F238E27FC236}">
                <a16:creationId xmlns:a16="http://schemas.microsoft.com/office/drawing/2014/main" id="{D3DEEBED-6F7F-7E3D-C075-829D1842AB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967402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Additional reference: https://www.meity.gov.in/static/uploads/2024/06/2bf1f0e9f04e6fb4f8fef35e82c42aa5.pdf . Model card cautions against surveillance/life-critical use. Public demo: https://nivra-vision-lab.topperly.chatgpt.site . Supplied metrics PDF used as secondary context, not an authoritative source for unverified costs.</a:t>
            </a:r>
          </a:p>
        </p:txBody>
      </p:sp>
      <p:sp>
        <p:nvSpPr>
          <p:cNvPr id="215" name="Google Shape;21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659426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All five students and DOBs supplied by user. Mentor fields intentionally blank. No student information is published to the public demo.</a:t>
            </a:r>
          </a:p>
        </p:txBody>
      </p:sp>
      <p:sp>
        <p:nvSpPr>
          <p:cNvPr id="235" name="Google Shape;23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808061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mmary ">
  <p:cSld name="Summary ">
    <p:bg>
      <p:bgPr>
        <a:solidFill>
          <a:schemeClr val="lt1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 txBox="1"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37" name="Google Shape;37;p9"/>
          <p:cNvCxnSpPr/>
          <p:nvPr/>
        </p:nvCxnSpPr>
        <p:spPr>
          <a:xfrm>
            <a:off x="952500" y="1939108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8" name="Google Shape;38;p9"/>
          <p:cNvSpPr txBox="1">
            <a:spLocks noGrp="1"/>
          </p:cNvSpPr>
          <p:nvPr>
            <p:ph type="body" idx="1"/>
          </p:nvPr>
        </p:nvSpPr>
        <p:spPr>
          <a:xfrm>
            <a:off x="952500" y="2656904"/>
            <a:ext cx="4838700" cy="574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39" name="Google Shape;39;p9"/>
          <p:cNvGrpSpPr/>
          <p:nvPr/>
        </p:nvGrpSpPr>
        <p:grpSpPr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40" name="Google Shape;40;p9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41" name="Google Shape;41;p9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42" name="Google Shape;42;p9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43" name="Google Shape;43;p9"/>
          <p:cNvSpPr txBox="1">
            <a:spLocks noGrp="1"/>
          </p:cNvSpPr>
          <p:nvPr>
            <p:ph type="body" idx="2"/>
          </p:nvPr>
        </p:nvSpPr>
        <p:spPr>
          <a:xfrm>
            <a:off x="952500" y="2286000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body" idx="3"/>
          </p:nvPr>
        </p:nvSpPr>
        <p:spPr>
          <a:xfrm>
            <a:off x="953655" y="3841846"/>
            <a:ext cx="4838700" cy="636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body" idx="4"/>
          </p:nvPr>
        </p:nvSpPr>
        <p:spPr>
          <a:xfrm>
            <a:off x="953655" y="3470942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5"/>
          </p:nvPr>
        </p:nvSpPr>
        <p:spPr>
          <a:xfrm>
            <a:off x="952500" y="5017901"/>
            <a:ext cx="4838700" cy="908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6"/>
          </p:nvPr>
        </p:nvSpPr>
        <p:spPr>
          <a:xfrm>
            <a:off x="952500" y="4646997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body" idx="7"/>
          </p:nvPr>
        </p:nvSpPr>
        <p:spPr>
          <a:xfrm>
            <a:off x="6399647" y="2656904"/>
            <a:ext cx="4838700" cy="574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body" idx="8"/>
          </p:nvPr>
        </p:nvSpPr>
        <p:spPr>
          <a:xfrm>
            <a:off x="6399647" y="2286000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9"/>
          </p:nvPr>
        </p:nvSpPr>
        <p:spPr>
          <a:xfrm>
            <a:off x="6399647" y="3841846"/>
            <a:ext cx="4838700" cy="908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body" idx="13"/>
          </p:nvPr>
        </p:nvSpPr>
        <p:spPr>
          <a:xfrm>
            <a:off x="6399647" y="3470942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dt" idx="10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ftr" idx="11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  <p:extLst>
      <p:ext uri="{BB962C8B-B14F-4D97-AF65-F5344CB8AC3E}">
        <p14:creationId xmlns:p14="http://schemas.microsoft.com/office/powerpoint/2010/main" val="615637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roduction">
  <p:cSld name="Introduction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oogle Shape;24;p8"/>
          <p:cNvGrpSpPr/>
          <p:nvPr/>
        </p:nvGrpSpPr>
        <p:grpSpPr>
          <a:xfrm rot="5400000" flipH="1">
            <a:off x="0" y="3900132"/>
            <a:ext cx="2959226" cy="2959226"/>
            <a:chOff x="0" y="12289"/>
            <a:chExt cx="3550" cy="3551"/>
          </a:xfrm>
        </p:grpSpPr>
        <p:sp>
          <p:nvSpPr>
            <p:cNvPr id="25" name="Google Shape;25;p8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6" name="Google Shape;26;p8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7" name="Google Shape;27;p8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28" name="Google Shape;28;p8"/>
          <p:cNvSpPr>
            <a:spLocks noGrp="1"/>
          </p:cNvSpPr>
          <p:nvPr>
            <p:ph type="pic" idx="2"/>
          </p:nvPr>
        </p:nvSpPr>
        <p:spPr>
          <a:xfrm>
            <a:off x="6096000" y="-22543"/>
            <a:ext cx="6096000" cy="6903086"/>
          </a:xfrm>
          <a:prstGeom prst="rect">
            <a:avLst/>
          </a:prstGeom>
          <a:noFill/>
          <a:ln>
            <a:noFill/>
          </a:ln>
        </p:spPr>
      </p:sp>
      <p:sp>
        <p:nvSpPr>
          <p:cNvPr id="29" name="Google Shape;29;p8"/>
          <p:cNvSpPr txBox="1"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30" name="Google Shape;30;p8"/>
          <p:cNvCxnSpPr/>
          <p:nvPr/>
        </p:nvCxnSpPr>
        <p:spPr>
          <a:xfrm>
            <a:off x="952500" y="1939108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1" name="Google Shape;31;p8"/>
          <p:cNvSpPr txBox="1">
            <a:spLocks noGrp="1"/>
          </p:cNvSpPr>
          <p:nvPr>
            <p:ph type="body" idx="1"/>
          </p:nvPr>
        </p:nvSpPr>
        <p:spPr>
          <a:xfrm>
            <a:off x="952499" y="2289363"/>
            <a:ext cx="4572001" cy="2795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dt" idx="10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ftr" idx="11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  <p:extLst>
      <p:ext uri="{BB962C8B-B14F-4D97-AF65-F5344CB8AC3E}">
        <p14:creationId xmlns:p14="http://schemas.microsoft.com/office/powerpoint/2010/main" val="7842461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3480">
          <p15:clr>
            <a:srgbClr val="FBAE40"/>
          </p15:clr>
        </p15:guide>
        <p15:guide id="3" orient="horz" pos="1440">
          <p15:clr>
            <a:srgbClr val="FBAE40"/>
          </p15:clr>
        </p15:guide>
        <p15:guide id="4" orient="horz" pos="1224">
          <p15:clr>
            <a:srgbClr val="FBAE40"/>
          </p15:clr>
        </p15:guide>
        <p15:guide id="5" orient="horz" pos="552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github.com/tanishqagg-dev/nivra-vision-lab" TargetMode="External"/><Relationship Id="rId4" Type="http://schemas.openxmlformats.org/officeDocument/2006/relationships/hyperlink" Target="https://www.who.int/westernpacific/publications/i/item/9789240047136" TargetMode="External"/><Relationship Id="rId5" Type="http://schemas.openxmlformats.org/officeDocument/2006/relationships/hyperlink" Target="https://developers.google.com/edge/mediapipe/solutions/vision/pose_landmarker/web_js" TargetMode="External"/><Relationship Id="rId6" Type="http://schemas.openxmlformats.org/officeDocument/2006/relationships/hyperlink" Target="https://dsel.education.gov.in/sites/default/files/guidelines/guidelines_sss.pdf" TargetMode="External"/><Relationship Id="rId7" Type="http://schemas.openxmlformats.org/officeDocument/2006/relationships/hyperlink" Target="https://www.axis.com/products/axis-object-analytics" TargetMode="External"/><Relationship Id="rId8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who.int/westernpacific/publications/i/item/9789240047136" TargetMode="Externa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>
          <a:extLst>
            <a:ext uri="{FF2B5EF4-FFF2-40B4-BE49-F238E27FC236}">
              <a16:creationId xmlns:a16="http://schemas.microsoft.com/office/drawing/2014/main" id="{F1F5F7E1-2D66-467B-F164-52602A8BF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2">
            <a:extLst>
              <a:ext uri="{FF2B5EF4-FFF2-40B4-BE49-F238E27FC236}">
                <a16:creationId xmlns:a16="http://schemas.microsoft.com/office/drawing/2014/main" id="{CB596411-A76F-ECDB-FA18-6B1BBC2CDFDA}"/>
              </a:ext>
            </a:extLst>
          </p:cNvPr>
          <p:cNvSpPr/>
          <p:nvPr/>
        </p:nvSpPr>
        <p:spPr>
          <a:xfrm>
            <a:off x="73152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kern="0" spc="3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 Bharati Hackathon 3.0</a:t>
            </a:r>
            <a:endParaRPr lang="en-US" sz="3200" dirty="0">
              <a:solidFill>
                <a:srgbClr val="002060"/>
              </a:solidFill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BB482F5-EFB3-5068-A003-14FD2681834A}"/>
              </a:ext>
            </a:extLst>
          </p:cNvPr>
          <p:cNvSpPr/>
          <p:nvPr/>
        </p:nvSpPr>
        <p:spPr>
          <a:xfrm>
            <a:off x="731520" y="119245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i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Submission</a:t>
            </a:r>
            <a:endParaRPr lang="en-US" sz="3200" dirty="0">
              <a:solidFill>
                <a:srgbClr val="002060"/>
              </a:solidFill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929C5975-B3A2-2B71-F41F-39A0442ACAAF}"/>
              </a:ext>
            </a:extLst>
          </p:cNvPr>
          <p:cNvSpPr/>
          <p:nvPr/>
        </p:nvSpPr>
        <p:spPr>
          <a:xfrm>
            <a:off x="731520" y="1923019"/>
            <a:ext cx="9875520" cy="100584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>
              <a:spcAft>
                <a:spcPts val="600"/>
              </a:spcAft>
              <a:defRPr sz="3000" b="1">
                <a:solidFill>
                  <a:srgbClr val="222760"/>
                </a:solidFill>
                <a:latin typeface="Georgia"/>
              </a:defRPr>
              <a:buNone/>
            </a:pPr>
            <a:r>
              <a:t>NIVRA: Before Impact</a:t>
            </a:r>
            <a:endParaRPr lang="en-US" sz="4000" dirty="0">
              <a:solidFill>
                <a:srgbClr val="002060"/>
              </a:solidFill>
            </a:endParaRPr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43EA0BC3-3FA9-F645-8556-24420EA92C5B}"/>
              </a:ext>
            </a:extLst>
          </p:cNvPr>
          <p:cNvSpPr/>
          <p:nvPr/>
        </p:nvSpPr>
        <p:spPr>
          <a:xfrm>
            <a:off x="731520" y="3191090"/>
            <a:ext cx="1069848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blurRad="152400" dist="508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>
              <a:solidFill>
                <a:srgbClr val="002060"/>
              </a:solidFill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D400A172-9FC3-D7CE-8DC3-1A5DFE286D88}"/>
              </a:ext>
            </a:extLst>
          </p:cNvPr>
          <p:cNvSpPr/>
          <p:nvPr/>
        </p:nvSpPr>
        <p:spPr>
          <a:xfrm>
            <a:off x="5120640" y="3063240"/>
            <a:ext cx="6035040" cy="444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>
              <a:solidFill>
                <a:srgbClr val="002060"/>
              </a:solidFill>
            </a:endParaRPr>
          </a:p>
        </p:txBody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660C73F0-C506-7964-0C96-0DDC1210B6D4}"/>
              </a:ext>
            </a:extLst>
          </p:cNvPr>
          <p:cNvSpPr/>
          <p:nvPr/>
        </p:nvSpPr>
        <p:spPr>
          <a:xfrm>
            <a:off x="1005840" y="3507377"/>
            <a:ext cx="10149840" cy="0"/>
          </a:xfrm>
          <a:prstGeom prst="line">
            <a:avLst/>
          </a:prstGeom>
          <a:noFill/>
          <a:ln w="12700">
            <a:solidFill>
              <a:srgbClr val="E4E7F2"/>
            </a:solidFill>
            <a:prstDash val="solid"/>
          </a:ln>
        </p:spPr>
        <p:txBody>
          <a:bodyPr/>
          <a:lstStyle/>
          <a:p>
            <a:endParaRPr lang="en-IN">
              <a:solidFill>
                <a:srgbClr val="002060"/>
              </a:solidFill>
            </a:endParaRPr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886E3D25-0556-CAE9-D319-64E05E2C62EA}"/>
              </a:ext>
            </a:extLst>
          </p:cNvPr>
          <p:cNvSpPr/>
          <p:nvPr/>
        </p:nvSpPr>
        <p:spPr>
          <a:xfrm>
            <a:off x="952500" y="3629025"/>
            <a:ext cx="3810000" cy="26670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>
            <a:noAutofit/>
          </a:bodyPr>
          <a:lstStyle/>
          <a:p>
            <a:pPr marL="0" indent="0" algn="l" lvl="0">
              <a:lnSpc>
                <a:spcPct val="110000"/>
              </a:lnSpc>
              <a:spcAft>
                <a:spcPts val="600"/>
              </a:spcAft>
              <a:buNone/>
              <a:defRPr sz="1125" b="1" i="0">
                <a:solidFill>
                  <a:srgbClr val="002060"/>
                </a:solidFill>
                <a:latin typeface="Arial"/>
                <a:ea typeface="Arial"/>
                <a:cs typeface="Arial"/>
              </a:defRPr>
            </a:pPr>
            <a:r>
              <a:rPr lang="en-US" sz="1125" b="1" dirty="0" i="0">
                <a:solidFill>
                  <a:srgbClr val="002060"/>
                </a:solidFill>
                <a:latin typeface="Arial"/>
                <a:ea typeface="Arial"/>
                <a:cs typeface="Arial"/>
              </a:rPr>
              <a:t>Problem Statement Title</a:t>
            </a:r>
            <a:endParaRPr lang="en-US" sz="1125" dirty="0" b="1" i="0">
              <a:solidFill>
                <a:srgbClr val="00206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1CF4DBC1-9609-5FFB-FA1D-2934F197C1D5}"/>
              </a:ext>
            </a:extLst>
          </p:cNvPr>
          <p:cNvSpPr/>
          <p:nvPr/>
        </p:nvSpPr>
        <p:spPr>
          <a:xfrm>
            <a:off x="5067300" y="3571875"/>
            <a:ext cx="6000750" cy="333375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>
            <a:noAutofit/>
          </a:bodyPr>
          <a:lstStyle/>
          <a:p>
            <a:pPr marL="0" indent="0" algn="l" lvl="0">
              <a:lnSpc>
                <a:spcPct val="110000"/>
              </a:lnSpc>
              <a:spcAft>
                <a:spcPts val="600"/>
              </a:spcAft>
              <a:buNone/>
              <a:defRPr sz="1575" b="0" i="0">
                <a:solidFill>
                  <a:srgbClr val="222760"/>
                </a:solidFill>
                <a:latin typeface="Arial"/>
                <a:ea typeface="Arial"/>
                <a:cs typeface="Arial"/>
              </a:defRPr>
            </a:pPr>
            <a:r>
              <a:t>CCTV can miss warning signs before an incident escalates</a:t>
            </a:r>
            <a:endParaRPr lang="en-US" sz="1575" dirty="0" b="0" i="0">
              <a:solidFill>
                <a:srgbClr val="22276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Shape 11">
            <a:extLst>
              <a:ext uri="{FF2B5EF4-FFF2-40B4-BE49-F238E27FC236}">
                <a16:creationId xmlns:a16="http://schemas.microsoft.com/office/drawing/2014/main" id="{B4545435-528F-D771-1AFA-8DB6DF0686C9}"/>
              </a:ext>
            </a:extLst>
          </p:cNvPr>
          <p:cNvSpPr/>
          <p:nvPr/>
        </p:nvSpPr>
        <p:spPr>
          <a:xfrm>
            <a:off x="1005840" y="3951514"/>
            <a:ext cx="10149840" cy="0"/>
          </a:xfrm>
          <a:prstGeom prst="line">
            <a:avLst/>
          </a:prstGeom>
          <a:noFill/>
          <a:ln w="12700">
            <a:solidFill>
              <a:srgbClr val="E4E7F2"/>
            </a:solidFill>
            <a:prstDash val="solid"/>
          </a:ln>
        </p:spPr>
        <p:txBody>
          <a:bodyPr/>
          <a:lstStyle/>
          <a:p>
            <a:endParaRPr lang="en-IN">
              <a:solidFill>
                <a:srgbClr val="002060"/>
              </a:solidFill>
            </a:endParaRPr>
          </a:p>
        </p:txBody>
      </p:sp>
      <p:sp>
        <p:nvSpPr>
          <p:cNvPr id="21" name="Text 12">
            <a:extLst>
              <a:ext uri="{FF2B5EF4-FFF2-40B4-BE49-F238E27FC236}">
                <a16:creationId xmlns:a16="http://schemas.microsoft.com/office/drawing/2014/main" id="{3B21521D-8097-D790-F5CD-0347A1A6B6D3}"/>
              </a:ext>
            </a:extLst>
          </p:cNvPr>
          <p:cNvSpPr/>
          <p:nvPr/>
        </p:nvSpPr>
        <p:spPr>
          <a:xfrm>
            <a:off x="952500" y="4072890"/>
            <a:ext cx="3810000" cy="26670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>
            <a:noAutofit/>
          </a:bodyPr>
          <a:lstStyle/>
          <a:p>
            <a:pPr marL="0" indent="0" algn="l" lvl="0">
              <a:lnSpc>
                <a:spcPct val="110000"/>
              </a:lnSpc>
              <a:spcAft>
                <a:spcPts val="600"/>
              </a:spcAft>
              <a:buNone/>
              <a:defRPr sz="1125" b="1" i="0">
                <a:solidFill>
                  <a:srgbClr val="002060"/>
                </a:solidFill>
                <a:latin typeface="Arial"/>
                <a:ea typeface="Arial"/>
                <a:cs typeface="Arial"/>
              </a:defRPr>
            </a:pPr>
            <a:r>
              <a:rPr lang="en-US" sz="1125" b="1" dirty="0" i="0">
                <a:solidFill>
                  <a:srgbClr val="002060"/>
                </a:solidFill>
                <a:latin typeface="Arial"/>
                <a:ea typeface="Arial"/>
                <a:cs typeface="Arial"/>
              </a:rPr>
              <a:t>Theme</a:t>
            </a:r>
            <a:endParaRPr lang="en-US" sz="1125" dirty="0" b="1" i="0">
              <a:solidFill>
                <a:srgbClr val="00206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Text 13">
            <a:extLst>
              <a:ext uri="{FF2B5EF4-FFF2-40B4-BE49-F238E27FC236}">
                <a16:creationId xmlns:a16="http://schemas.microsoft.com/office/drawing/2014/main" id="{772B60E9-1A36-50EB-B677-68B52948315B}"/>
              </a:ext>
            </a:extLst>
          </p:cNvPr>
          <p:cNvSpPr/>
          <p:nvPr/>
        </p:nvSpPr>
        <p:spPr>
          <a:xfrm>
            <a:off x="5067300" y="4015740"/>
            <a:ext cx="6000750" cy="333375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>
            <a:noAutofit/>
          </a:bodyPr>
          <a:lstStyle/>
          <a:p>
            <a:pPr marL="0" indent="0" algn="l" lvl="0">
              <a:lnSpc>
                <a:spcPct val="110000"/>
              </a:lnSpc>
              <a:spcAft>
                <a:spcPts val="600"/>
              </a:spcAft>
              <a:buNone/>
              <a:defRPr sz="1575" b="0" i="0">
                <a:solidFill>
                  <a:srgbClr val="222760"/>
                </a:solidFill>
                <a:latin typeface="Arial"/>
                <a:ea typeface="Arial"/>
                <a:cs typeface="Arial"/>
              </a:defRPr>
            </a:pPr>
            <a:r>
              <a:t>T3 | AI for Good</a:t>
            </a:r>
            <a:endParaRPr lang="en-US" sz="1575" dirty="0" b="0" i="0">
              <a:solidFill>
                <a:srgbClr val="22276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Shape 14">
            <a:extLst>
              <a:ext uri="{FF2B5EF4-FFF2-40B4-BE49-F238E27FC236}">
                <a16:creationId xmlns:a16="http://schemas.microsoft.com/office/drawing/2014/main" id="{72C12956-5F9F-EE58-4447-6ACBC4646ADB}"/>
              </a:ext>
            </a:extLst>
          </p:cNvPr>
          <p:cNvSpPr/>
          <p:nvPr/>
        </p:nvSpPr>
        <p:spPr>
          <a:xfrm>
            <a:off x="1005840" y="4395651"/>
            <a:ext cx="10149840" cy="0"/>
          </a:xfrm>
          <a:prstGeom prst="line">
            <a:avLst/>
          </a:prstGeom>
          <a:noFill/>
          <a:ln w="12700">
            <a:solidFill>
              <a:srgbClr val="E4E7F2"/>
            </a:solidFill>
            <a:prstDash val="solid"/>
          </a:ln>
        </p:spPr>
        <p:txBody>
          <a:bodyPr/>
          <a:lstStyle/>
          <a:p>
            <a:endParaRPr lang="en-IN">
              <a:solidFill>
                <a:srgbClr val="002060"/>
              </a:solidFill>
            </a:endParaRPr>
          </a:p>
        </p:txBody>
      </p:sp>
      <p:sp>
        <p:nvSpPr>
          <p:cNvPr id="27" name="Text 15">
            <a:extLst>
              <a:ext uri="{FF2B5EF4-FFF2-40B4-BE49-F238E27FC236}">
                <a16:creationId xmlns:a16="http://schemas.microsoft.com/office/drawing/2014/main" id="{E3FEDFC6-927E-DF15-54F9-30969801F2E7}"/>
              </a:ext>
            </a:extLst>
          </p:cNvPr>
          <p:cNvSpPr/>
          <p:nvPr/>
        </p:nvSpPr>
        <p:spPr>
          <a:xfrm>
            <a:off x="1005840" y="4395651"/>
            <a:ext cx="4023360" cy="444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>
              <a:solidFill>
                <a:srgbClr val="002060"/>
              </a:solidFill>
            </a:endParaRPr>
          </a:p>
        </p:txBody>
      </p:sp>
      <p:sp>
        <p:nvSpPr>
          <p:cNvPr id="29" name="Text 16">
            <a:extLst>
              <a:ext uri="{FF2B5EF4-FFF2-40B4-BE49-F238E27FC236}">
                <a16:creationId xmlns:a16="http://schemas.microsoft.com/office/drawing/2014/main" id="{78A34103-47A8-9FE7-3B67-DD45BC767875}"/>
              </a:ext>
            </a:extLst>
          </p:cNvPr>
          <p:cNvSpPr/>
          <p:nvPr/>
        </p:nvSpPr>
        <p:spPr>
          <a:xfrm>
            <a:off x="5120640" y="4395651"/>
            <a:ext cx="6035040" cy="444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>
              <a:solidFill>
                <a:srgbClr val="002060"/>
              </a:solidFill>
            </a:endParaRPr>
          </a:p>
        </p:txBody>
      </p:sp>
      <p:sp>
        <p:nvSpPr>
          <p:cNvPr id="31" name="Shape 17">
            <a:extLst>
              <a:ext uri="{FF2B5EF4-FFF2-40B4-BE49-F238E27FC236}">
                <a16:creationId xmlns:a16="http://schemas.microsoft.com/office/drawing/2014/main" id="{9665B41C-0812-424E-D913-A108277E671F}"/>
              </a:ext>
            </a:extLst>
          </p:cNvPr>
          <p:cNvSpPr/>
          <p:nvPr/>
        </p:nvSpPr>
        <p:spPr>
          <a:xfrm>
            <a:off x="1005840" y="4839789"/>
            <a:ext cx="10149840" cy="0"/>
          </a:xfrm>
          <a:prstGeom prst="line">
            <a:avLst/>
          </a:prstGeom>
          <a:noFill/>
          <a:ln w="12700">
            <a:solidFill>
              <a:srgbClr val="E4E7F2"/>
            </a:solidFill>
            <a:prstDash val="solid"/>
          </a:ln>
        </p:spPr>
        <p:txBody>
          <a:bodyPr/>
          <a:lstStyle/>
          <a:p>
            <a:endParaRPr lang="en-IN">
              <a:solidFill>
                <a:srgbClr val="002060"/>
              </a:solidFill>
            </a:endParaRPr>
          </a:p>
        </p:txBody>
      </p:sp>
      <p:sp>
        <p:nvSpPr>
          <p:cNvPr id="33" name="Text 18">
            <a:extLst>
              <a:ext uri="{FF2B5EF4-FFF2-40B4-BE49-F238E27FC236}">
                <a16:creationId xmlns:a16="http://schemas.microsoft.com/office/drawing/2014/main" id="{74CEDA0C-14A7-6746-95AC-266E15A9DACF}"/>
              </a:ext>
            </a:extLst>
          </p:cNvPr>
          <p:cNvSpPr/>
          <p:nvPr/>
        </p:nvSpPr>
        <p:spPr>
          <a:xfrm>
            <a:off x="952500" y="4516755"/>
            <a:ext cx="3810000" cy="26670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>
            <a:noAutofit/>
          </a:bodyPr>
          <a:lstStyle/>
          <a:p>
            <a:pPr marL="0" indent="0" algn="l" lvl="0">
              <a:lnSpc>
                <a:spcPct val="110000"/>
              </a:lnSpc>
              <a:spcAft>
                <a:spcPts val="600"/>
              </a:spcAft>
              <a:buNone/>
              <a:defRPr sz="1125" b="1" i="0">
                <a:solidFill>
                  <a:srgbClr val="002060"/>
                </a:solidFill>
                <a:latin typeface="Arial"/>
                <a:ea typeface="Arial"/>
                <a:cs typeface="Arial"/>
              </a:defRPr>
            </a:pPr>
            <a:r>
              <a:rPr lang="en-US" sz="1125" b="1" dirty="0" i="0">
                <a:solidFill>
                  <a:srgbClr val="002060"/>
                </a:solidFill>
                <a:latin typeface="Arial"/>
                <a:ea typeface="Arial"/>
                <a:cs typeface="Arial"/>
              </a:rPr>
              <a:t>Team Name</a:t>
            </a:r>
            <a:endParaRPr lang="en-US" sz="1125" dirty="0" b="1" i="0">
              <a:solidFill>
                <a:srgbClr val="00206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" name="Text 19">
            <a:extLst>
              <a:ext uri="{FF2B5EF4-FFF2-40B4-BE49-F238E27FC236}">
                <a16:creationId xmlns:a16="http://schemas.microsoft.com/office/drawing/2014/main" id="{0F04A708-E8A6-7D7F-A198-C2F4F2B7B962}"/>
              </a:ext>
            </a:extLst>
          </p:cNvPr>
          <p:cNvSpPr/>
          <p:nvPr/>
        </p:nvSpPr>
        <p:spPr>
          <a:xfrm>
            <a:off x="5067300" y="4459605"/>
            <a:ext cx="6000750" cy="333375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>
            <a:noAutofit/>
          </a:bodyPr>
          <a:lstStyle/>
          <a:p>
            <a:pPr marL="0" indent="0" algn="l" lvl="0">
              <a:lnSpc>
                <a:spcPct val="110000"/>
              </a:lnSpc>
              <a:spcAft>
                <a:spcPts val="600"/>
              </a:spcAft>
              <a:buNone/>
              <a:defRPr sz="1575" b="0" i="0">
                <a:solidFill>
                  <a:srgbClr val="222760"/>
                </a:solidFill>
                <a:latin typeface="Arial"/>
                <a:ea typeface="Arial"/>
                <a:cs typeface="Arial"/>
              </a:defRPr>
            </a:pPr>
            <a:r>
              <a:t>Team Damage Control</a:t>
            </a:r>
            <a:endParaRPr lang="en-US" sz="1575" dirty="0" b="0" i="0">
              <a:solidFill>
                <a:srgbClr val="22276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" name="Shape 20">
            <a:extLst>
              <a:ext uri="{FF2B5EF4-FFF2-40B4-BE49-F238E27FC236}">
                <a16:creationId xmlns:a16="http://schemas.microsoft.com/office/drawing/2014/main" id="{3E91B74A-EA5C-0F32-3C0B-98A149CF63A4}"/>
              </a:ext>
            </a:extLst>
          </p:cNvPr>
          <p:cNvSpPr/>
          <p:nvPr/>
        </p:nvSpPr>
        <p:spPr>
          <a:xfrm>
            <a:off x="1005840" y="5283926"/>
            <a:ext cx="10149840" cy="0"/>
          </a:xfrm>
          <a:prstGeom prst="line">
            <a:avLst/>
          </a:prstGeom>
          <a:noFill/>
          <a:ln w="12700">
            <a:solidFill>
              <a:srgbClr val="E4E7F2"/>
            </a:solidFill>
            <a:prstDash val="solid"/>
          </a:ln>
        </p:spPr>
        <p:txBody>
          <a:bodyPr/>
          <a:lstStyle/>
          <a:p>
            <a:endParaRPr lang="en-IN">
              <a:solidFill>
                <a:srgbClr val="002060"/>
              </a:solidFill>
            </a:endParaRPr>
          </a:p>
        </p:txBody>
      </p:sp>
      <p:sp>
        <p:nvSpPr>
          <p:cNvPr id="39" name="Text 21">
            <a:extLst>
              <a:ext uri="{FF2B5EF4-FFF2-40B4-BE49-F238E27FC236}">
                <a16:creationId xmlns:a16="http://schemas.microsoft.com/office/drawing/2014/main" id="{E20E031C-781A-87D9-1113-02236EB3FF36}"/>
              </a:ext>
            </a:extLst>
          </p:cNvPr>
          <p:cNvSpPr/>
          <p:nvPr/>
        </p:nvSpPr>
        <p:spPr>
          <a:xfrm>
            <a:off x="952500" y="4960620"/>
            <a:ext cx="3810000" cy="26670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>
            <a:noAutofit/>
          </a:bodyPr>
          <a:lstStyle/>
          <a:p>
            <a:pPr marL="0" indent="0" algn="l" lvl="0">
              <a:lnSpc>
                <a:spcPct val="110000"/>
              </a:lnSpc>
              <a:spcAft>
                <a:spcPts val="600"/>
              </a:spcAft>
              <a:buNone/>
              <a:defRPr sz="1125" b="1" i="0">
                <a:solidFill>
                  <a:srgbClr val="002060"/>
                </a:solidFill>
                <a:latin typeface="Arial"/>
                <a:ea typeface="Arial"/>
                <a:cs typeface="Arial"/>
              </a:defRPr>
            </a:pPr>
            <a:r>
              <a:rPr lang="en-US" sz="1125" b="1" dirty="0" i="0">
                <a:solidFill>
                  <a:srgbClr val="002060"/>
                </a:solidFill>
                <a:latin typeface="Arial"/>
                <a:ea typeface="Arial"/>
                <a:cs typeface="Arial"/>
              </a:rPr>
              <a:t>Team Leader</a:t>
            </a:r>
            <a:endParaRPr lang="en-US" sz="1125" dirty="0" b="1" i="0">
              <a:solidFill>
                <a:srgbClr val="00206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" name="Text 22">
            <a:extLst>
              <a:ext uri="{FF2B5EF4-FFF2-40B4-BE49-F238E27FC236}">
                <a16:creationId xmlns:a16="http://schemas.microsoft.com/office/drawing/2014/main" id="{87376AFA-4CED-D805-43D2-B4BAE125A6FF}"/>
              </a:ext>
            </a:extLst>
          </p:cNvPr>
          <p:cNvSpPr/>
          <p:nvPr/>
        </p:nvSpPr>
        <p:spPr>
          <a:xfrm>
            <a:off x="5067300" y="4903470"/>
            <a:ext cx="6000750" cy="333375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>
            <a:noAutofit/>
          </a:bodyPr>
          <a:lstStyle/>
          <a:p>
            <a:pPr marL="0" indent="0" algn="l" lvl="0">
              <a:lnSpc>
                <a:spcPct val="110000"/>
              </a:lnSpc>
              <a:spcAft>
                <a:spcPts val="600"/>
              </a:spcAft>
              <a:buNone/>
              <a:defRPr sz="1575" b="0" i="0">
                <a:solidFill>
                  <a:srgbClr val="222760"/>
                </a:solidFill>
                <a:latin typeface="Arial"/>
                <a:ea typeface="Arial"/>
                <a:cs typeface="Arial"/>
              </a:defRPr>
            </a:pPr>
            <a:r>
              <a:t>Harsh Jain</a:t>
            </a:r>
            <a:endParaRPr lang="en-US" sz="1575" dirty="0" b="0" i="0">
              <a:solidFill>
                <a:srgbClr val="22276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" name="Shape 23">
            <a:extLst>
              <a:ext uri="{FF2B5EF4-FFF2-40B4-BE49-F238E27FC236}">
                <a16:creationId xmlns:a16="http://schemas.microsoft.com/office/drawing/2014/main" id="{7BBD9AFB-93BC-4BE4-A0B0-5E5910B84916}"/>
              </a:ext>
            </a:extLst>
          </p:cNvPr>
          <p:cNvSpPr/>
          <p:nvPr/>
        </p:nvSpPr>
        <p:spPr>
          <a:xfrm>
            <a:off x="1005840" y="5728063"/>
            <a:ext cx="10149840" cy="0"/>
          </a:xfrm>
          <a:prstGeom prst="line">
            <a:avLst/>
          </a:prstGeom>
          <a:noFill/>
          <a:ln w="12700">
            <a:solidFill>
              <a:srgbClr val="E4E7F2"/>
            </a:solidFill>
            <a:prstDash val="solid"/>
          </a:ln>
        </p:spPr>
        <p:txBody>
          <a:bodyPr/>
          <a:lstStyle/>
          <a:p>
            <a:endParaRPr lang="en-IN">
              <a:solidFill>
                <a:srgbClr val="002060"/>
              </a:solidFill>
            </a:endParaRPr>
          </a:p>
        </p:txBody>
      </p:sp>
      <p:sp>
        <p:nvSpPr>
          <p:cNvPr id="45" name="Text 24">
            <a:extLst>
              <a:ext uri="{FF2B5EF4-FFF2-40B4-BE49-F238E27FC236}">
                <a16:creationId xmlns:a16="http://schemas.microsoft.com/office/drawing/2014/main" id="{8B944417-9F17-038C-7FEA-565059465012}"/>
              </a:ext>
            </a:extLst>
          </p:cNvPr>
          <p:cNvSpPr/>
          <p:nvPr/>
        </p:nvSpPr>
        <p:spPr>
          <a:xfrm>
            <a:off x="952500" y="5404485"/>
            <a:ext cx="3810000" cy="26670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>
            <a:noAutofit/>
          </a:bodyPr>
          <a:lstStyle/>
          <a:p>
            <a:pPr marL="0" indent="0" algn="l" lvl="0">
              <a:lnSpc>
                <a:spcPct val="110000"/>
              </a:lnSpc>
              <a:spcAft>
                <a:spcPts val="600"/>
              </a:spcAft>
              <a:buNone/>
              <a:defRPr sz="1125" b="1" i="0">
                <a:solidFill>
                  <a:srgbClr val="002060"/>
                </a:solidFill>
                <a:latin typeface="Arial"/>
                <a:ea typeface="Arial"/>
                <a:cs typeface="Arial"/>
              </a:defRPr>
            </a:pPr>
            <a:r>
              <a:rPr lang="en-US" sz="1125" b="1" dirty="0" i="0">
                <a:solidFill>
                  <a:srgbClr val="002060"/>
                </a:solidFill>
                <a:latin typeface="Arial"/>
                <a:ea typeface="Arial"/>
                <a:cs typeface="Arial"/>
              </a:rPr>
              <a:t>Unit Name</a:t>
            </a:r>
            <a:endParaRPr lang="en-US" sz="1125" dirty="0" b="1" i="0">
              <a:solidFill>
                <a:srgbClr val="00206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Text 25">
            <a:extLst>
              <a:ext uri="{FF2B5EF4-FFF2-40B4-BE49-F238E27FC236}">
                <a16:creationId xmlns:a16="http://schemas.microsoft.com/office/drawing/2014/main" id="{80AA14F6-5499-52DA-0400-C9196CC2AB9C}"/>
              </a:ext>
            </a:extLst>
          </p:cNvPr>
          <p:cNvSpPr/>
          <p:nvPr/>
        </p:nvSpPr>
        <p:spPr>
          <a:xfrm>
            <a:off x="5067300" y="5347335"/>
            <a:ext cx="6000750" cy="333375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>
            <a:noAutofit/>
          </a:bodyPr>
          <a:lstStyle/>
          <a:p>
            <a:pPr marL="0" indent="0" algn="l" lvl="0">
              <a:lnSpc>
                <a:spcPct val="110000"/>
              </a:lnSpc>
              <a:spcAft>
                <a:spcPts val="600"/>
              </a:spcAft>
              <a:buNone/>
              <a:defRPr sz="1575" b="0" i="0">
                <a:solidFill>
                  <a:srgbClr val="222760"/>
                </a:solidFill>
                <a:latin typeface="Arial"/>
                <a:ea typeface="Arial"/>
                <a:cs typeface="Arial"/>
              </a:defRPr>
            </a:pPr>
            <a:r>
              <a:t>Bal Bharati Public School, Pitampura</a:t>
            </a:r>
            <a:endParaRPr lang="en-US" sz="1575" dirty="0" b="0" i="0">
              <a:solidFill>
                <a:srgbClr val="22276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FB5829B4-9EB7-59A8-4B53-C40C003FC0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0237" y="289084"/>
            <a:ext cx="1662112" cy="1433512"/>
          </a:xfrm>
          <a:prstGeom prst="rect">
            <a:avLst/>
          </a:prstGeom>
        </p:spPr>
      </p:pic>
      <p:sp>
        <p:nvSpPr>
          <p:cNvPr id="4" name="Text 24">
            <a:extLst>
              <a:ext uri="{FF2B5EF4-FFF2-40B4-BE49-F238E27FC236}">
                <a16:creationId xmlns:a16="http://schemas.microsoft.com/office/drawing/2014/main" id="{806E0F1E-C06A-CEAD-3117-5E44882F79A1}"/>
              </a:ext>
            </a:extLst>
          </p:cNvPr>
          <p:cNvSpPr/>
          <p:nvPr/>
        </p:nvSpPr>
        <p:spPr>
          <a:xfrm>
            <a:off x="952500" y="5848350"/>
            <a:ext cx="3810000" cy="26670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>
            <a:noAutofit/>
          </a:bodyPr>
          <a:lstStyle/>
          <a:p>
            <a:pPr marL="0" indent="0" algn="l" lvl="0">
              <a:lnSpc>
                <a:spcPct val="110000"/>
              </a:lnSpc>
              <a:spcAft>
                <a:spcPts val="600"/>
              </a:spcAft>
              <a:buNone/>
              <a:defRPr sz="1125" b="1" i="0">
                <a:solidFill>
                  <a:srgbClr val="002060"/>
                </a:solidFill>
                <a:latin typeface="Arial"/>
                <a:ea typeface="Arial"/>
                <a:cs typeface="Arial"/>
              </a:defRPr>
            </a:pPr>
            <a:r>
              <a:rPr lang="en-US" sz="1125" b="1" dirty="0" i="0">
                <a:solidFill>
                  <a:srgbClr val="002060"/>
                </a:solidFill>
                <a:latin typeface="Arial"/>
                <a:ea typeface="Arial"/>
                <a:cs typeface="Arial"/>
              </a:rPr>
              <a:t>Team Size</a:t>
            </a:r>
            <a:endParaRPr lang="en-US" sz="1125" dirty="0" b="1" i="0">
              <a:solidFill>
                <a:srgbClr val="00206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Text 25">
            <a:extLst>
              <a:ext uri="{FF2B5EF4-FFF2-40B4-BE49-F238E27FC236}">
                <a16:creationId xmlns:a16="http://schemas.microsoft.com/office/drawing/2014/main" id="{02131163-CB48-7571-1416-3DFA36D18D14}"/>
              </a:ext>
            </a:extLst>
          </p:cNvPr>
          <p:cNvSpPr/>
          <p:nvPr/>
        </p:nvSpPr>
        <p:spPr>
          <a:xfrm>
            <a:off x="5067300" y="5791200"/>
            <a:ext cx="6000750" cy="333375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>
            <a:noAutofit/>
          </a:bodyPr>
          <a:lstStyle/>
          <a:p>
            <a:pPr marL="0" indent="0" algn="l" lvl="0">
              <a:lnSpc>
                <a:spcPct val="110000"/>
              </a:lnSpc>
              <a:spcAft>
                <a:spcPts val="600"/>
              </a:spcAft>
              <a:buNone/>
              <a:defRPr sz="1575" b="0" i="0">
                <a:solidFill>
                  <a:srgbClr val="222760"/>
                </a:solidFill>
                <a:latin typeface="Arial"/>
                <a:ea typeface="Arial"/>
                <a:cs typeface="Arial"/>
              </a:defRPr>
            </a:pPr>
            <a:r>
              <a:t>5 students (excluding mentor)</a:t>
            </a:r>
            <a:endParaRPr lang="en-US" sz="1575" dirty="0" b="0" i="0">
              <a:solidFill>
                <a:srgbClr val="22276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7477125" y="2847975"/>
            <a:ext cx="3667125" cy="28575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 marL="0" indent="0">
              <a:spcAft>
                <a:spcPts val="600"/>
              </a:spcAft>
              <a:defRPr sz="1350" b="0">
                <a:solidFill>
                  <a:srgbClr val="46534C"/>
                </a:solidFill>
                <a:latin typeface="Arial"/>
              </a:defRPr>
              <a:buNone/>
            </a:pPr>
            <a:r>
              <a:t>Category: Cat2</a:t>
            </a:r>
          </a:p>
        </p:txBody>
      </p:sp>
      <p:pic>
        <p:nvPicPr>
          <p:cNvPr id="55" name="Picture 54" descr="logo-aperture-concept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85800" y="2619375"/>
            <a:ext cx="447675" cy="447675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219200" y="2714625"/>
            <a:ext cx="6048375" cy="3048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 marL="0" indent="0">
              <a:spcAft>
                <a:spcPts val="600"/>
              </a:spcAft>
              <a:defRPr sz="1650" b="0">
                <a:solidFill>
                  <a:srgbClr val="14251D"/>
                </a:solidFill>
                <a:latin typeface="Arial"/>
              </a:defRPr>
              <a:buNone/>
            </a:pPr>
            <a:r>
              <a:t>Spot warning signs. Help staff respond sooner.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001375" y="6524625"/>
            <a:ext cx="714375" cy="238125"/>
          </a:xfrm>
          <a:prstGeom prst="rect">
            <a:avLst/>
          </a:prstGeom>
          <a:noFill/>
        </p:spPr>
        <p:txBody>
          <a:bodyPr wrap="square" lIns="38100" rIns="38100" tIns="19050" bIns="19050" anchor="t">
            <a:noAutofit/>
          </a:bodyPr>
          <a:lstStyle/>
          <a:p>
            <a:pPr marL="0" indent="0" algn="r" lvl="0">
              <a:lnSpc>
                <a:spcPct val="110000"/>
              </a:lnSpc>
              <a:spcAft>
                <a:spcPts val="600"/>
              </a:spcAft>
              <a:buNone/>
              <a:defRPr sz="975" b="0" i="0">
                <a:solidFill>
                  <a:srgbClr val="222760"/>
                </a:solidFill>
                <a:latin typeface="Arial"/>
                <a:ea typeface="Arial"/>
                <a:cs typeface="Arial"/>
              </a:defRPr>
            </a:pPr>
            <a:r>
              <a:t>01 / 10</a:t>
            </a:r>
          </a:p>
        </p:txBody>
      </p:sp>
    </p:spTree>
    <p:extLst>
      <p:ext uri="{BB962C8B-B14F-4D97-AF65-F5344CB8AC3E}">
        <p14:creationId xmlns:p14="http://schemas.microsoft.com/office/powerpoint/2010/main" val="25315814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52450" y="457200"/>
            <a:ext cx="10382250" cy="60960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>
            <a:noAutofit/>
          </a:bodyPr>
          <a:lstStyle/>
          <a:p>
            <a:pPr marL="0" indent="0" algn="l" lvl="0">
              <a:lnSpc>
                <a:spcPct val="110000"/>
              </a:lnSpc>
              <a:spcAft>
                <a:spcPts val="600"/>
              </a:spcAft>
              <a:buNone/>
              <a:defRPr sz="2850" b="1" i="0">
                <a:solidFill>
                  <a:srgbClr val="222760"/>
                </a:solidFill>
                <a:latin typeface="Georgia"/>
                <a:ea typeface="Georgia"/>
                <a:cs typeface="Georgia"/>
              </a:defRPr>
            </a:pPr>
            <a:r>
              <a:t>Your Idea</a:t>
            </a:r>
            <a:endParaRPr lang="en-US" sz="2850" dirty="0" b="1" i="0">
              <a:solidFill>
                <a:srgbClr val="222760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" y="1325880"/>
            <a:ext cx="5477256" cy="4709160"/>
          </a:xfrm>
          <a:prstGeom prst="roundRect">
            <a:avLst>
              <a:gd name="adj" fmla="val 1165"/>
            </a:avLst>
          </a:prstGeom>
          <a:solidFill>
            <a:srgbClr val="FFFFFF"/>
          </a:solidFill>
          <a:ln w="1587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85800" y="1554480"/>
            <a:ext cx="5020056" cy="36576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>
            <a:noAutofit/>
          </a:bodyPr>
          <a:lstStyle/>
          <a:p>
            <a:pPr marL="0" indent="0" algn="l" lvl="0">
              <a:lnSpc>
                <a:spcPct val="110000"/>
              </a:lnSpc>
              <a:spcAft>
                <a:spcPts val="600"/>
              </a:spcAft>
              <a:buNone/>
              <a:defRPr sz="1500" b="1" i="0">
                <a:solidFill>
                  <a:srgbClr val="14251D"/>
                </a:solidFill>
                <a:latin typeface="Arial"/>
                <a:ea typeface="Arial"/>
                <a:cs typeface="Arial"/>
              </a:defRPr>
            </a:pPr>
            <a:r>
              <a:rPr lang="en-US" sz="1500" dirty="0" b="1" i="0">
                <a:solidFill>
                  <a:srgbClr val="14251D"/>
                </a:solidFill>
                <a:latin typeface="Arial"/>
                <a:ea typeface="Arial"/>
                <a:cs typeface="Arial"/>
              </a:rPr>
              <a:t>IDEA / SOLUTION :</a:t>
            </a:r>
            <a:endParaRPr lang="en-US" sz="1500" dirty="0" b="1" i="0">
              <a:solidFill>
                <a:srgbClr val="14251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254496" y="1325880"/>
            <a:ext cx="5477256" cy="4709160"/>
          </a:xfrm>
          <a:prstGeom prst="roundRect">
            <a:avLst>
              <a:gd name="adj" fmla="val 1165"/>
            </a:avLst>
          </a:prstGeom>
          <a:solidFill>
            <a:srgbClr val="FFFFFF"/>
          </a:solidFill>
          <a:ln w="1587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483096" y="1554480"/>
            <a:ext cx="5020056" cy="36576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>
            <a:noAutofit/>
          </a:bodyPr>
          <a:lstStyle/>
          <a:p>
            <a:pPr marL="0" indent="0" algn="l" lvl="0">
              <a:lnSpc>
                <a:spcPct val="110000"/>
              </a:lnSpc>
              <a:spcAft>
                <a:spcPts val="600"/>
              </a:spcAft>
              <a:buNone/>
              <a:defRPr sz="1500" b="1" i="0">
                <a:solidFill>
                  <a:srgbClr val="14251D"/>
                </a:solidFill>
                <a:latin typeface="Arial"/>
                <a:ea typeface="Arial"/>
                <a:cs typeface="Arial"/>
              </a:defRPr>
            </a:pPr>
            <a:r>
              <a:rPr lang="en-US" sz="1500" dirty="0" b="1" i="0">
                <a:solidFill>
                  <a:srgbClr val="14251D"/>
                </a:solidFill>
                <a:latin typeface="Arial"/>
                <a:ea typeface="Arial"/>
                <a:cs typeface="Arial"/>
              </a:rPr>
              <a:t>Problem Resolution :</a:t>
            </a:r>
            <a:endParaRPr lang="en-US" sz="1500" dirty="0" b="1" i="0">
              <a:solidFill>
                <a:srgbClr val="14251D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C3B8938-6710-D689-16BA-525BBFEFE1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5651" y="256032"/>
            <a:ext cx="592202" cy="510753"/>
          </a:xfrm>
          <a:prstGeom prst="rect">
            <a:avLst/>
          </a:prstGeom>
        </p:spPr>
      </p:pic>
      <p:pic>
        <p:nvPicPr>
          <p:cNvPr id="18" name="Picture 17" descr="school-corridor-natural.png"/>
          <p:cNvPicPr>
            <a:picLocks noChangeAspect="1"/>
          </p:cNvPicPr>
          <p:nvPr/>
        </p:nvPicPr>
        <p:blipFill>
          <a:blip r:embed="rId4"/>
          <a:srcRect t="14531" b="14531"/>
          <a:stretch>
            <a:fillRect/>
          </a:stretch>
        </p:blipFill>
        <p:spPr>
          <a:xfrm>
            <a:off x="695325" y="2028825"/>
            <a:ext cx="5010150" cy="2000250"/>
          </a:xfrm>
          <a:prstGeom prst="rect">
            <a:avLst/>
          </a:prstGeom>
        </p:spPr>
      </p:pic>
      <p:pic>
        <p:nvPicPr>
          <p:cNvPr id="19" name="Picture 18" descr="operator-review-natural.png"/>
          <p:cNvPicPr>
            <a:picLocks noChangeAspect="1"/>
          </p:cNvPicPr>
          <p:nvPr/>
        </p:nvPicPr>
        <p:blipFill>
          <a:blip r:embed="rId5"/>
          <a:srcRect t="14531" b="14531"/>
          <a:stretch>
            <a:fillRect/>
          </a:stretch>
        </p:blipFill>
        <p:spPr>
          <a:xfrm>
            <a:off x="6496050" y="2028825"/>
            <a:ext cx="5010150" cy="20002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04850" y="4210050"/>
            <a:ext cx="4953000" cy="70485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 marL="0" indent="0">
              <a:spcAft>
                <a:spcPts val="600"/>
              </a:spcAft>
              <a:defRPr sz="2175" b="1">
                <a:solidFill>
                  <a:srgbClr val="14251D"/>
                </a:solidFill>
                <a:latin typeface="Arial"/>
              </a:defRPr>
              <a:buNone/>
            </a:pPr>
            <a:r>
              <a:t>A camera can record a fight.</a:t>
            </a:r>
          </a:p>
          <a:p>
            <a:pPr marL="0" indent="0">
              <a:spcAft>
                <a:spcPts val="600"/>
              </a:spcAft>
              <a:defRPr sz="2175" b="1">
                <a:solidFill>
                  <a:srgbClr val="14251D"/>
                </a:solidFill>
                <a:latin typeface="Arial"/>
              </a:defRPr>
              <a:buNone/>
            </a:pPr>
            <a:r>
              <a:t>Who notices it starting?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850" y="5086350"/>
            <a:ext cx="4953000" cy="8001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noAutofit/>
          </a:bodyPr>
          <a:lstStyle/>
          <a:p>
            <a:pPr marL="190500" indent="-190500" algn="l" lvl="0">
              <a:lnSpc>
                <a:spcPct val="110000"/>
              </a:lnSpc>
              <a:spcAft>
                <a:spcPts val="600"/>
              </a:spcAft>
              <a:buChar char="•"/>
              <a:defRPr sz="1650" b="0" i="0">
                <a:solidFill>
                  <a:srgbClr val="46534C"/>
                </a:solidFill>
                <a:latin typeface="Arial"/>
                <a:ea typeface="Arial"/>
                <a:cs typeface="Arial"/>
              </a:defRPr>
            </a:pPr>
            <a:r>
              <a:t>Staff cannot watch every feed at once.</a:t>
            </a:r>
          </a:p>
          <a:p>
            <a:pPr marL="190500" indent="-190500" algn="l" lvl="0">
              <a:lnSpc>
                <a:spcPct val="110000"/>
              </a:lnSpc>
              <a:spcAft>
                <a:spcPts val="600"/>
              </a:spcAft>
              <a:buChar char="•"/>
              <a:defRPr sz="1650" b="0" i="0">
                <a:solidFill>
                  <a:srgbClr val="46534C"/>
                </a:solidFill>
                <a:latin typeface="Arial"/>
                <a:ea typeface="Arial"/>
                <a:cs typeface="Arial"/>
              </a:defRPr>
            </a:pPr>
            <a:r>
              <a:t>A developing incident can go unnoticed.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6050" y="4210050"/>
            <a:ext cx="4953000" cy="70485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 marL="0" indent="0">
              <a:spcAft>
                <a:spcPts val="600"/>
              </a:spcAft>
              <a:defRPr sz="2175" b="1">
                <a:solidFill>
                  <a:srgbClr val="14251D"/>
                </a:solidFill>
                <a:latin typeface="Arial"/>
              </a:defRPr>
              <a:buNone/>
            </a:pPr>
            <a:r>
              <a:t>NIVRA draws attention</a:t>
            </a:r>
          </a:p>
          <a:p>
            <a:pPr marL="0" indent="0">
              <a:spcAft>
                <a:spcPts val="600"/>
              </a:spcAft>
              <a:defRPr sz="2175" b="1">
                <a:solidFill>
                  <a:srgbClr val="14251D"/>
                </a:solidFill>
                <a:latin typeface="Arial"/>
              </a:defRPr>
              <a:buNone/>
            </a:pPr>
            <a:r>
              <a:t>to moments worth checking.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6050" y="5086350"/>
            <a:ext cx="4953000" cy="8001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noAutofit/>
          </a:bodyPr>
          <a:lstStyle/>
          <a:p>
            <a:pPr marL="190500" indent="-190500" algn="l" lvl="0">
              <a:lnSpc>
                <a:spcPct val="110000"/>
              </a:lnSpc>
              <a:spcAft>
                <a:spcPts val="600"/>
              </a:spcAft>
              <a:buChar char="•"/>
              <a:defRPr sz="1650" b="0" i="0">
                <a:solidFill>
                  <a:srgbClr val="46534C"/>
                </a:solidFill>
                <a:latin typeface="Arial"/>
                <a:ea typeface="Arial"/>
                <a:cs typeface="Arial"/>
              </a:defRPr>
            </a:pPr>
            <a:r>
              <a:t>It flags concerning movement.</a:t>
            </a:r>
          </a:p>
          <a:p>
            <a:pPr marL="190500" indent="-190500" algn="l" lvl="0">
              <a:lnSpc>
                <a:spcPct val="110000"/>
              </a:lnSpc>
              <a:spcAft>
                <a:spcPts val="600"/>
              </a:spcAft>
              <a:buChar char="•"/>
              <a:defRPr sz="1650" b="0" i="0">
                <a:solidFill>
                  <a:srgbClr val="46534C"/>
                </a:solidFill>
                <a:latin typeface="Arial"/>
                <a:ea typeface="Arial"/>
                <a:cs typeface="Arial"/>
              </a:defRPr>
            </a:pPr>
            <a:r>
              <a:t>A member of staff reviews the alert.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" y="6200775"/>
            <a:ext cx="10763250" cy="2667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noAutofit/>
          </a:bodyPr>
          <a:lstStyle/>
          <a:p>
            <a:pPr marL="0" indent="0" algn="l" lvl="0">
              <a:lnSpc>
                <a:spcPct val="110000"/>
              </a:lnSpc>
              <a:spcAft>
                <a:spcPts val="600"/>
              </a:spcAft>
              <a:buNone/>
              <a:defRPr sz="1125" b="0" i="0">
                <a:solidFill>
                  <a:srgbClr val="46534C"/>
                </a:solidFill>
                <a:latin typeface="Arial"/>
                <a:ea typeface="Arial"/>
                <a:cs typeface="Arial"/>
              </a:defRPr>
            </a:pPr>
            <a:r>
              <a:t>Illustrative AI-generated scenes. The proposed CCTV response system is still under development.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1375" y="6524625"/>
            <a:ext cx="714375" cy="238125"/>
          </a:xfrm>
          <a:prstGeom prst="rect">
            <a:avLst/>
          </a:prstGeom>
          <a:noFill/>
        </p:spPr>
        <p:txBody>
          <a:bodyPr wrap="square" lIns="38100" rIns="38100" tIns="19050" bIns="19050" anchor="t">
            <a:noAutofit/>
          </a:bodyPr>
          <a:lstStyle/>
          <a:p>
            <a:pPr marL="0" indent="0" algn="r" lvl="0">
              <a:lnSpc>
                <a:spcPct val="110000"/>
              </a:lnSpc>
              <a:spcAft>
                <a:spcPts val="600"/>
              </a:spcAft>
              <a:buNone/>
              <a:defRPr sz="975" b="0" i="0">
                <a:solidFill>
                  <a:srgbClr val="222760"/>
                </a:solidFill>
                <a:latin typeface="Arial"/>
                <a:ea typeface="Arial"/>
                <a:cs typeface="Arial"/>
              </a:defRPr>
            </a:pPr>
            <a: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>
          <a:extLst>
            <a:ext uri="{FF2B5EF4-FFF2-40B4-BE49-F238E27FC236}">
              <a16:creationId xmlns:a16="http://schemas.microsoft.com/office/drawing/2014/main" id="{A35151C1-A88F-8109-F3C9-EF84687F1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82144C-71A3-2785-0B18-2B270F3401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5185" y="405322"/>
            <a:ext cx="592202" cy="510753"/>
          </a:xfrm>
          <a:prstGeom prst="rect">
            <a:avLst/>
          </a:prstGeom>
        </p:spPr>
      </p:pic>
      <p:sp>
        <p:nvSpPr>
          <p:cNvPr id="8" name="Text 2">
            <a:extLst>
              <a:ext uri="{FF2B5EF4-FFF2-40B4-BE49-F238E27FC236}">
                <a16:creationId xmlns:a16="http://schemas.microsoft.com/office/drawing/2014/main" id="{65E2676B-6F83-FFD7-2D82-348EE889C2E4}"/>
              </a:ext>
            </a:extLst>
          </p:cNvPr>
          <p:cNvSpPr/>
          <p:nvPr/>
        </p:nvSpPr>
        <p:spPr>
          <a:xfrm>
            <a:off x="552450" y="457200"/>
            <a:ext cx="10382250" cy="60960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>
            <a:noAutofit/>
          </a:bodyPr>
          <a:lstStyle/>
          <a:p>
            <a:pPr marL="0" indent="0" algn="l" lvl="0">
              <a:lnSpc>
                <a:spcPct val="110000"/>
              </a:lnSpc>
              <a:spcAft>
                <a:spcPts val="600"/>
              </a:spcAft>
              <a:buNone/>
              <a:defRPr sz="2850" b="1" i="0">
                <a:solidFill>
                  <a:srgbClr val="222760"/>
                </a:solidFill>
                <a:latin typeface="Georgia"/>
                <a:ea typeface="Georgia"/>
                <a:cs typeface="Georgia"/>
              </a:defRPr>
            </a:pPr>
            <a:r>
              <a:t>Technical Approach</a:t>
            </a:r>
            <a:endParaRPr lang="en-US" sz="2850" dirty="0" b="1" i="0">
              <a:solidFill>
                <a:srgbClr val="222760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5D12F776-09C3-0FCA-E8E7-C78191D9CE0C}"/>
              </a:ext>
            </a:extLst>
          </p:cNvPr>
          <p:cNvSpPr/>
          <p:nvPr/>
        </p:nvSpPr>
        <p:spPr>
          <a:xfrm>
            <a:off x="457200" y="1325880"/>
            <a:ext cx="4160520" cy="470916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1587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3C22CF0B-06CE-B2D4-7B65-FF0182359EDF}"/>
              </a:ext>
            </a:extLst>
          </p:cNvPr>
          <p:cNvSpPr/>
          <p:nvPr/>
        </p:nvSpPr>
        <p:spPr>
          <a:xfrm>
            <a:off x="4937760" y="1325880"/>
            <a:ext cx="6793992" cy="32004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>
              <a:spcAft>
                <a:spcPts val="600"/>
              </a:spcAft>
              <a:defRPr sz="1500" b="1">
                <a:solidFill>
                  <a:srgbClr val="14251D"/>
                </a:solidFill>
                <a:latin typeface="Arial"/>
              </a:defRPr>
              <a:buNone/>
            </a:pPr>
            <a:r>
              <a:t>BROWSER ARCHITECTURE</a:t>
            </a:r>
            <a:endParaRPr lang="en-US" sz="1400" dirty="0"/>
          </a:p>
        </p:txBody>
      </p:sp>
      <p:sp>
        <p:nvSpPr>
          <p:cNvPr id="24" name="Shape 9">
            <a:extLst>
              <a:ext uri="{FF2B5EF4-FFF2-40B4-BE49-F238E27FC236}">
                <a16:creationId xmlns:a16="http://schemas.microsoft.com/office/drawing/2014/main" id="{B8551020-AB1A-3707-B537-05FBB9093EBC}"/>
              </a:ext>
            </a:extLst>
          </p:cNvPr>
          <p:cNvSpPr/>
          <p:nvPr/>
        </p:nvSpPr>
        <p:spPr>
          <a:xfrm>
            <a:off x="4937760" y="1737360"/>
            <a:ext cx="6793992" cy="4297680"/>
          </a:xfrm>
          <a:prstGeom prst="roundRect">
            <a:avLst>
              <a:gd name="adj" fmla="val 1277"/>
            </a:avLst>
          </a:prstGeom>
          <a:solidFill>
            <a:srgbClr val="F7F5FB"/>
          </a:solidFill>
          <a:ln w="12700">
            <a:solidFill>
              <a:srgbClr val="D9D3E8"/>
            </a:solidFill>
            <a:prstDash val="solid"/>
          </a:ln>
        </p:spPr>
        <p:txBody>
          <a:bodyPr/>
          <a:lstStyle/>
          <a:p>
            <a:endParaRPr lang="en-IN" dirty="0">
              <a:highlight>
                <a:srgbClr val="FFFF00"/>
              </a:highlight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85800" y="1590675"/>
            <a:ext cx="3695700" cy="36195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 marL="0" indent="0">
              <a:spcAft>
                <a:spcPts val="600"/>
              </a:spcAft>
              <a:defRPr sz="1875" b="1">
                <a:solidFill>
                  <a:srgbClr val="14251D"/>
                </a:solidFill>
                <a:latin typeface="Arial"/>
              </a:defRPr>
              <a:buNone/>
            </a:pPr>
            <a:r>
              <a:t>Inputs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2038350"/>
            <a:ext cx="3695700" cy="9525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 marL="0" indent="0">
              <a:spcAft>
                <a:spcPts val="600"/>
              </a:spcAft>
              <a:defRPr sz="1650" b="0">
                <a:solidFill>
                  <a:srgbClr val="46534C"/>
                </a:solidFill>
                <a:latin typeface="Arial"/>
              </a:defRPr>
              <a:buNone/>
            </a:pPr>
            <a:r>
              <a:t>Camera, local video or scripted scenario.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2924175"/>
            <a:ext cx="3695700" cy="36195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 marL="0" indent="0">
              <a:spcAft>
                <a:spcPts val="600"/>
              </a:spcAft>
              <a:defRPr sz="1875" b="1">
                <a:solidFill>
                  <a:srgbClr val="14251D"/>
                </a:solidFill>
                <a:latin typeface="Arial"/>
              </a:defRPr>
              <a:buNone/>
            </a:pPr>
            <a:r>
              <a:t>Two Web Workers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3371850"/>
            <a:ext cx="3695700" cy="9525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 marL="0" indent="0">
              <a:spcAft>
                <a:spcPts val="600"/>
              </a:spcAft>
              <a:defRPr sz="1650" b="0">
                <a:solidFill>
                  <a:srgbClr val="46534C"/>
                </a:solidFill>
                <a:latin typeface="Arial"/>
              </a:defRPr>
              <a:buNone/>
            </a:pPr>
            <a:r>
              <a:t>One for pose, one for objects. Local MediaPipe + WASM.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4381500"/>
            <a:ext cx="3695700" cy="36195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 marL="0" indent="0">
              <a:spcAft>
                <a:spcPts val="600"/>
              </a:spcAft>
              <a:defRPr sz="1875" b="1">
                <a:solidFill>
                  <a:srgbClr val="14251D"/>
                </a:solidFill>
                <a:latin typeface="Arial"/>
              </a:defRPr>
              <a:buNone/>
            </a:pPr>
            <a:r>
              <a:t>Runtime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4829175"/>
            <a:ext cx="3695700" cy="9525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 marL="0" indent="0">
              <a:spcAft>
                <a:spcPts val="600"/>
              </a:spcAft>
              <a:defRPr sz="1650" b="0">
                <a:solidFill>
                  <a:srgbClr val="46534C"/>
                </a:solidFill>
                <a:latin typeface="Arial"/>
              </a:defRPr>
              <a:buNone/>
            </a:pPr>
            <a:r>
              <a:t>GPU for real-time pose when supported. CPU for review scans and fallback.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124450" y="2571750"/>
            <a:ext cx="1438275" cy="1238250"/>
          </a:xfrm>
          <a:prstGeom prst="rect">
            <a:avLst/>
          </a:prstGeom>
          <a:solidFill>
            <a:srgbClr val="E8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10175" y="2695575"/>
            <a:ext cx="1285875" cy="333375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 marL="0" indent="0">
              <a:spcAft>
                <a:spcPts val="600"/>
              </a:spcAft>
              <a:defRPr sz="1800" b="1">
                <a:solidFill>
                  <a:srgbClr val="14251D"/>
                </a:solidFill>
                <a:latin typeface="Arial"/>
              </a:defRPr>
              <a:buNone/>
            </a:pPr>
            <a:r>
              <a:t>Input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0175" y="3209925"/>
            <a:ext cx="1285875" cy="4953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 marL="0" indent="0">
              <a:spcAft>
                <a:spcPts val="600"/>
              </a:spcAft>
              <a:defRPr sz="1425" b="0">
                <a:solidFill>
                  <a:srgbClr val="14251D"/>
                </a:solidFill>
                <a:latin typeface="Arial"/>
              </a:defRPr>
              <a:buNone/>
            </a:pPr>
            <a:r>
              <a:t>Camera / video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53200" y="2924175"/>
            <a:ext cx="247650" cy="32385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 marL="0" indent="0">
              <a:spcAft>
                <a:spcPts val="600"/>
              </a:spcAft>
              <a:defRPr sz="1875" b="0">
                <a:solidFill>
                  <a:srgbClr val="14251D"/>
                </a:solidFill>
                <a:latin typeface="Arial"/>
              </a:defRPr>
              <a:buNone/>
            </a:pPr>
            <a:r>
              <a:t>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743700" y="2571750"/>
            <a:ext cx="1438275" cy="1238250"/>
          </a:xfrm>
          <a:prstGeom prst="rect">
            <a:avLst/>
          </a:prstGeom>
          <a:solidFill>
            <a:srgbClr val="E8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29425" y="2695575"/>
            <a:ext cx="1285875" cy="333375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 marL="0" indent="0">
              <a:spcAft>
                <a:spcPts val="600"/>
              </a:spcAft>
              <a:defRPr sz="1800" b="1">
                <a:solidFill>
                  <a:srgbClr val="14251D"/>
                </a:solidFill>
                <a:latin typeface="Arial"/>
              </a:defRPr>
              <a:buNone/>
            </a:pPr>
            <a:r>
              <a:t>Vision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29425" y="3209925"/>
            <a:ext cx="1285875" cy="4953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 marL="0" indent="0">
              <a:spcAft>
                <a:spcPts val="600"/>
              </a:spcAft>
              <a:defRPr sz="1425" b="0">
                <a:solidFill>
                  <a:srgbClr val="14251D"/>
                </a:solidFill>
                <a:latin typeface="Arial"/>
              </a:defRPr>
              <a:buNone/>
            </a:pPr>
            <a:r>
              <a:t>Pose + objects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72450" y="2924175"/>
            <a:ext cx="247650" cy="32385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 marL="0" indent="0">
              <a:spcAft>
                <a:spcPts val="600"/>
              </a:spcAft>
              <a:defRPr sz="1875" b="0">
                <a:solidFill>
                  <a:srgbClr val="14251D"/>
                </a:solidFill>
                <a:latin typeface="Arial"/>
              </a:defRPr>
              <a:buNone/>
            </a:pPr>
            <a:r>
              <a:t>→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62950" y="2571750"/>
            <a:ext cx="1438275" cy="1238250"/>
          </a:xfrm>
          <a:prstGeom prst="rect">
            <a:avLst/>
          </a:prstGeom>
          <a:solidFill>
            <a:srgbClr val="E8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48675" y="2695575"/>
            <a:ext cx="1285875" cy="333375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 marL="0" indent="0">
              <a:spcAft>
                <a:spcPts val="600"/>
              </a:spcAft>
              <a:defRPr sz="1800" b="1">
                <a:solidFill>
                  <a:srgbClr val="14251D"/>
                </a:solidFill>
                <a:latin typeface="Arial"/>
              </a:defRPr>
              <a:buNone/>
            </a:pPr>
            <a:r>
              <a:t>Rules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48675" y="3209925"/>
            <a:ext cx="1285875" cy="4953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 marL="0" indent="0">
              <a:spcAft>
                <a:spcPts val="600"/>
              </a:spcAft>
              <a:defRPr sz="1425" b="0">
                <a:solidFill>
                  <a:srgbClr val="14251D"/>
                </a:solidFill>
                <a:latin typeface="Arial"/>
              </a:defRPr>
              <a:buNone/>
            </a:pPr>
            <a:r>
              <a:t>Motion history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91700" y="2924175"/>
            <a:ext cx="247650" cy="32385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 marL="0" indent="0">
              <a:spcAft>
                <a:spcPts val="600"/>
              </a:spcAft>
              <a:defRPr sz="1875" b="0">
                <a:solidFill>
                  <a:srgbClr val="14251D"/>
                </a:solidFill>
                <a:latin typeface="Arial"/>
              </a:defRPr>
              <a:buNone/>
            </a:pPr>
            <a:r>
              <a:t>→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982200" y="2571750"/>
            <a:ext cx="1438275" cy="1238250"/>
          </a:xfrm>
          <a:prstGeom prst="rect">
            <a:avLst/>
          </a:prstGeom>
          <a:solidFill>
            <a:srgbClr val="D2F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067925" y="2695575"/>
            <a:ext cx="1285875" cy="333375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 marL="0" indent="0">
              <a:spcAft>
                <a:spcPts val="600"/>
              </a:spcAft>
              <a:defRPr sz="1800" b="1">
                <a:solidFill>
                  <a:srgbClr val="14251D"/>
                </a:solidFill>
                <a:latin typeface="Arial"/>
              </a:defRPr>
              <a:buNone/>
            </a:pPr>
            <a:r>
              <a:t>Review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67925" y="3209925"/>
            <a:ext cx="1285875" cy="4953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 marL="0" indent="0">
              <a:spcAft>
                <a:spcPts val="600"/>
              </a:spcAft>
              <a:defRPr sz="1425" b="0">
                <a:solidFill>
                  <a:srgbClr val="14251D"/>
                </a:solidFill>
                <a:latin typeface="Arial"/>
              </a:defRPr>
              <a:buNone/>
            </a:pPr>
            <a:r>
              <a:t>Banner + tone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91125" y="4229100"/>
            <a:ext cx="6143625" cy="409575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 marL="0" indent="0">
              <a:spcAft>
                <a:spcPts val="600"/>
              </a:spcAft>
              <a:defRPr sz="2175" b="1">
                <a:solidFill>
                  <a:srgbClr val="14251D"/>
                </a:solidFill>
                <a:latin typeface="Arial"/>
              </a:defRPr>
              <a:buNone/>
            </a:pPr>
            <a:r>
              <a:t>Frames remain in the browser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91125" y="4752975"/>
            <a:ext cx="6096000" cy="1019175"/>
          </a:xfrm>
          <a:prstGeom prst="rect">
            <a:avLst/>
          </a:prstGeom>
          <a:noFill/>
        </p:spPr>
        <p:txBody>
          <a:bodyPr wrap="square" lIns="38100" rIns="38100" tIns="19050" bIns="19050" anchor="t">
            <a:noAutofit/>
          </a:bodyPr>
          <a:lstStyle/>
          <a:p>
            <a:pPr marL="190500" indent="-190500" algn="l" lvl="0">
              <a:lnSpc>
                <a:spcPct val="110000"/>
              </a:lnSpc>
              <a:spcAft>
                <a:spcPts val="600"/>
              </a:spcAft>
              <a:buChar char="•"/>
              <a:defRPr sz="1650" b="0" i="0">
                <a:solidFill>
                  <a:srgbClr val="46534C"/>
                </a:solidFill>
                <a:latin typeface="Arial"/>
                <a:ea typeface="Arial"/>
                <a:cs typeface="Arial"/>
              </a:defRPr>
            </a:pPr>
            <a:r>
              <a:t>Video is processed on the device.</a:t>
            </a:r>
          </a:p>
          <a:p>
            <a:pPr marL="190500" indent="-190500" algn="l" lvl="0">
              <a:lnSpc>
                <a:spcPct val="110000"/>
              </a:lnSpc>
              <a:spcAft>
                <a:spcPts val="600"/>
              </a:spcAft>
              <a:buChar char="•"/>
              <a:defRPr sz="1650" b="0" i="0">
                <a:solidFill>
                  <a:srgbClr val="46534C"/>
                </a:solidFill>
                <a:latin typeface="Arial"/>
                <a:ea typeface="Arial"/>
                <a:cs typeface="Arial"/>
              </a:defRPr>
            </a:pPr>
            <a:r>
              <a:t>No footage is uploaded or recorded by the app.</a:t>
            </a:r>
          </a:p>
          <a:p>
            <a:pPr marL="190500" indent="-190500" algn="l" lvl="0">
              <a:lnSpc>
                <a:spcPct val="110000"/>
              </a:lnSpc>
              <a:spcAft>
                <a:spcPts val="600"/>
              </a:spcAft>
              <a:buChar char="•"/>
              <a:defRPr sz="1650" b="0" i="0">
                <a:solidFill>
                  <a:srgbClr val="46534C"/>
                </a:solidFill>
                <a:latin typeface="Arial"/>
                <a:ea typeface="Arial"/>
                <a:cs typeface="Arial"/>
              </a:defRPr>
            </a:pPr>
            <a:r>
              <a:t>Temporary tracks clear when the session ends.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001375" y="6524625"/>
            <a:ext cx="714375" cy="238125"/>
          </a:xfrm>
          <a:prstGeom prst="rect">
            <a:avLst/>
          </a:prstGeom>
          <a:noFill/>
        </p:spPr>
        <p:txBody>
          <a:bodyPr wrap="square" lIns="38100" rIns="38100" tIns="19050" bIns="19050" anchor="t">
            <a:noAutofit/>
          </a:bodyPr>
          <a:lstStyle/>
          <a:p>
            <a:pPr marL="0" indent="0" algn="r" lvl="0">
              <a:lnSpc>
                <a:spcPct val="110000"/>
              </a:lnSpc>
              <a:spcAft>
                <a:spcPts val="600"/>
              </a:spcAft>
              <a:buNone/>
              <a:defRPr sz="975" b="0" i="0">
                <a:solidFill>
                  <a:srgbClr val="222760"/>
                </a:solidFill>
                <a:latin typeface="Arial"/>
                <a:ea typeface="Arial"/>
                <a:cs typeface="Arial"/>
              </a:defRPr>
            </a:pPr>
            <a:r>
              <a:t>04 / 10</a:t>
            </a:r>
          </a:p>
        </p:txBody>
      </p:sp>
    </p:spTree>
    <p:extLst>
      <p:ext uri="{BB962C8B-B14F-4D97-AF65-F5344CB8AC3E}">
        <p14:creationId xmlns:p14="http://schemas.microsoft.com/office/powerpoint/2010/main" val="31328665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>
          <a:extLst>
            <a:ext uri="{FF2B5EF4-FFF2-40B4-BE49-F238E27FC236}">
              <a16:creationId xmlns:a16="http://schemas.microsoft.com/office/drawing/2014/main" id="{D05E0537-5504-17CF-2745-3AFBC1E2C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0416CBF-3AF1-01A6-BF37-6DE07F7570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5185" y="405322"/>
            <a:ext cx="592202" cy="510753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2D41C862-4124-A050-2DDE-18AE35C331F6}"/>
              </a:ext>
            </a:extLst>
          </p:cNvPr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>
              <a:spcAft>
                <a:spcPts val="600"/>
              </a:spcAft>
              <a:defRPr sz="1200" b="1">
                <a:solidFill>
                  <a:srgbClr val="14251D"/>
                </a:solidFill>
                <a:latin typeface="Arial"/>
              </a:defRPr>
              <a:buNone/>
            </a:pPr>
            <a:r>
              <a:t/>
            </a:r>
            <a:endParaRPr lang="en-US" sz="1200" dirty="0">
              <a:highlight>
                <a:srgbClr val="FF0000"/>
              </a:highlight>
            </a:endParaRP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D48AAE38-CC2A-FACF-5697-E4D8B334BDD0}"/>
              </a:ext>
            </a:extLst>
          </p:cNvPr>
          <p:cNvSpPr/>
          <p:nvPr/>
        </p:nvSpPr>
        <p:spPr>
          <a:xfrm>
            <a:off x="552450" y="457200"/>
            <a:ext cx="10382250" cy="60960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>
            <a:noAutofit/>
          </a:bodyPr>
          <a:lstStyle/>
          <a:p>
            <a:pPr marL="0" indent="0" algn="l" lvl="0">
              <a:lnSpc>
                <a:spcPct val="110000"/>
              </a:lnSpc>
              <a:spcAft>
                <a:spcPts val="600"/>
              </a:spcAft>
              <a:buNone/>
              <a:defRPr sz="2850" b="1" i="0">
                <a:solidFill>
                  <a:srgbClr val="222760"/>
                </a:solidFill>
                <a:latin typeface="Georgia"/>
                <a:ea typeface="Georgia"/>
                <a:cs typeface="Georgia"/>
              </a:defRPr>
            </a:pPr>
            <a:r>
              <a:rPr lang="en-US" sz="2850" b="1" dirty="0" i="0">
                <a:solidFill>
                  <a:srgbClr val="222760"/>
                </a:solidFill>
                <a:latin typeface="Georgia"/>
                <a:ea typeface="Georgia"/>
                <a:cs typeface="Georgia"/>
              </a:rPr>
              <a:t>Feasibility and Viability</a:t>
            </a:r>
            <a:endParaRPr lang="en-US" sz="2850" dirty="0" b="1" i="0">
              <a:solidFill>
                <a:srgbClr val="222760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825C929E-E67D-FA87-6F66-8733A7DE9EB8}"/>
              </a:ext>
            </a:extLst>
          </p:cNvPr>
          <p:cNvSpPr/>
          <p:nvPr/>
        </p:nvSpPr>
        <p:spPr>
          <a:xfrm>
            <a:off x="989045" y="1600200"/>
            <a:ext cx="943325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OF THE IDEA</a:t>
            </a:r>
            <a:endParaRPr lang="en-US" sz="1300" dirty="0"/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0E15B07B-E98B-FF29-3491-047DBF6DA3F8}"/>
              </a:ext>
            </a:extLst>
          </p:cNvPr>
          <p:cNvSpPr/>
          <p:nvPr/>
        </p:nvSpPr>
        <p:spPr>
          <a:xfrm>
            <a:off x="989044" y="2100321"/>
            <a:ext cx="10075195" cy="137160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>
            <a:noAutofit/>
          </a:bodyPr>
          <a:lstStyle/>
          <a:p>
            <a:pPr marL="190500" indent="-190500" algn="l" lvl="0">
              <a:lnSpc>
                <a:spcPct val="110000"/>
              </a:lnSpc>
              <a:spcAft>
                <a:spcPts val="600"/>
              </a:spcAft>
              <a:buChar char="•"/>
              <a:defRPr sz="1650" b="0" i="0">
                <a:solidFill>
                  <a:srgbClr val="46534C"/>
                </a:solidFill>
                <a:latin typeface="Arial"/>
                <a:ea typeface="Arial"/>
                <a:cs typeface="Arial"/>
              </a:defRPr>
            </a:pPr>
            <a:r>
              <a:t>Runs in a browser on a laptop or phone.</a:t>
            </a:r>
            <a:endParaRPr lang="en-US" sz="1650" dirty="0" b="0" i="0">
              <a:solidFill>
                <a:srgbClr val="46534C"/>
              </a:solidFill>
              <a:latin typeface="Arial"/>
              <a:ea typeface="Arial"/>
              <a:cs typeface="Arial"/>
            </a:endParaRPr>
          </a:p>
          <a:p>
            <a:pPr marL="190500" indent="-190500" algn="l" lvl="0">
              <a:lnSpc>
                <a:spcPct val="110000"/>
              </a:lnSpc>
              <a:spcAft>
                <a:spcPts val="600"/>
              </a:spcAft>
              <a:buChar char="•"/>
              <a:defRPr sz="1650" b="0" i="0">
                <a:solidFill>
                  <a:srgbClr val="46534C"/>
                </a:solidFill>
                <a:latin typeface="Arial"/>
                <a:ea typeface="Arial"/>
                <a:cs typeface="Arial"/>
              </a:defRPr>
            </a:pPr>
            <a:r>
              <a:t>Uses camera input or a local video file.</a:t>
            </a:r>
          </a:p>
          <a:p>
            <a:pPr marL="190500" indent="-190500" algn="l" lvl="0">
              <a:lnSpc>
                <a:spcPct val="110000"/>
              </a:lnSpc>
              <a:spcAft>
                <a:spcPts val="600"/>
              </a:spcAft>
              <a:buChar char="•"/>
              <a:defRPr sz="1650" b="0" i="0">
                <a:solidFill>
                  <a:srgbClr val="46534C"/>
                </a:solidFill>
                <a:latin typeface="Arial"/>
                <a:ea typeface="Arial"/>
                <a:cs typeface="Arial"/>
              </a:defRPr>
            </a:pPr>
            <a:r>
              <a:t>Start with one supervised school trial before connecting more cameras.</a:t>
            </a:r>
          </a:p>
        </p:txBody>
      </p:sp>
      <p:sp>
        <p:nvSpPr>
          <p:cNvPr id="14" name="Shape 4">
            <a:extLst>
              <a:ext uri="{FF2B5EF4-FFF2-40B4-BE49-F238E27FC236}">
                <a16:creationId xmlns:a16="http://schemas.microsoft.com/office/drawing/2014/main" id="{824DE081-D638-45D4-BACA-E63E8343BEC3}"/>
              </a:ext>
            </a:extLst>
          </p:cNvPr>
          <p:cNvSpPr/>
          <p:nvPr/>
        </p:nvSpPr>
        <p:spPr>
          <a:xfrm>
            <a:off x="548640" y="3657600"/>
            <a:ext cx="5166360" cy="2468880"/>
          </a:xfrm>
          <a:prstGeom prst="roundRect">
            <a:avLst>
              <a:gd name="adj" fmla="val 3704"/>
            </a:avLst>
          </a:prstGeom>
          <a:solidFill>
            <a:srgbClr val="FDEC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2A1E101C-8C62-CBB2-BADD-643B74632CF1}"/>
              </a:ext>
            </a:extLst>
          </p:cNvPr>
          <p:cNvSpPr/>
          <p:nvPr/>
        </p:nvSpPr>
        <p:spPr>
          <a:xfrm>
            <a:off x="822960" y="388620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CHALLENGES &amp; RISKS</a:t>
            </a:r>
            <a:endParaRPr lang="en-US" sz="1200" dirty="0"/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8A29699B-89FB-D00D-0132-C453F5B3F5D6}"/>
              </a:ext>
            </a:extLst>
          </p:cNvPr>
          <p:cNvSpPr/>
          <p:nvPr/>
        </p:nvSpPr>
        <p:spPr>
          <a:xfrm>
            <a:off x="822960" y="4297680"/>
            <a:ext cx="4617720" cy="155448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>
            <a:noAutofit/>
          </a:bodyPr>
          <a:lstStyle/>
          <a:p>
            <a:pPr marL="0" indent="0" algn="l" lvl="0">
              <a:lnSpc>
                <a:spcPct val="110000"/>
              </a:lnSpc>
              <a:spcAft>
                <a:spcPts val="600"/>
              </a:spcAft>
              <a:buNone/>
              <a:defRPr sz="1650" b="0" i="0">
                <a:solidFill>
                  <a:srgbClr val="46534C"/>
                </a:solidFill>
                <a:latin typeface="Arial"/>
                <a:ea typeface="Arial"/>
                <a:cs typeface="Arial"/>
              </a:defRPr>
            </a:pPr>
            <a:r>
              <a:t>01  Sports and play can trigger reviews.</a:t>
            </a:r>
            <a:endParaRPr lang="en-US" sz="1650" dirty="0" b="0" i="0">
              <a:solidFill>
                <a:srgbClr val="46534C"/>
              </a:solidFill>
              <a:latin typeface="Arial"/>
              <a:ea typeface="Arial"/>
              <a:cs typeface="Arial"/>
            </a:endParaRPr>
          </a:p>
          <a:p>
            <a:pPr marL="0" indent="0" algn="l" lvl="0">
              <a:lnSpc>
                <a:spcPct val="110000"/>
              </a:lnSpc>
              <a:spcAft>
                <a:spcPts val="600"/>
              </a:spcAft>
              <a:buNone/>
              <a:defRPr sz="1650" b="0" i="0">
                <a:solidFill>
                  <a:srgbClr val="46534C"/>
                </a:solidFill>
                <a:latin typeface="Arial"/>
                <a:ea typeface="Arial"/>
                <a:cs typeface="Arial"/>
              </a:defRPr>
            </a:pPr>
            <a:r>
              <a:t>02  Occlusion or weak devices reduce coverage.</a:t>
            </a:r>
          </a:p>
          <a:p>
            <a:pPr marL="0" indent="0" algn="l" lvl="0">
              <a:lnSpc>
                <a:spcPct val="110000"/>
              </a:lnSpc>
              <a:spcAft>
                <a:spcPts val="600"/>
              </a:spcAft>
              <a:buNone/>
              <a:defRPr sz="1650" b="0" i="0">
                <a:solidFill>
                  <a:srgbClr val="46534C"/>
                </a:solidFill>
                <a:latin typeface="Arial"/>
                <a:ea typeface="Arial"/>
                <a:cs typeface="Arial"/>
              </a:defRPr>
            </a:pPr>
            <a:r>
              <a:t>03  School video needs permission and privacy controls.</a:t>
            </a:r>
          </a:p>
        </p:txBody>
      </p:sp>
      <p:sp>
        <p:nvSpPr>
          <p:cNvPr id="22" name="Shape 7">
            <a:extLst>
              <a:ext uri="{FF2B5EF4-FFF2-40B4-BE49-F238E27FC236}">
                <a16:creationId xmlns:a16="http://schemas.microsoft.com/office/drawing/2014/main" id="{43A98284-AA8C-F284-4880-505AAE55CC1F}"/>
              </a:ext>
            </a:extLst>
          </p:cNvPr>
          <p:cNvSpPr/>
          <p:nvPr/>
        </p:nvSpPr>
        <p:spPr>
          <a:xfrm>
            <a:off x="6080760" y="3657600"/>
            <a:ext cx="5166360" cy="2468880"/>
          </a:xfrm>
          <a:prstGeom prst="roundRect">
            <a:avLst>
              <a:gd name="adj" fmla="val 3704"/>
            </a:avLst>
          </a:prstGeom>
          <a:solidFill>
            <a:srgbClr val="E8F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D31591CD-4BDC-FD65-8C77-9AC56BFFA0EB}"/>
              </a:ext>
            </a:extLst>
          </p:cNvPr>
          <p:cNvSpPr/>
          <p:nvPr/>
        </p:nvSpPr>
        <p:spPr>
          <a:xfrm>
            <a:off x="6355080" y="388620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B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STRATEGIES TO OVERCOME THEM</a:t>
            </a:r>
            <a:endParaRPr lang="en-US" sz="1200" dirty="0"/>
          </a:p>
        </p:txBody>
      </p:sp>
      <p:sp>
        <p:nvSpPr>
          <p:cNvPr id="27" name="Text 9">
            <a:extLst>
              <a:ext uri="{FF2B5EF4-FFF2-40B4-BE49-F238E27FC236}">
                <a16:creationId xmlns:a16="http://schemas.microsoft.com/office/drawing/2014/main" id="{8A8F513E-B0F9-B736-D672-D502880BD1FE}"/>
              </a:ext>
            </a:extLst>
          </p:cNvPr>
          <p:cNvSpPr/>
          <p:nvPr/>
        </p:nvSpPr>
        <p:spPr>
          <a:xfrm>
            <a:off x="6355080" y="4297680"/>
            <a:ext cx="4617720" cy="155448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>
            <a:noAutofit/>
          </a:bodyPr>
          <a:lstStyle/>
          <a:p>
            <a:pPr marL="0" indent="0" algn="l" lvl="0">
              <a:lnSpc>
                <a:spcPct val="110000"/>
              </a:lnSpc>
              <a:spcAft>
                <a:spcPts val="600"/>
              </a:spcAft>
              <a:buNone/>
              <a:defRPr sz="1650" b="0" i="0">
                <a:solidFill>
                  <a:srgbClr val="46534C"/>
                </a:solidFill>
                <a:latin typeface="Arial"/>
                <a:ea typeface="Arial"/>
                <a:cs typeface="Arial"/>
              </a:defRPr>
            </a:pPr>
            <a:r>
              <a:t>01  Require human review; test positive and quiet clips.</a:t>
            </a:r>
            <a:endParaRPr lang="en-US" sz="1650" dirty="0" b="0" i="0">
              <a:solidFill>
                <a:srgbClr val="46534C"/>
              </a:solidFill>
              <a:latin typeface="Arial"/>
              <a:ea typeface="Arial"/>
              <a:cs typeface="Arial"/>
            </a:endParaRPr>
          </a:p>
          <a:p>
            <a:pPr marL="0" indent="0" algn="l" lvl="0">
              <a:lnSpc>
                <a:spcPct val="110000"/>
              </a:lnSpc>
              <a:spcAft>
                <a:spcPts val="600"/>
              </a:spcAft>
              <a:buNone/>
              <a:defRPr sz="1650" b="0" i="0">
                <a:solidFill>
                  <a:srgbClr val="46534C"/>
                </a:solidFill>
                <a:latin typeface="Arial"/>
                <a:ea typeface="Arial"/>
                <a:cs typeface="Arial"/>
              </a:defRPr>
            </a:pPr>
            <a:r>
              <a:t>02  Use Lite / CPU fallback; show visibility and runtime state.</a:t>
            </a:r>
          </a:p>
          <a:p>
            <a:pPr marL="0" indent="0" algn="l" lvl="0">
              <a:lnSpc>
                <a:spcPct val="110000"/>
              </a:lnSpc>
              <a:spcAft>
                <a:spcPts val="600"/>
              </a:spcAft>
              <a:buNone/>
              <a:defRPr sz="1650" b="0" i="0">
                <a:solidFill>
                  <a:srgbClr val="46534C"/>
                </a:solidFill>
                <a:latin typeface="Arial"/>
                <a:ea typeface="Arial"/>
                <a:cs typeface="Arial"/>
              </a:defRPr>
            </a:pPr>
            <a:r>
              <a:t>03  Keep frames local; obtain school approval before trials.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1375" y="6524625"/>
            <a:ext cx="714375" cy="238125"/>
          </a:xfrm>
          <a:prstGeom prst="rect">
            <a:avLst/>
          </a:prstGeom>
          <a:noFill/>
        </p:spPr>
        <p:txBody>
          <a:bodyPr wrap="square" lIns="38100" rIns="38100" tIns="19050" bIns="19050" anchor="t">
            <a:noAutofit/>
          </a:bodyPr>
          <a:lstStyle/>
          <a:p>
            <a:pPr marL="0" indent="0" algn="r" lvl="0">
              <a:lnSpc>
                <a:spcPct val="110000"/>
              </a:lnSpc>
              <a:spcAft>
                <a:spcPts val="600"/>
              </a:spcAft>
              <a:buNone/>
              <a:defRPr sz="975" b="0" i="0">
                <a:solidFill>
                  <a:srgbClr val="222760"/>
                </a:solidFill>
                <a:latin typeface="Arial"/>
                <a:ea typeface="Arial"/>
                <a:cs typeface="Arial"/>
              </a:defRPr>
            </a:pPr>
            <a:r>
              <a:t>06 / 10</a:t>
            </a:r>
          </a:p>
        </p:txBody>
      </p:sp>
    </p:spTree>
    <p:extLst>
      <p:ext uri="{BB962C8B-B14F-4D97-AF65-F5344CB8AC3E}">
        <p14:creationId xmlns:p14="http://schemas.microsoft.com/office/powerpoint/2010/main" val="9840611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>
          <a:extLst>
            <a:ext uri="{FF2B5EF4-FFF2-40B4-BE49-F238E27FC236}">
              <a16:creationId xmlns:a16="http://schemas.microsoft.com/office/drawing/2014/main" id="{CA8B95A5-39CE-A91E-4AC1-D052C012A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7C0764E-4A66-6153-62BB-5CBC489FDD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5185" y="405322"/>
            <a:ext cx="592202" cy="510753"/>
          </a:xfrm>
          <a:prstGeom prst="rect">
            <a:avLst/>
          </a:prstGeom>
        </p:spPr>
      </p:pic>
      <p:sp>
        <p:nvSpPr>
          <p:cNvPr id="5" name="Text 1">
            <a:extLst>
              <a:ext uri="{FF2B5EF4-FFF2-40B4-BE49-F238E27FC236}">
                <a16:creationId xmlns:a16="http://schemas.microsoft.com/office/drawing/2014/main" id="{DAEDAEAA-8FA0-3224-6C7C-26B21FF98B2E}"/>
              </a:ext>
            </a:extLst>
          </p:cNvPr>
          <p:cNvSpPr/>
          <p:nvPr/>
        </p:nvSpPr>
        <p:spPr>
          <a:xfrm>
            <a:off x="552450" y="457200"/>
            <a:ext cx="10382250" cy="60960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>
            <a:noAutofit/>
          </a:bodyPr>
          <a:lstStyle/>
          <a:p>
            <a:pPr marL="0" indent="0" algn="l" lvl="0">
              <a:lnSpc>
                <a:spcPct val="110000"/>
              </a:lnSpc>
              <a:spcAft>
                <a:spcPts val="600"/>
              </a:spcAft>
              <a:buNone/>
              <a:defRPr sz="2850" b="1" i="0">
                <a:solidFill>
                  <a:srgbClr val="222760"/>
                </a:solidFill>
                <a:latin typeface="Georgia"/>
                <a:ea typeface="Georgia"/>
                <a:cs typeface="Georgia"/>
              </a:defRPr>
            </a:pPr>
            <a:r>
              <a:rPr lang="en-US" sz="2850" b="1" dirty="0" i="0">
                <a:solidFill>
                  <a:srgbClr val="222760"/>
                </a:solidFill>
                <a:latin typeface="Georgia"/>
                <a:ea typeface="Georgia"/>
                <a:cs typeface="Georgia"/>
              </a:rPr>
              <a:t>Impact and Benefits</a:t>
            </a:r>
            <a:endParaRPr lang="en-US" sz="2850" dirty="0" b="1" i="0">
              <a:solidFill>
                <a:srgbClr val="222760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E3185866-11F6-824C-9FCC-1D023AE9C71E}"/>
              </a:ext>
            </a:extLst>
          </p:cNvPr>
          <p:cNvSpPr/>
          <p:nvPr/>
        </p:nvSpPr>
        <p:spPr>
          <a:xfrm>
            <a:off x="548640" y="160020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3">
            <a:extLst>
              <a:ext uri="{FF2B5EF4-FFF2-40B4-BE49-F238E27FC236}">
                <a16:creationId xmlns:a16="http://schemas.microsoft.com/office/drawing/2014/main" id="{5DC2B347-E581-38C0-5508-F51306B2545A}"/>
              </a:ext>
            </a:extLst>
          </p:cNvPr>
          <p:cNvSpPr/>
          <p:nvPr/>
        </p:nvSpPr>
        <p:spPr>
          <a:xfrm>
            <a:off x="548640" y="1600200"/>
            <a:ext cx="3383280" cy="502920"/>
          </a:xfrm>
          <a:prstGeom prst="rect">
            <a:avLst/>
          </a:prstGeom>
          <a:solidFill>
            <a:srgbClr val="14251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CA7DC4D3-6F9B-9B82-BF78-8D444223657C}"/>
              </a:ext>
            </a:extLst>
          </p:cNvPr>
          <p:cNvSpPr/>
          <p:nvPr/>
        </p:nvSpPr>
        <p:spPr>
          <a:xfrm>
            <a:off x="548640" y="16002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Impact</a:t>
            </a:r>
            <a:endParaRPr lang="en-US" sz="1300" dirty="0"/>
          </a:p>
        </p:txBody>
      </p:sp>
      <p:sp>
        <p:nvSpPr>
          <p:cNvPr id="18" name="Text 5">
            <a:extLst>
              <a:ext uri="{FF2B5EF4-FFF2-40B4-BE49-F238E27FC236}">
                <a16:creationId xmlns:a16="http://schemas.microsoft.com/office/drawing/2014/main" id="{3D5ED718-9ACA-393D-7381-2BAE9FB80ABB}"/>
              </a:ext>
            </a:extLst>
          </p:cNvPr>
          <p:cNvSpPr/>
          <p:nvPr/>
        </p:nvSpPr>
        <p:spPr>
          <a:xfrm>
            <a:off x="822960" y="2286000"/>
            <a:ext cx="2834640" cy="137160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>
              <a:lnSpc>
                <a:spcPct val="115000"/>
              </a:lnSpc>
              <a:spcAft>
                <a:spcPts val="600"/>
              </a:spcAft>
              <a:defRPr sz="1800" b="0">
                <a:solidFill>
                  <a:srgbClr val="46534C"/>
                </a:solidFill>
                <a:latin typeface="Arial"/>
              </a:defRPr>
              <a:buNone/>
            </a:pPr>
            <a:r>
              <a:t>Help staff notice a developing incident and decide when to step in.</a:t>
            </a:r>
            <a:endParaRPr lang="en-US" sz="1200" dirty="0"/>
          </a:p>
        </p:txBody>
      </p:sp>
      <p:sp>
        <p:nvSpPr>
          <p:cNvPr id="21" name="Shape 6">
            <a:extLst>
              <a:ext uri="{FF2B5EF4-FFF2-40B4-BE49-F238E27FC236}">
                <a16:creationId xmlns:a16="http://schemas.microsoft.com/office/drawing/2014/main" id="{710857C3-79A8-CA18-6262-1EE7C172509F}"/>
              </a:ext>
            </a:extLst>
          </p:cNvPr>
          <p:cNvSpPr/>
          <p:nvPr/>
        </p:nvSpPr>
        <p:spPr>
          <a:xfrm>
            <a:off x="4251960" y="160020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7">
            <a:extLst>
              <a:ext uri="{FF2B5EF4-FFF2-40B4-BE49-F238E27FC236}">
                <a16:creationId xmlns:a16="http://schemas.microsoft.com/office/drawing/2014/main" id="{C19EFA0D-3406-DE44-6475-EB9DBF77D709}"/>
              </a:ext>
            </a:extLst>
          </p:cNvPr>
          <p:cNvSpPr/>
          <p:nvPr/>
        </p:nvSpPr>
        <p:spPr>
          <a:xfrm>
            <a:off x="4251960" y="1600200"/>
            <a:ext cx="3383280" cy="502920"/>
          </a:xfrm>
          <a:prstGeom prst="rect">
            <a:avLst/>
          </a:prstGeom>
          <a:solidFill>
            <a:srgbClr val="14251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0E4588E4-6BC5-246B-EF41-78377AE24A3D}"/>
              </a:ext>
            </a:extLst>
          </p:cNvPr>
          <p:cNvSpPr/>
          <p:nvPr/>
        </p:nvSpPr>
        <p:spPr>
          <a:xfrm>
            <a:off x="4251960" y="16002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Impact</a:t>
            </a:r>
            <a:endParaRPr lang="en-US" sz="1300" dirty="0"/>
          </a:p>
        </p:txBody>
      </p:sp>
      <p:sp>
        <p:nvSpPr>
          <p:cNvPr id="30" name="Text 9">
            <a:extLst>
              <a:ext uri="{FF2B5EF4-FFF2-40B4-BE49-F238E27FC236}">
                <a16:creationId xmlns:a16="http://schemas.microsoft.com/office/drawing/2014/main" id="{61D796A0-51AE-8FC4-ED52-7C7412EB4B6F}"/>
              </a:ext>
            </a:extLst>
          </p:cNvPr>
          <p:cNvSpPr/>
          <p:nvPr/>
        </p:nvSpPr>
        <p:spPr>
          <a:xfrm>
            <a:off x="4526280" y="2286000"/>
            <a:ext cx="2834640" cy="137160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>
              <a:lnSpc>
                <a:spcPct val="115000"/>
              </a:lnSpc>
              <a:spcAft>
                <a:spcPts val="600"/>
              </a:spcAft>
              <a:defRPr sz="1800" b="0">
                <a:solidFill>
                  <a:srgbClr val="46534C"/>
                </a:solidFill>
                <a:latin typeface="Arial"/>
              </a:defRPr>
              <a:buNone/>
            </a:pPr>
            <a:r>
              <a:t>Build on existing cameras where possible, reducing the need for new equipment.</a:t>
            </a:r>
            <a:endParaRPr lang="en-US" sz="1200" dirty="0"/>
          </a:p>
        </p:txBody>
      </p:sp>
      <p:sp>
        <p:nvSpPr>
          <p:cNvPr id="32" name="Shape 10">
            <a:extLst>
              <a:ext uri="{FF2B5EF4-FFF2-40B4-BE49-F238E27FC236}">
                <a16:creationId xmlns:a16="http://schemas.microsoft.com/office/drawing/2014/main" id="{7783ED2F-548C-A7AC-7DFA-72F1CFA43077}"/>
              </a:ext>
            </a:extLst>
          </p:cNvPr>
          <p:cNvSpPr/>
          <p:nvPr/>
        </p:nvSpPr>
        <p:spPr>
          <a:xfrm>
            <a:off x="7955280" y="160020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Shape 11">
            <a:extLst>
              <a:ext uri="{FF2B5EF4-FFF2-40B4-BE49-F238E27FC236}">
                <a16:creationId xmlns:a16="http://schemas.microsoft.com/office/drawing/2014/main" id="{BD14AC99-0775-98A8-13E4-172861EE28E4}"/>
              </a:ext>
            </a:extLst>
          </p:cNvPr>
          <p:cNvSpPr/>
          <p:nvPr/>
        </p:nvSpPr>
        <p:spPr>
          <a:xfrm>
            <a:off x="7955280" y="1600200"/>
            <a:ext cx="3383280" cy="502920"/>
          </a:xfrm>
          <a:prstGeom prst="rect">
            <a:avLst/>
          </a:prstGeom>
          <a:solidFill>
            <a:srgbClr val="14251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12">
            <a:extLst>
              <a:ext uri="{FF2B5EF4-FFF2-40B4-BE49-F238E27FC236}">
                <a16:creationId xmlns:a16="http://schemas.microsoft.com/office/drawing/2014/main" id="{DAAC04C4-1292-8F43-9FE5-1E152752B6E3}"/>
              </a:ext>
            </a:extLst>
          </p:cNvPr>
          <p:cNvSpPr/>
          <p:nvPr/>
        </p:nvSpPr>
        <p:spPr>
          <a:xfrm>
            <a:off x="7955280" y="16002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Impact</a:t>
            </a:r>
            <a:endParaRPr lang="en-US" sz="1300" dirty="0"/>
          </a:p>
        </p:txBody>
      </p:sp>
      <p:sp>
        <p:nvSpPr>
          <p:cNvPr id="38" name="Text 13">
            <a:extLst>
              <a:ext uri="{FF2B5EF4-FFF2-40B4-BE49-F238E27FC236}">
                <a16:creationId xmlns:a16="http://schemas.microsoft.com/office/drawing/2014/main" id="{462E7A75-A4E9-3179-B351-AC44349DB9CF}"/>
              </a:ext>
            </a:extLst>
          </p:cNvPr>
          <p:cNvSpPr/>
          <p:nvPr/>
        </p:nvSpPr>
        <p:spPr>
          <a:xfrm>
            <a:off x="8229600" y="2286000"/>
            <a:ext cx="2834640" cy="137160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>
              <a:lnSpc>
                <a:spcPct val="115000"/>
              </a:lnSpc>
              <a:spcAft>
                <a:spcPts val="600"/>
              </a:spcAft>
              <a:defRPr sz="1800" b="0">
                <a:solidFill>
                  <a:srgbClr val="46534C"/>
                </a:solidFill>
                <a:latin typeface="Arial"/>
              </a:defRPr>
              <a:buNone/>
            </a:pPr>
            <a:r>
              <a:t>Reuse suitable devices and extend their working life.</a:t>
            </a:r>
            <a:endParaRPr lang="en-US" sz="1200" dirty="0"/>
          </a:p>
        </p:txBody>
      </p:sp>
      <p:sp>
        <p:nvSpPr>
          <p:cNvPr id="40" name="Text 14">
            <a:extLst>
              <a:ext uri="{FF2B5EF4-FFF2-40B4-BE49-F238E27FC236}">
                <a16:creationId xmlns:a16="http://schemas.microsoft.com/office/drawing/2014/main" id="{0E44F278-2528-5628-6C49-FD8711391855}"/>
              </a:ext>
            </a:extLst>
          </p:cNvPr>
          <p:cNvSpPr/>
          <p:nvPr/>
        </p:nvSpPr>
        <p:spPr>
          <a:xfrm>
            <a:off x="548640" y="41605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OF THE SOLUTION</a:t>
            </a:r>
            <a:endParaRPr lang="en-US" sz="1300" dirty="0"/>
          </a:p>
        </p:txBody>
      </p:sp>
      <p:sp>
        <p:nvSpPr>
          <p:cNvPr id="42" name="Text 15">
            <a:extLst>
              <a:ext uri="{FF2B5EF4-FFF2-40B4-BE49-F238E27FC236}">
                <a16:creationId xmlns:a16="http://schemas.microsoft.com/office/drawing/2014/main" id="{1A3A24E7-A066-0567-3F0D-558B41D4B2F7}"/>
              </a:ext>
            </a:extLst>
          </p:cNvPr>
          <p:cNvSpPr/>
          <p:nvPr/>
        </p:nvSpPr>
        <p:spPr>
          <a:xfrm>
            <a:off x="548640" y="4526280"/>
            <a:ext cx="10515600" cy="164592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>
            <a:noAutofit/>
          </a:bodyPr>
          <a:lstStyle/>
          <a:p>
            <a:pPr marL="190500" indent="-190500" algn="l" lvl="0">
              <a:lnSpc>
                <a:spcPct val="110000"/>
              </a:lnSpc>
              <a:spcAft>
                <a:spcPts val="600"/>
              </a:spcAft>
              <a:buChar char="•"/>
              <a:defRPr sz="1650" b="0" i="0">
                <a:solidFill>
                  <a:srgbClr val="46534C"/>
                </a:solidFill>
                <a:latin typeface="Arial"/>
                <a:ea typeface="Arial"/>
                <a:cs typeface="Arial"/>
              </a:defRPr>
            </a:pPr>
            <a:r>
              <a:t>For staff: fewer feeds to search when an alert appears.</a:t>
            </a:r>
            <a:endParaRPr lang="en-US" sz="1650" dirty="0" b="0" i="0">
              <a:solidFill>
                <a:srgbClr val="46534C"/>
              </a:solidFill>
              <a:latin typeface="Arial"/>
              <a:ea typeface="Arial"/>
              <a:cs typeface="Arial"/>
            </a:endParaRPr>
          </a:p>
          <a:p>
            <a:pPr marL="190500" indent="-190500" algn="l" lvl="0">
              <a:lnSpc>
                <a:spcPct val="110000"/>
              </a:lnSpc>
              <a:spcAft>
                <a:spcPts val="600"/>
              </a:spcAft>
              <a:buChar char="•"/>
              <a:defRPr sz="1650" b="0" i="0">
                <a:solidFill>
                  <a:srgbClr val="46534C"/>
                </a:solidFill>
                <a:latin typeface="Arial"/>
                <a:ea typeface="Arial"/>
                <a:cs typeface="Arial"/>
              </a:defRPr>
            </a:pPr>
            <a:r>
              <a:t>For schools: a practical way to trial earlier incident review.</a:t>
            </a:r>
          </a:p>
          <a:p>
            <a:pPr marL="190500" indent="-190500" algn="l" lvl="0">
              <a:lnSpc>
                <a:spcPct val="110000"/>
              </a:lnSpc>
              <a:spcAft>
                <a:spcPts val="600"/>
              </a:spcAft>
              <a:buChar char="•"/>
              <a:defRPr sz="1650" b="0" i="0">
                <a:solidFill>
                  <a:srgbClr val="46534C"/>
                </a:solidFill>
                <a:latin typeface="Arial"/>
                <a:ea typeface="Arial"/>
                <a:cs typeface="Arial"/>
              </a:defRPr>
            </a:pPr>
            <a:r>
              <a:t>Next step: measure missed events, false alerts and review time.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1500" y="6200775"/>
            <a:ext cx="10763250" cy="2667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noAutofit/>
          </a:bodyPr>
          <a:lstStyle/>
          <a:p>
            <a:pPr marL="0" indent="0" algn="l" lvl="0">
              <a:lnSpc>
                <a:spcPct val="110000"/>
              </a:lnSpc>
              <a:spcAft>
                <a:spcPts val="600"/>
              </a:spcAft>
              <a:buNone/>
              <a:defRPr sz="1125" b="0" i="0">
                <a:solidFill>
                  <a:srgbClr val="46534C"/>
                </a:solidFill>
                <a:latin typeface="Arial"/>
                <a:ea typeface="Arial"/>
                <a:cs typeface="Arial"/>
              </a:defRPr>
            </a:pPr>
            <a:r>
              <a:t>Expected benefits. Safety outcomes, costs and environmental savings have not yet been measured.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001375" y="6524625"/>
            <a:ext cx="714375" cy="238125"/>
          </a:xfrm>
          <a:prstGeom prst="rect">
            <a:avLst/>
          </a:prstGeom>
          <a:noFill/>
        </p:spPr>
        <p:txBody>
          <a:bodyPr wrap="square" lIns="38100" rIns="38100" tIns="19050" bIns="19050" anchor="t">
            <a:noAutofit/>
          </a:bodyPr>
          <a:lstStyle/>
          <a:p>
            <a:pPr marL="0" indent="0" algn="r" lvl="0">
              <a:lnSpc>
                <a:spcPct val="110000"/>
              </a:lnSpc>
              <a:spcAft>
                <a:spcPts val="600"/>
              </a:spcAft>
              <a:buNone/>
              <a:defRPr sz="975" b="0" i="0">
                <a:solidFill>
                  <a:srgbClr val="222760"/>
                </a:solidFill>
                <a:latin typeface="Arial"/>
                <a:ea typeface="Arial"/>
                <a:cs typeface="Arial"/>
              </a:defRPr>
            </a:pPr>
            <a:r>
              <a:t>07 / 10</a:t>
            </a:r>
          </a:p>
        </p:txBody>
      </p:sp>
    </p:spTree>
    <p:extLst>
      <p:ext uri="{BB962C8B-B14F-4D97-AF65-F5344CB8AC3E}">
        <p14:creationId xmlns:p14="http://schemas.microsoft.com/office/powerpoint/2010/main" val="25272332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2">
            <a:extLst>
              <a:ext uri="{FF2B5EF4-FFF2-40B4-BE49-F238E27FC236}">
                <a16:creationId xmlns:a16="http://schemas.microsoft.com/office/drawing/2014/main" id="{356E6E85-492D-B094-25B7-D3450CDA3048}"/>
              </a:ext>
            </a:extLst>
          </p:cNvPr>
          <p:cNvSpPr/>
          <p:nvPr/>
        </p:nvSpPr>
        <p:spPr>
          <a:xfrm>
            <a:off x="6560321" y="1600200"/>
            <a:ext cx="5417179" cy="3657600"/>
          </a:xfrm>
          <a:prstGeom prst="roundRect">
            <a:avLst>
              <a:gd name="adj" fmla="val 2500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9" name="Google Shape;219;p2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19050" rIns="38100" bIns="190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  <a:defRPr sz="750" b="0">
                <a:solidFill>
                  <a:srgbClr val="222760"/>
                </a:solidFill>
                <a:latin typeface="Arial"/>
              </a:defRPr>
            </a:pPr>
            <a:endParaRPr>
              <a:latin typeface="Garamond" panose="02020404030301010803" pitchFamily="18" charset="0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9B25E136-E311-1699-E79F-75EF9489A4C9}"/>
              </a:ext>
            </a:extLst>
          </p:cNvPr>
          <p:cNvSpPr/>
          <p:nvPr/>
        </p:nvSpPr>
        <p:spPr>
          <a:xfrm>
            <a:off x="552450" y="457200"/>
            <a:ext cx="5810250" cy="60960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>
            <a:noAutofit/>
          </a:bodyPr>
          <a:lstStyle/>
          <a:p>
            <a:pPr marL="0" indent="0" algn="l" lvl="0">
              <a:lnSpc>
                <a:spcPct val="110000"/>
              </a:lnSpc>
              <a:spcAft>
                <a:spcPts val="600"/>
              </a:spcAft>
              <a:buNone/>
              <a:defRPr sz="2550" b="1" i="0">
                <a:solidFill>
                  <a:srgbClr val="222760"/>
                </a:solidFill>
                <a:latin typeface="Georgia"/>
                <a:ea typeface="Georgia"/>
                <a:cs typeface="Georgia"/>
              </a:defRPr>
            </a:pPr>
            <a:r>
              <a:t>Research and References</a:t>
            </a:r>
            <a:endParaRPr lang="en-US" sz="2550" dirty="0" b="1" i="0">
              <a:solidFill>
                <a:srgbClr val="222760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DD6EB980-7877-F5B7-459A-D4B5D2BA7CDA}"/>
              </a:ext>
            </a:extLst>
          </p:cNvPr>
          <p:cNvSpPr/>
          <p:nvPr/>
        </p:nvSpPr>
        <p:spPr>
          <a:xfrm>
            <a:off x="548640" y="1600200"/>
            <a:ext cx="5775248" cy="3657600"/>
          </a:xfrm>
          <a:prstGeom prst="roundRect">
            <a:avLst>
              <a:gd name="adj" fmla="val 2500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6A5533E6-210A-9D2B-999D-6D1EDA53212C}"/>
              </a:ext>
            </a:extLst>
          </p:cNvPr>
          <p:cNvSpPr/>
          <p:nvPr/>
        </p:nvSpPr>
        <p:spPr>
          <a:xfrm>
            <a:off x="6697339" y="1749110"/>
            <a:ext cx="5432561" cy="32004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>
            <a:noAutofit/>
          </a:bodyPr>
          <a:lstStyle/>
          <a:p>
            <a:pPr marL="0" indent="0" algn="l" lvl="0">
              <a:lnSpc>
                <a:spcPct val="110000"/>
              </a:lnSpc>
              <a:spcAft>
                <a:spcPts val="600"/>
              </a:spcAft>
              <a:buNone/>
              <a:defRPr sz="1350" b="1" i="0">
                <a:solidFill>
                  <a:srgbClr val="14251D"/>
                </a:solidFill>
                <a:latin typeface="Arial"/>
                <a:ea typeface="Arial"/>
                <a:cs typeface="Arial"/>
              </a:defRPr>
            </a:pPr>
            <a:r>
              <a:t>IMPLEMENTED IN THE REPOSITORY</a:t>
            </a:r>
            <a:endParaRPr lang="en-US" sz="1350" dirty="0" b="1" i="0">
              <a:solidFill>
                <a:srgbClr val="14251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34169B4-1DCF-188F-ADF8-9FA49565252E}"/>
              </a:ext>
            </a:extLst>
          </p:cNvPr>
          <p:cNvSpPr/>
          <p:nvPr/>
        </p:nvSpPr>
        <p:spPr>
          <a:xfrm>
            <a:off x="6705600" y="457200"/>
            <a:ext cx="5048250" cy="60960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>
            <a:noAutofit/>
          </a:bodyPr>
          <a:lstStyle/>
          <a:p>
            <a:pPr marL="0" indent="0" algn="l" lvl="0">
              <a:lnSpc>
                <a:spcPct val="110000"/>
              </a:lnSpc>
              <a:spcAft>
                <a:spcPts val="600"/>
              </a:spcAft>
              <a:buNone/>
              <a:defRPr sz="2550" b="1" i="0">
                <a:solidFill>
                  <a:srgbClr val="222760"/>
                </a:solidFill>
                <a:latin typeface="Georgia"/>
                <a:ea typeface="Georgia"/>
                <a:cs typeface="Georgia"/>
              </a:defRPr>
            </a:pPr>
            <a:r>
              <a:t>Technology Stack</a:t>
            </a:r>
            <a:endParaRPr lang="en-US" sz="2550" dirty="0" b="1" i="0">
              <a:solidFill>
                <a:srgbClr val="222760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77C2F44F-88C0-E656-B432-7BB7AC7F20EC}"/>
              </a:ext>
            </a:extLst>
          </p:cNvPr>
          <p:cNvSpPr/>
          <p:nvPr/>
        </p:nvSpPr>
        <p:spPr>
          <a:xfrm>
            <a:off x="822960" y="1741932"/>
            <a:ext cx="5432561" cy="32004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>
            <a:noAutofit/>
          </a:bodyPr>
          <a:lstStyle/>
          <a:p>
            <a:pPr marL="0" indent="0" algn="l" lvl="0">
              <a:lnSpc>
                <a:spcPct val="110000"/>
              </a:lnSpc>
              <a:spcAft>
                <a:spcPts val="600"/>
              </a:spcAft>
              <a:buNone/>
              <a:defRPr sz="1350" b="1" i="0">
                <a:solidFill>
                  <a:srgbClr val="14251D"/>
                </a:solidFill>
                <a:latin typeface="Arial"/>
                <a:ea typeface="Arial"/>
                <a:cs typeface="Arial"/>
              </a:defRPr>
            </a:pPr>
            <a:r>
              <a:t>EVIDENCE AND SOURCES</a:t>
            </a:r>
            <a:endParaRPr lang="en-US" sz="1350" dirty="0" b="1" i="0">
              <a:solidFill>
                <a:srgbClr val="14251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0" name="TextBox 219"/>
          <p:cNvSpPr txBox="1"/>
          <p:nvPr/>
        </p:nvSpPr>
        <p:spPr>
          <a:xfrm>
            <a:off x="819150" y="2190750"/>
            <a:ext cx="5219700" cy="276225"/>
          </a:xfrm>
          <a:prstGeom prst="rect">
            <a:avLst/>
          </a:prstGeom>
          <a:noFill/>
        </p:spPr>
        <p:txBody>
          <a:bodyPr wrap="square" lIns="38100" rIns="38100" tIns="19050" bIns="19050" anchor="t">
            <a:noAutofit/>
          </a:bodyPr>
          <a:lstStyle/>
          <a:p>
            <a:pPr marL="0" indent="0" algn="l" lvl="0">
              <a:lnSpc>
                <a:spcPct val="110000"/>
              </a:lnSpc>
              <a:spcAft>
                <a:spcPts val="600"/>
              </a:spcAft>
              <a:buNone/>
              <a:defRPr sz="1650" b="1" i="0">
                <a:solidFill>
                  <a:srgbClr val="46534C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hlinkClick r:id="rId3"/>
                <a:solidFill>
                  <a:srgbClr val="46534C"/>
                </a:solidFill>
                <a:latin typeface="Arial"/>
                <a:ea typeface="Arial"/>
                <a:cs typeface="Arial"/>
              </a:rPr>
              <a:t>NIVRA repository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819150" y="2466975"/>
            <a:ext cx="5219700" cy="2667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noAutofit/>
          </a:bodyPr>
          <a:lstStyle/>
          <a:p>
            <a:pPr marL="0" indent="0" algn="l" lvl="0">
              <a:lnSpc>
                <a:spcPct val="110000"/>
              </a:lnSpc>
              <a:spcAft>
                <a:spcPts val="600"/>
              </a:spcAft>
              <a:buNone/>
              <a:defRPr sz="1350" b="0" i="0">
                <a:solidFill>
                  <a:srgbClr val="46534C"/>
                </a:solidFill>
                <a:latin typeface="Arial"/>
                <a:ea typeface="Arial"/>
                <a:cs typeface="Arial"/>
              </a:defRPr>
            </a:pPr>
            <a:r>
              <a:t>Implementation, test fixtures and limitations.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819150" y="2771775"/>
            <a:ext cx="5219700" cy="276225"/>
          </a:xfrm>
          <a:prstGeom prst="rect">
            <a:avLst/>
          </a:prstGeom>
          <a:noFill/>
        </p:spPr>
        <p:txBody>
          <a:bodyPr wrap="square" lIns="38100" rIns="38100" tIns="19050" bIns="19050" anchor="t">
            <a:noAutofit/>
          </a:bodyPr>
          <a:lstStyle/>
          <a:p>
            <a:pPr marL="0" indent="0" algn="l" lvl="0">
              <a:lnSpc>
                <a:spcPct val="110000"/>
              </a:lnSpc>
              <a:spcAft>
                <a:spcPts val="600"/>
              </a:spcAft>
              <a:buNone/>
              <a:defRPr sz="1650" b="1" i="0">
                <a:solidFill>
                  <a:srgbClr val="46534C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hlinkClick r:id="rId4"/>
                <a:solidFill>
                  <a:srgbClr val="46534C"/>
                </a:solidFill>
                <a:latin typeface="Arial"/>
                <a:ea typeface="Arial"/>
                <a:cs typeface="Arial"/>
              </a:rPr>
              <a:t>WHO | Injuries and violence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819150" y="3048000"/>
            <a:ext cx="5219700" cy="2667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noAutofit/>
          </a:bodyPr>
          <a:lstStyle/>
          <a:p>
            <a:pPr marL="0" indent="0" algn="l" lvl="0">
              <a:lnSpc>
                <a:spcPct val="110000"/>
              </a:lnSpc>
              <a:spcAft>
                <a:spcPts val="600"/>
              </a:spcAft>
              <a:buNone/>
              <a:defRPr sz="1350" b="0" i="0">
                <a:solidFill>
                  <a:srgbClr val="46534C"/>
                </a:solidFill>
                <a:latin typeface="Arial"/>
                <a:ea typeface="Arial"/>
                <a:cs typeface="Arial"/>
              </a:defRPr>
            </a:pPr>
            <a:r>
              <a:t>Broad global burden; not product impact.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819150" y="3352800"/>
            <a:ext cx="5219700" cy="276225"/>
          </a:xfrm>
          <a:prstGeom prst="rect">
            <a:avLst/>
          </a:prstGeom>
          <a:noFill/>
        </p:spPr>
        <p:txBody>
          <a:bodyPr wrap="square" lIns="38100" rIns="38100" tIns="19050" bIns="19050" anchor="t">
            <a:noAutofit/>
          </a:bodyPr>
          <a:lstStyle/>
          <a:p>
            <a:pPr marL="0" indent="0" algn="l" lvl="0">
              <a:lnSpc>
                <a:spcPct val="110000"/>
              </a:lnSpc>
              <a:spcAft>
                <a:spcPts val="600"/>
              </a:spcAft>
              <a:buNone/>
              <a:defRPr sz="1650" b="1" i="0">
                <a:solidFill>
                  <a:srgbClr val="46534C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hlinkClick r:id="rId5"/>
                <a:solidFill>
                  <a:srgbClr val="46534C"/>
                </a:solidFill>
                <a:latin typeface="Arial"/>
                <a:ea typeface="Arial"/>
                <a:cs typeface="Arial"/>
              </a:rPr>
              <a:t>MediaPipe Pose Landmarker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819150" y="3629025"/>
            <a:ext cx="5219700" cy="2667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noAutofit/>
          </a:bodyPr>
          <a:lstStyle/>
          <a:p>
            <a:pPr marL="0" indent="0" algn="l" lvl="0">
              <a:lnSpc>
                <a:spcPct val="110000"/>
              </a:lnSpc>
              <a:spcAft>
                <a:spcPts val="600"/>
              </a:spcAft>
              <a:buNone/>
              <a:defRPr sz="1350" b="0" i="0">
                <a:solidFill>
                  <a:srgbClr val="46534C"/>
                </a:solidFill>
                <a:latin typeface="Arial"/>
                <a:ea typeface="Arial"/>
                <a:cs typeface="Arial"/>
              </a:defRPr>
            </a:pPr>
            <a:r>
              <a:t>Landmark API and model documentation.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819150" y="3933825"/>
            <a:ext cx="5219700" cy="276225"/>
          </a:xfrm>
          <a:prstGeom prst="rect">
            <a:avLst/>
          </a:prstGeom>
          <a:noFill/>
        </p:spPr>
        <p:txBody>
          <a:bodyPr wrap="square" lIns="38100" rIns="38100" tIns="19050" bIns="19050" anchor="t">
            <a:noAutofit/>
          </a:bodyPr>
          <a:lstStyle/>
          <a:p>
            <a:pPr marL="0" indent="0" algn="l" lvl="0">
              <a:lnSpc>
                <a:spcPct val="110000"/>
              </a:lnSpc>
              <a:spcAft>
                <a:spcPts val="600"/>
              </a:spcAft>
              <a:buNone/>
              <a:defRPr sz="1650" b="1" i="0">
                <a:solidFill>
                  <a:srgbClr val="46534C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hlinkClick r:id="rId6"/>
                <a:solidFill>
                  <a:srgbClr val="46534C"/>
                </a:solidFill>
                <a:latin typeface="Arial"/>
                <a:ea typeface="Arial"/>
                <a:cs typeface="Arial"/>
              </a:rPr>
              <a:t>MoE school safety / DPDP Act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819150" y="4210050"/>
            <a:ext cx="5219700" cy="2667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noAutofit/>
          </a:bodyPr>
          <a:lstStyle/>
          <a:p>
            <a:pPr marL="0" indent="0" algn="l" lvl="0">
              <a:lnSpc>
                <a:spcPct val="110000"/>
              </a:lnSpc>
              <a:spcAft>
                <a:spcPts val="600"/>
              </a:spcAft>
              <a:buNone/>
              <a:defRPr sz="1350" b="0" i="0">
                <a:solidFill>
                  <a:srgbClr val="46534C"/>
                </a:solidFill>
                <a:latin typeface="Arial"/>
                <a:ea typeface="Arial"/>
                <a:cs typeface="Arial"/>
              </a:defRPr>
            </a:pPr>
            <a:r>
              <a:t>Policy context and privacy review before trials.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819150" y="4514850"/>
            <a:ext cx="5219700" cy="276225"/>
          </a:xfrm>
          <a:prstGeom prst="rect">
            <a:avLst/>
          </a:prstGeom>
          <a:noFill/>
        </p:spPr>
        <p:txBody>
          <a:bodyPr wrap="square" lIns="38100" rIns="38100" tIns="19050" bIns="19050" anchor="t">
            <a:noAutofit/>
          </a:bodyPr>
          <a:lstStyle/>
          <a:p>
            <a:pPr marL="0" indent="0" algn="l" lvl="0">
              <a:lnSpc>
                <a:spcPct val="110000"/>
              </a:lnSpc>
              <a:spcAft>
                <a:spcPts val="600"/>
              </a:spcAft>
              <a:buNone/>
              <a:defRPr sz="1650" b="1" i="0">
                <a:solidFill>
                  <a:srgbClr val="46534C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hlinkClick r:id="rId7"/>
                <a:solidFill>
                  <a:srgbClr val="46534C"/>
                </a:solidFill>
                <a:latin typeface="Arial"/>
                <a:ea typeface="Arial"/>
                <a:cs typeface="Arial"/>
              </a:rPr>
              <a:t>Axis Object Analytics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819150" y="4791075"/>
            <a:ext cx="5219700" cy="2667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noAutofit/>
          </a:bodyPr>
          <a:lstStyle/>
          <a:p>
            <a:pPr marL="0" indent="0" algn="l" lvl="0">
              <a:lnSpc>
                <a:spcPct val="110000"/>
              </a:lnSpc>
              <a:spcAft>
                <a:spcPts val="600"/>
              </a:spcAft>
              <a:buNone/>
              <a:defRPr sz="1350" b="0" i="0">
                <a:solidFill>
                  <a:srgbClr val="46534C"/>
                </a:solidFill>
                <a:latin typeface="Arial"/>
                <a:ea typeface="Arial"/>
                <a:cs typeface="Arial"/>
              </a:defRPr>
            </a:pPr>
            <a:r>
              <a:t>Existing event-analytics category for comparison.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6743700" y="2190750"/>
            <a:ext cx="4895850" cy="276225"/>
          </a:xfrm>
          <a:prstGeom prst="rect">
            <a:avLst/>
          </a:prstGeom>
          <a:noFill/>
        </p:spPr>
        <p:txBody>
          <a:bodyPr wrap="square" lIns="38100" rIns="38100" tIns="19050" bIns="19050" anchor="t">
            <a:noAutofit/>
          </a:bodyPr>
          <a:lstStyle/>
          <a:p>
            <a:pPr marL="0" indent="0" algn="l" lvl="0">
              <a:lnSpc>
                <a:spcPct val="110000"/>
              </a:lnSpc>
              <a:spcAft>
                <a:spcPts val="600"/>
              </a:spcAft>
              <a:buNone/>
              <a:defRPr sz="1650" b="1" i="0">
                <a:solidFill>
                  <a:srgbClr val="46534C"/>
                </a:solidFill>
                <a:latin typeface="Arial"/>
                <a:ea typeface="Arial"/>
                <a:cs typeface="Arial"/>
              </a:defRPr>
            </a:pPr>
            <a:r>
              <a:t>React 19 + TypeScript + Vite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6743700" y="2466975"/>
            <a:ext cx="4895850" cy="2667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noAutofit/>
          </a:bodyPr>
          <a:lstStyle/>
          <a:p>
            <a:pPr marL="0" indent="0" algn="l" lvl="0">
              <a:lnSpc>
                <a:spcPct val="110000"/>
              </a:lnSpc>
              <a:spcAft>
                <a:spcPts val="600"/>
              </a:spcAft>
              <a:buNone/>
              <a:defRPr sz="1350" b="0" i="0">
                <a:solidFill>
                  <a:srgbClr val="46534C"/>
                </a:solidFill>
                <a:latin typeface="Arial"/>
                <a:ea typeface="Arial"/>
                <a:cs typeface="Arial"/>
              </a:defRPr>
            </a:pPr>
            <a:r>
              <a:t>Browser UI and production build.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6743700" y="2771775"/>
            <a:ext cx="4895850" cy="276225"/>
          </a:xfrm>
          <a:prstGeom prst="rect">
            <a:avLst/>
          </a:prstGeom>
          <a:noFill/>
        </p:spPr>
        <p:txBody>
          <a:bodyPr wrap="square" lIns="38100" rIns="38100" tIns="19050" bIns="19050" anchor="t">
            <a:noAutofit/>
          </a:bodyPr>
          <a:lstStyle/>
          <a:p>
            <a:pPr marL="0" indent="0" algn="l" lvl="0">
              <a:lnSpc>
                <a:spcPct val="110000"/>
              </a:lnSpc>
              <a:spcAft>
                <a:spcPts val="600"/>
              </a:spcAft>
              <a:buNone/>
              <a:defRPr sz="1650" b="1" i="0">
                <a:solidFill>
                  <a:srgbClr val="46534C"/>
                </a:solidFill>
                <a:latin typeface="Arial"/>
                <a:ea typeface="Arial"/>
                <a:cs typeface="Arial"/>
              </a:defRPr>
            </a:pPr>
            <a:r>
              <a:t>MediaPipe Tasks Vision 1.0.1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6743700" y="3048000"/>
            <a:ext cx="4895850" cy="2667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noAutofit/>
          </a:bodyPr>
          <a:lstStyle/>
          <a:p>
            <a:pPr marL="0" indent="0" algn="l" lvl="0">
              <a:lnSpc>
                <a:spcPct val="110000"/>
              </a:lnSpc>
              <a:spcAft>
                <a:spcPts val="600"/>
              </a:spcAft>
              <a:buNone/>
              <a:defRPr sz="1350" b="0" i="0">
                <a:solidFill>
                  <a:srgbClr val="46534C"/>
                </a:solidFill>
                <a:latin typeface="Arial"/>
                <a:ea typeface="Arial"/>
                <a:cs typeface="Arial"/>
              </a:defRPr>
            </a:pPr>
            <a:r>
              <a:t>Pose Landmarker Full / Lite, float16.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6743700" y="3352800"/>
            <a:ext cx="4895850" cy="276225"/>
          </a:xfrm>
          <a:prstGeom prst="rect">
            <a:avLst/>
          </a:prstGeom>
          <a:noFill/>
        </p:spPr>
        <p:txBody>
          <a:bodyPr wrap="square" lIns="38100" rIns="38100" tIns="19050" bIns="19050" anchor="t">
            <a:noAutofit/>
          </a:bodyPr>
          <a:lstStyle/>
          <a:p>
            <a:pPr marL="0" indent="0" algn="l" lvl="0">
              <a:lnSpc>
                <a:spcPct val="110000"/>
              </a:lnSpc>
              <a:spcAft>
                <a:spcPts val="600"/>
              </a:spcAft>
              <a:buNone/>
              <a:defRPr sz="1650" b="1" i="0">
                <a:solidFill>
                  <a:srgbClr val="46534C"/>
                </a:solidFill>
                <a:latin typeface="Arial"/>
                <a:ea typeface="Arial"/>
                <a:cs typeface="Arial"/>
              </a:defRPr>
            </a:pPr>
            <a:r>
              <a:t>EfficientDet-Lite0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6743700" y="3629025"/>
            <a:ext cx="4895850" cy="2667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noAutofit/>
          </a:bodyPr>
          <a:lstStyle/>
          <a:p>
            <a:pPr marL="0" indent="0" algn="l" lvl="0">
              <a:lnSpc>
                <a:spcPct val="110000"/>
              </a:lnSpc>
              <a:spcAft>
                <a:spcPts val="600"/>
              </a:spcAft>
              <a:buNone/>
              <a:defRPr sz="1350" b="0" i="0">
                <a:solidFill>
                  <a:srgbClr val="46534C"/>
                </a:solidFill>
                <a:latin typeface="Arial"/>
                <a:ea typeface="Arial"/>
                <a:cs typeface="Arial"/>
              </a:defRPr>
            </a:pPr>
            <a:r>
              <a:t>Optional object analysis on CPU.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6743700" y="3933825"/>
            <a:ext cx="4895850" cy="276225"/>
          </a:xfrm>
          <a:prstGeom prst="rect">
            <a:avLst/>
          </a:prstGeom>
          <a:noFill/>
        </p:spPr>
        <p:txBody>
          <a:bodyPr wrap="square" lIns="38100" rIns="38100" tIns="19050" bIns="19050" anchor="t">
            <a:noAutofit/>
          </a:bodyPr>
          <a:lstStyle/>
          <a:p>
            <a:pPr marL="0" indent="0" algn="l" lvl="0">
              <a:lnSpc>
                <a:spcPct val="110000"/>
              </a:lnSpc>
              <a:spcAft>
                <a:spcPts val="600"/>
              </a:spcAft>
              <a:buNone/>
              <a:defRPr sz="1650" b="1" i="0">
                <a:solidFill>
                  <a:srgbClr val="46534C"/>
                </a:solidFill>
                <a:latin typeface="Arial"/>
                <a:ea typeface="Arial"/>
                <a:cs typeface="Arial"/>
              </a:defRPr>
            </a:pPr>
            <a:r>
              <a:t>Web Workers + WASM + Canvas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6743700" y="4210050"/>
            <a:ext cx="4895850" cy="2667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noAutofit/>
          </a:bodyPr>
          <a:lstStyle/>
          <a:p>
            <a:pPr marL="0" indent="0" algn="l" lvl="0">
              <a:lnSpc>
                <a:spcPct val="110000"/>
              </a:lnSpc>
              <a:spcAft>
                <a:spcPts val="600"/>
              </a:spcAft>
              <a:buNone/>
              <a:defRPr sz="1350" b="0" i="0">
                <a:solidFill>
                  <a:srgbClr val="46534C"/>
                </a:solidFill>
                <a:latin typeface="Arial"/>
                <a:ea typeface="Arial"/>
                <a:cs typeface="Arial"/>
              </a:defRPr>
            </a:pPr>
            <a:r>
              <a:t>Two workers; GPU attempt / CPU fallback.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6743700" y="4514850"/>
            <a:ext cx="4895850" cy="276225"/>
          </a:xfrm>
          <a:prstGeom prst="rect">
            <a:avLst/>
          </a:prstGeom>
          <a:noFill/>
        </p:spPr>
        <p:txBody>
          <a:bodyPr wrap="square" lIns="38100" rIns="38100" tIns="19050" bIns="19050" anchor="t">
            <a:noAutofit/>
          </a:bodyPr>
          <a:lstStyle/>
          <a:p>
            <a:pPr marL="0" indent="0" algn="l" lvl="0">
              <a:lnSpc>
                <a:spcPct val="110000"/>
              </a:lnSpc>
              <a:spcAft>
                <a:spcPts val="600"/>
              </a:spcAft>
              <a:buNone/>
              <a:defRPr sz="1650" b="1" i="0">
                <a:solidFill>
                  <a:srgbClr val="46534C"/>
                </a:solidFill>
                <a:latin typeface="Arial"/>
                <a:ea typeface="Arial"/>
                <a:cs typeface="Arial"/>
              </a:defRPr>
            </a:pPr>
            <a:r>
              <a:t>Vitest + Playwright + Oxlint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6743700" y="4791075"/>
            <a:ext cx="4895850" cy="2667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noAutofit/>
          </a:bodyPr>
          <a:lstStyle/>
          <a:p>
            <a:pPr marL="0" indent="0" algn="l" lvl="0">
              <a:lnSpc>
                <a:spcPct val="110000"/>
              </a:lnSpc>
              <a:spcAft>
                <a:spcPts val="600"/>
              </a:spcAft>
              <a:buNone/>
              <a:defRPr sz="1350" b="0" i="0">
                <a:solidFill>
                  <a:srgbClr val="46534C"/>
                </a:solidFill>
                <a:latin typeface="Arial"/>
                <a:ea typeface="Arial"/>
                <a:cs typeface="Arial"/>
              </a:defRPr>
            </a:pPr>
            <a:r>
              <a:t>Unit tests, browser tests and lint tools.</a:t>
            </a:r>
          </a:p>
        </p:txBody>
      </p:sp>
      <p:pic>
        <p:nvPicPr>
          <p:cNvPr id="240" name="Picture 23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315700" y="47625"/>
            <a:ext cx="619125" cy="533400"/>
          </a:xfrm>
          <a:prstGeom prst="rect">
            <a:avLst/>
          </a:prstGeom>
        </p:spPr>
      </p:pic>
      <p:sp>
        <p:nvSpPr>
          <p:cNvPr id="241" name="TextBox 240"/>
          <p:cNvSpPr txBox="1"/>
          <p:nvPr/>
        </p:nvSpPr>
        <p:spPr>
          <a:xfrm>
            <a:off x="571500" y="6200775"/>
            <a:ext cx="10763250" cy="2667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noAutofit/>
          </a:bodyPr>
          <a:lstStyle/>
          <a:p>
            <a:pPr marL="0" indent="0" algn="l" lvl="0">
              <a:lnSpc>
                <a:spcPct val="110000"/>
              </a:lnSpc>
              <a:spcAft>
                <a:spcPts val="600"/>
              </a:spcAft>
              <a:buNone/>
              <a:defRPr sz="1125" b="0" i="0">
                <a:solidFill>
                  <a:srgbClr val="46534C"/>
                </a:solidFill>
                <a:latin typeface="Arial"/>
                <a:ea typeface="Arial"/>
                <a:cs typeface="Arial"/>
              </a:defRPr>
            </a:pPr>
            <a:r>
              <a:t>Data: bundled exercise fixture + scripted observations; representative safety evaluation remains to be done.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11001375" y="6524625"/>
            <a:ext cx="714375" cy="238125"/>
          </a:xfrm>
          <a:prstGeom prst="rect">
            <a:avLst/>
          </a:prstGeom>
          <a:noFill/>
        </p:spPr>
        <p:txBody>
          <a:bodyPr wrap="square" lIns="38100" rIns="38100" tIns="19050" bIns="19050" anchor="t">
            <a:noAutofit/>
          </a:bodyPr>
          <a:lstStyle/>
          <a:p>
            <a:pPr marL="0" indent="0" algn="r" lvl="0">
              <a:lnSpc>
                <a:spcPct val="110000"/>
              </a:lnSpc>
              <a:spcAft>
                <a:spcPts val="600"/>
              </a:spcAft>
              <a:buNone/>
              <a:defRPr sz="975" b="0" i="0">
                <a:solidFill>
                  <a:srgbClr val="222760"/>
                </a:solidFill>
                <a:latin typeface="Arial"/>
                <a:ea typeface="Arial"/>
                <a:cs typeface="Arial"/>
              </a:defRPr>
            </a:pPr>
            <a:r>
              <a:t>09 / 10</a:t>
            </a:r>
          </a:p>
        </p:txBody>
      </p:sp>
    </p:spTree>
    <p:extLst>
      <p:ext uri="{BB962C8B-B14F-4D97-AF65-F5344CB8AC3E}">
        <p14:creationId xmlns:p14="http://schemas.microsoft.com/office/powerpoint/2010/main" val="8557822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"/>
          <p:cNvSpPr txBox="1">
            <a:spLocks noGrp="1"/>
          </p:cNvSpPr>
          <p:nvPr>
            <p:ph type="title"/>
          </p:nvPr>
        </p:nvSpPr>
        <p:spPr>
          <a:xfrm>
            <a:off x="552450" y="457200"/>
            <a:ext cx="10382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19050" rIns="38100" bIns="1905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Aft>
                <a:spcPts val="600"/>
              </a:spcAft>
              <a:buNone/>
              <a:defRPr sz="2850" b="1" i="0">
                <a:solidFill>
                  <a:srgbClr val="222760"/>
                </a:solidFill>
                <a:latin typeface="Georgia"/>
                <a:ea typeface="Georgia"/>
                <a:cs typeface="Georgia"/>
              </a:defRPr>
            </a:pPr>
            <a:r>
              <a:rPr lang="en-US" dirty="0" sz="2850" b="1" i="0">
                <a:solidFill>
                  <a:srgbClr val="222760"/>
                </a:solidFill>
                <a:latin typeface="Georgia"/>
                <a:ea typeface="Georgia"/>
                <a:cs typeface="Georgia"/>
              </a:rPr>
              <a:t>Team Member Details </a:t>
            </a:r>
            <a:endParaRPr dirty="0" sz="2850" b="1" i="0">
              <a:solidFill>
                <a:srgbClr val="222760"/>
              </a:solidFill>
              <a:latin typeface="Georgia"/>
              <a:ea typeface="Georgia"/>
              <a:cs typeface="Georgia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6759B07-67C9-9D93-9ECF-CCE9D278DC24}"/>
              </a:ext>
            </a:extLst>
          </p:cNvPr>
          <p:cNvGraphicFramePr>
            <a:graphicFrameLocks noGrp="1"/>
          </p:cNvGraphicFramePr>
          <p:nvPr/>
        </p:nvGraphicFramePr>
        <p:xfrm>
          <a:off x="348792" y="2477265"/>
          <a:ext cx="10658475" cy="24821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3302631791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922706660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847440272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3576290862"/>
                    </a:ext>
                  </a:extLst>
                </a:gridCol>
                <a:gridCol w="1095375">
                  <a:extLst>
                    <a:ext uri="{9D8B030D-6E8A-4147-A177-3AD203B41FA5}">
                      <a16:colId xmlns:a16="http://schemas.microsoft.com/office/drawing/2014/main" val="1951274119"/>
                    </a:ext>
                  </a:extLst>
                </a:gridCol>
                <a:gridCol w="2695575">
                  <a:extLst>
                    <a:ext uri="{9D8B030D-6E8A-4147-A177-3AD203B41FA5}">
                      <a16:colId xmlns:a16="http://schemas.microsoft.com/office/drawing/2014/main" val="2885562377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1376403924"/>
                    </a:ext>
                  </a:extLst>
                </a:gridCol>
                <a:gridCol w="1476375">
                  <a:extLst>
                    <a:ext uri="{9D8B030D-6E8A-4147-A177-3AD203B41FA5}">
                      <a16:colId xmlns:a16="http://schemas.microsoft.com/office/drawing/2014/main" val="263951980"/>
                    </a:ext>
                  </a:extLst>
                </a:gridCol>
              </a:tblGrid>
              <a:tr h="355407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en-IN" dirty="0" sz="1100" b="1">
                          <a:latin typeface="Arial" panose="02020404030301010803" pitchFamily="18" charset="0"/>
                        </a:rPr>
                        <a:t>SL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en-IN" dirty="0" sz="1100" b="1">
                          <a:latin typeface="Arial" panose="02020404030301010803" pitchFamily="18" charset="0"/>
                        </a:rPr>
                        <a:t>Student  ID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en-IN" dirty="0" sz="1100" b="1">
                          <a:latin typeface="Arial" panose="02020404030301010803" pitchFamily="18" charset="0"/>
                        </a:rPr>
                        <a:t>Name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en-IN" dirty="0" sz="1100" b="1">
                          <a:latin typeface="Arial" panose="02020404030301010803" pitchFamily="18" charset="0"/>
                        </a:rPr>
                        <a:t>Class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en-IN" dirty="0" sz="1100" b="1">
                          <a:latin typeface="Arial" panose="02020404030301010803" pitchFamily="18" charset="0"/>
                        </a:rPr>
                        <a:t>DOB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en-IN" dirty="0" sz="1100" b="1">
                          <a:latin typeface="Arial" panose="02020404030301010803" pitchFamily="18" charset="0"/>
                        </a:rPr>
                        <a:t>Email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en-IN" dirty="0" sz="1100" b="1">
                          <a:latin typeface="Arial" panose="02020404030301010803" pitchFamily="18" charset="0"/>
                        </a:rPr>
                        <a:t>Phone Number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en-IN" dirty="0" sz="1100" b="1">
                          <a:latin typeface="Arial" panose="02020404030301010803" pitchFamily="18" charset="0"/>
                        </a:rPr>
                        <a:t>Gender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5392453"/>
                  </a:ext>
                </a:extLst>
              </a:tr>
              <a:tr h="4232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223564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Harsh Jain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12C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23/04/2009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223564@pp.balbharati.org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9810141505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Male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1049989"/>
                  </a:ext>
                </a:extLst>
              </a:tr>
              <a:tr h="4232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218461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Tanishq Aggarwal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12C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09/05/2009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218461@pp.balbharati.org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9810398813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Male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4658894"/>
                  </a:ext>
                </a:extLst>
              </a:tr>
              <a:tr h="4232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201362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Keshav Garg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12D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11/06/2009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201362@pp.balbharati.org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7011900075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Male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3468398"/>
                  </a:ext>
                </a:extLst>
              </a:tr>
              <a:tr h="4232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213266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Reyansh Garg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12D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02/07/2009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213266@pp.balbharati.org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8595774056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Male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1487646"/>
                  </a:ext>
                </a:extLst>
              </a:tr>
              <a:tr h="4232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213283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Asmi Sharma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12D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28/03/2010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213283@pp.balbharati.org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8595612803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Female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709588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9F75299-7EEA-6AC5-6C80-566AFE7A740E}"/>
              </a:ext>
            </a:extLst>
          </p:cNvPr>
          <p:cNvGraphicFramePr>
            <a:graphicFrameLocks noGrp="1"/>
          </p:cNvGraphicFramePr>
          <p:nvPr/>
        </p:nvGraphicFramePr>
        <p:xfrm>
          <a:off x="348791" y="5574445"/>
          <a:ext cx="11613818" cy="779221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431146">
                  <a:extLst>
                    <a:ext uri="{9D8B030D-6E8A-4147-A177-3AD203B41FA5}">
                      <a16:colId xmlns:a16="http://schemas.microsoft.com/office/drawing/2014/main" val="3302631791"/>
                    </a:ext>
                  </a:extLst>
                </a:gridCol>
                <a:gridCol w="2123519">
                  <a:extLst>
                    <a:ext uri="{9D8B030D-6E8A-4147-A177-3AD203B41FA5}">
                      <a16:colId xmlns:a16="http://schemas.microsoft.com/office/drawing/2014/main" val="2847440272"/>
                    </a:ext>
                  </a:extLst>
                </a:gridCol>
                <a:gridCol w="1112363">
                  <a:extLst>
                    <a:ext uri="{9D8B030D-6E8A-4147-A177-3AD203B41FA5}">
                      <a16:colId xmlns:a16="http://schemas.microsoft.com/office/drawing/2014/main" val="3576290862"/>
                    </a:ext>
                  </a:extLst>
                </a:gridCol>
                <a:gridCol w="1049170">
                  <a:extLst>
                    <a:ext uri="{9D8B030D-6E8A-4147-A177-3AD203B41FA5}">
                      <a16:colId xmlns:a16="http://schemas.microsoft.com/office/drawing/2014/main" val="1951274119"/>
                    </a:ext>
                  </a:extLst>
                </a:gridCol>
                <a:gridCol w="2199024">
                  <a:extLst>
                    <a:ext uri="{9D8B030D-6E8A-4147-A177-3AD203B41FA5}">
                      <a16:colId xmlns:a16="http://schemas.microsoft.com/office/drawing/2014/main" val="2885562377"/>
                    </a:ext>
                  </a:extLst>
                </a:gridCol>
                <a:gridCol w="2199024">
                  <a:extLst>
                    <a:ext uri="{9D8B030D-6E8A-4147-A177-3AD203B41FA5}">
                      <a16:colId xmlns:a16="http://schemas.microsoft.com/office/drawing/2014/main" val="3940072084"/>
                    </a:ext>
                  </a:extLst>
                </a:gridCol>
                <a:gridCol w="1482396">
                  <a:extLst>
                    <a:ext uri="{9D8B030D-6E8A-4147-A177-3AD203B41FA5}">
                      <a16:colId xmlns:a16="http://schemas.microsoft.com/office/drawing/2014/main" val="1376403924"/>
                    </a:ext>
                  </a:extLst>
                </a:gridCol>
                <a:gridCol w="1017176">
                  <a:extLst>
                    <a:ext uri="{9D8B030D-6E8A-4147-A177-3AD203B41FA5}">
                      <a16:colId xmlns:a16="http://schemas.microsoft.com/office/drawing/2014/main" val="263951980"/>
                    </a:ext>
                  </a:extLst>
                </a:gridCol>
              </a:tblGrid>
              <a:tr h="372511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en-IN" sz="1100" b="1" dirty="0">
                          <a:latin typeface="Arial" panose="02020404030301010803" pitchFamily="18" charset="0"/>
                        </a:rPr>
                        <a:t>SL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en-IN" sz="1100" b="1" dirty="0">
                          <a:latin typeface="Arial" panose="02020404030301010803" pitchFamily="18" charset="0"/>
                        </a:rPr>
                        <a:t>Name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en-IN" sz="1100" b="1" dirty="0">
                          <a:latin typeface="Arial" panose="02020404030301010803" pitchFamily="18" charset="0"/>
                        </a:rPr>
                        <a:t>UID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en-IN" sz="1100" b="1" dirty="0">
                          <a:latin typeface="Arial" panose="02020404030301010803" pitchFamily="18" charset="0"/>
                        </a:rPr>
                        <a:t>Address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en-IN" sz="1100" b="1" dirty="0">
                          <a:latin typeface="Arial" panose="02020404030301010803" pitchFamily="18" charset="0"/>
                        </a:rPr>
                        <a:t>DOB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en-IN" sz="1100" b="1" dirty="0">
                          <a:latin typeface="Arial" panose="02020404030301010803" pitchFamily="18" charset="0"/>
                        </a:rPr>
                        <a:t>Email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en-IN" sz="1100" b="1" dirty="0">
                          <a:latin typeface="Arial" panose="02020404030301010803" pitchFamily="18" charset="0"/>
                        </a:rPr>
                        <a:t>Phone Number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en-IN" sz="1100" b="1" dirty="0">
                          <a:latin typeface="Arial" panose="02020404030301010803" pitchFamily="18" charset="0"/>
                        </a:rPr>
                        <a:t>Gender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5392453"/>
                  </a:ext>
                </a:extLst>
              </a:tr>
              <a:tr h="40671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rPr lang="en-IN" sz="1100" b="0" dirty="0">
                          <a:latin typeface="Arial" panose="02020404030301010803" pitchFamily="18" charset="0"/>
                        </a:rPr>
                        <a:t>1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endParaRPr lang="en-IN" sz="1400" b="1" dirty="0">
                        <a:latin typeface="Garamond" panose="02020404030301010803" pitchFamily="18" charset="0"/>
                      </a:endParaRP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endParaRPr lang="en-IN" sz="1400" b="1" dirty="0">
                        <a:latin typeface="Garamond" panose="02020404030301010803" pitchFamily="18" charset="0"/>
                      </a:endParaRP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endParaRPr lang="en-IN" sz="1400" b="1">
                        <a:latin typeface="Garamond" panose="02020404030301010803" pitchFamily="18" charset="0"/>
                      </a:endParaRP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endParaRPr lang="en-IN" sz="1400" b="1">
                        <a:latin typeface="Garamond" panose="02020404030301010803" pitchFamily="18" charset="0"/>
                      </a:endParaRP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endParaRPr lang="en-IN" sz="1400" b="1" dirty="0">
                        <a:latin typeface="Garamond" panose="02020404030301010803" pitchFamily="18" charset="0"/>
                      </a:endParaRP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endParaRPr lang="en-IN" sz="1400" b="1">
                        <a:latin typeface="Garamond" panose="02020404030301010803" pitchFamily="18" charset="0"/>
                      </a:endParaRP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endParaRPr lang="en-IN" sz="1400" b="1" dirty="0">
                        <a:latin typeface="Garamond" panose="02020404030301010803" pitchFamily="18" charset="0"/>
                      </a:endParaRP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104998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2142D74-5B94-4BB9-E01D-920884BDDF84}"/>
              </a:ext>
            </a:extLst>
          </p:cNvPr>
          <p:cNvSpPr txBox="1"/>
          <p:nvPr/>
        </p:nvSpPr>
        <p:spPr>
          <a:xfrm>
            <a:off x="310838" y="2077155"/>
            <a:ext cx="2026517" cy="400110"/>
          </a:xfrm>
          <a:prstGeom prst="rect">
            <a:avLst/>
          </a:prstGeom>
          <a:noFill/>
        </p:spPr>
        <p:txBody>
          <a:bodyPr wrap="square" rtlCol="0" lIns="38100" rIns="38100" tIns="19050" bIns="19050" anchor="t">
            <a:noAutofit/>
          </a:bodyPr>
          <a:lstStyle/>
          <a:p>
            <a:r>
              <a:rPr lang="en-IN" sz="1800" b="1" dirty="0" i="0">
                <a:solidFill>
                  <a:srgbClr val="14251D"/>
                </a:solidFill>
                <a:latin typeface="Arial"/>
                <a:ea typeface="Arial"/>
                <a:cs typeface="Arial"/>
              </a:rPr>
              <a:t>Student’s Details</a:t>
            </a:r>
            <a:pPr marL="0" indent="0" algn="l" lvl="0">
              <a:lnSpc>
                <a:spcPct val="110000"/>
              </a:lnSpc>
              <a:spcAft>
                <a:spcPts val="600"/>
              </a:spcAft>
              <a:buNone/>
              <a:defRPr sz="1800" b="1" i="0">
                <a:solidFill>
                  <a:srgbClr val="14251D"/>
                </a:solidFill>
                <a:latin typeface="Arial"/>
                <a:ea typeface="Arial"/>
                <a:cs typeface="Arial"/>
              </a:defRPr>
            </a:p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161244-D56B-7E3D-CD75-FB4BA993B192}"/>
              </a:ext>
            </a:extLst>
          </p:cNvPr>
          <p:cNvSpPr txBox="1"/>
          <p:nvPr/>
        </p:nvSpPr>
        <p:spPr>
          <a:xfrm>
            <a:off x="310838" y="5149127"/>
            <a:ext cx="1818126" cy="400110"/>
          </a:xfrm>
          <a:prstGeom prst="rect">
            <a:avLst/>
          </a:prstGeom>
          <a:noFill/>
        </p:spPr>
        <p:txBody>
          <a:bodyPr wrap="square" rtlCol="0" lIns="38100" rIns="38100" tIns="19050" bIns="19050" anchor="t">
            <a:noAutofit/>
          </a:bodyPr>
          <a:lstStyle/>
          <a:p>
            <a:r>
              <a:rPr lang="en-IN" sz="1800" b="1" dirty="0" i="0">
                <a:solidFill>
                  <a:srgbClr val="14251D"/>
                </a:solidFill>
                <a:latin typeface="Arial"/>
                <a:ea typeface="Arial"/>
                <a:cs typeface="Arial"/>
              </a:rPr>
              <a:t>Mentor Details</a:t>
            </a:r>
            <a:pPr marL="0" indent="0" algn="l" lvl="0">
              <a:lnSpc>
                <a:spcPct val="110000"/>
              </a:lnSpc>
              <a:spcAft>
                <a:spcPts val="600"/>
              </a:spcAft>
              <a:buNone/>
              <a:defRPr sz="1800" b="1" i="0">
                <a:solidFill>
                  <a:srgbClr val="14251D"/>
                </a:solidFill>
                <a:latin typeface="Arial"/>
                <a:ea typeface="Arial"/>
                <a:cs typeface="Arial"/>
              </a:defRPr>
            </a:pPr>
          </a:p>
        </p:txBody>
      </p:sp>
      <p:pic>
        <p:nvPicPr>
          <p:cNvPr id="238" name="Picture 23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6625" y="266700"/>
            <a:ext cx="714375" cy="619125"/>
          </a:xfrm>
          <a:prstGeom prst="rect">
            <a:avLst/>
          </a:prstGeom>
        </p:spPr>
      </p:pic>
      <p:sp>
        <p:nvSpPr>
          <p:cNvPr id="239" name="TextBox 238"/>
          <p:cNvSpPr txBox="1"/>
          <p:nvPr/>
        </p:nvSpPr>
        <p:spPr>
          <a:xfrm>
            <a:off x="11001375" y="6524625"/>
            <a:ext cx="714375" cy="238125"/>
          </a:xfrm>
          <a:prstGeom prst="rect">
            <a:avLst/>
          </a:prstGeom>
          <a:noFill/>
        </p:spPr>
        <p:txBody>
          <a:bodyPr wrap="square" lIns="38100" rIns="38100" tIns="19050" bIns="19050" anchor="t">
            <a:noAutofit/>
          </a:bodyPr>
          <a:lstStyle/>
          <a:p>
            <a:pPr marL="0" indent="0" algn="r" lvl="0">
              <a:lnSpc>
                <a:spcPct val="110000"/>
              </a:lnSpc>
              <a:spcAft>
                <a:spcPts val="600"/>
              </a:spcAft>
              <a:buNone/>
              <a:defRPr sz="975" b="0" i="0">
                <a:solidFill>
                  <a:srgbClr val="222760"/>
                </a:solidFill>
                <a:latin typeface="Arial"/>
                <a:ea typeface="Arial"/>
                <a:cs typeface="Arial"/>
              </a:defRPr>
            </a:pPr>
            <a:r>
              <a:t>10 / 10</a:t>
            </a:r>
          </a:p>
        </p:txBody>
      </p:sp>
    </p:spTree>
    <p:extLst>
      <p:ext uri="{BB962C8B-B14F-4D97-AF65-F5344CB8AC3E}">
        <p14:creationId xmlns:p14="http://schemas.microsoft.com/office/powerpoint/2010/main" val="6109637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5"/>
          <p:cNvSpPr txBox="1"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Garamond" panose="02020404030301010803" pitchFamily="18" charset="0"/>
              </a:rPr>
              <a:t>Important Pointers</a:t>
            </a:r>
            <a:endParaRPr dirty="0">
              <a:latin typeface="Garamond" panose="02020404030301010803" pitchFamily="18" charset="0"/>
            </a:endParaRPr>
          </a:p>
        </p:txBody>
      </p:sp>
      <p:sp>
        <p:nvSpPr>
          <p:cNvPr id="244" name="Google Shape;244;p5"/>
          <p:cNvSpPr txBox="1">
            <a:spLocks noGrp="1"/>
          </p:cNvSpPr>
          <p:nvPr>
            <p:ph type="body" idx="2"/>
          </p:nvPr>
        </p:nvSpPr>
        <p:spPr>
          <a:xfrm>
            <a:off x="952500" y="2286000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latin typeface="Garamond" panose="02020404030301010803" pitchFamily="18" charset="0"/>
              </a:rPr>
              <a:t>Please ensure below pointers are met while  </a:t>
            </a:r>
            <a:endParaRPr b="1" dirty="0">
              <a:latin typeface="Garamond" panose="02020404030301010803" pitchFamily="18" charset="0"/>
            </a:endParaRPr>
          </a:p>
        </p:txBody>
      </p:sp>
      <p:sp>
        <p:nvSpPr>
          <p:cNvPr id="245" name="Google Shape;245;p5"/>
          <p:cNvSpPr txBox="1">
            <a:spLocks noGrp="1"/>
          </p:cNvSpPr>
          <p:nvPr>
            <p:ph type="body" idx="1"/>
          </p:nvPr>
        </p:nvSpPr>
        <p:spPr>
          <a:xfrm>
            <a:off x="952499" y="2656903"/>
            <a:ext cx="10821579" cy="3922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latin typeface="Garamond" panose="02020404030301010803" pitchFamily="18" charset="0"/>
              </a:rPr>
              <a:t>Kindly keep the maximum slides limit to 10 pages</a:t>
            </a:r>
            <a:endParaRPr sz="2400" dirty="0">
              <a:latin typeface="Garamond" panose="02020404030301010803" pitchFamily="18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400" dirty="0">
                <a:latin typeface="Garamond" panose="02020404030301010803" pitchFamily="18" charset="0"/>
              </a:rPr>
              <a:t>Topics should be utilized for description of your idea</a:t>
            </a:r>
            <a:endParaRPr sz="2400" dirty="0">
              <a:latin typeface="Garamond" panose="02020404030301010803" pitchFamily="18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400" dirty="0">
                <a:latin typeface="Garamond" panose="02020404030301010803" pitchFamily="18" charset="0"/>
              </a:rPr>
              <a:t>Try to avoid paragraphs and post your idea in points</a:t>
            </a:r>
            <a:endParaRPr sz="2400" dirty="0">
              <a:latin typeface="Garamond" panose="02020404030301010803" pitchFamily="18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400" dirty="0">
                <a:latin typeface="Garamond" panose="02020404030301010803" pitchFamily="18" charset="0"/>
              </a:rPr>
              <a:t>Keep your explanation precisely and easy to understand</a:t>
            </a:r>
            <a:endParaRPr sz="2400" dirty="0">
              <a:latin typeface="Garamond" panose="02020404030301010803" pitchFamily="18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400" dirty="0">
                <a:latin typeface="Garamond" panose="02020404030301010803" pitchFamily="18" charset="0"/>
              </a:rPr>
              <a:t>Idea should be noble . </a:t>
            </a:r>
            <a:endParaRPr sz="2400" dirty="0">
              <a:latin typeface="Garamond" panose="02020404030301010803" pitchFamily="18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400" dirty="0">
                <a:latin typeface="Garamond" panose="02020404030301010803" pitchFamily="18" charset="0"/>
              </a:rPr>
              <a:t>You need to save the file in PDF and upload the same on portal. No PPT, Word Doc or any other format will be supported</a:t>
            </a:r>
            <a:endParaRPr sz="2400" dirty="0">
              <a:latin typeface="Garamond" panose="02020404030301010803" pitchFamily="18" charset="0"/>
            </a:endParaRPr>
          </a:p>
        </p:txBody>
      </p:sp>
      <p:sp>
        <p:nvSpPr>
          <p:cNvPr id="246" name="Google Shape;246;p5"/>
          <p:cNvSpPr txBox="1">
            <a:spLocks noGrp="1"/>
          </p:cNvSpPr>
          <p:nvPr>
            <p:ph type="sldNum" idx="12"/>
          </p:nvPr>
        </p:nvSpPr>
        <p:spPr>
          <a:xfrm>
            <a:off x="571500" y="6200775"/>
            <a:ext cx="107632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19050" rIns="38100" bIns="1905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Aft>
                <a:spcPts val="600"/>
              </a:spcAft>
              <a:buNone/>
              <a:defRPr sz="1125" b="0" i="0">
                <a:solidFill>
                  <a:srgbClr val="46534C"/>
                </a:solidFill>
                <a:latin typeface="Arial"/>
                <a:ea typeface="Arial"/>
                <a:cs typeface="Arial"/>
              </a:defRPr>
            </a:pPr>
            <a:fld id="{00000000-1234-1234-1234-123412341234}" type="slidenum">
              <a:rPr lang="en-US" sz="1125" b="0" i="0">
                <a:solidFill>
                  <a:srgbClr val="46534C"/>
                </a:solidFill>
                <a:latin typeface="Arial"/>
                <a:ea typeface="Arial"/>
                <a:cs typeface="Arial"/>
              </a:rPr>
              <a:t>8</a:t>
            </a:fld>
            <a:endParaRPr sz="1125" b="0" i="0">
              <a:solidFill>
                <a:srgbClr val="46534C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2"/>
          <p:cNvSpPr/>
          <p:nvPr/>
        </p:nvSpPr>
        <p:spPr>
          <a:xfrm>
            <a:off x="552450" y="457200"/>
            <a:ext cx="10382250" cy="60960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>
            <a:noAutofit/>
          </a:bodyPr>
          <a:lstStyle/>
          <a:p>
            <a:pPr marL="0" indent="0" algn="l" lvl="0">
              <a:lnSpc>
                <a:spcPct val="110000"/>
              </a:lnSpc>
              <a:spcAft>
                <a:spcPts val="600"/>
              </a:spcAft>
              <a:buNone/>
              <a:defRPr sz="2850" b="1" i="0">
                <a:solidFill>
                  <a:srgbClr val="222760"/>
                </a:solidFill>
                <a:latin typeface="Georgia"/>
                <a:ea typeface="Georgia"/>
                <a:cs typeface="Georgia"/>
              </a:defRPr>
            </a:pPr>
            <a:r>
              <a:t>Your Idea | Visible signals</a:t>
            </a:r>
            <a:endParaRPr lang="en-US" sz="2850" dirty="0" b="1" i="0">
              <a:solidFill>
                <a:srgbClr val="222760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" y="1325880"/>
            <a:ext cx="5477256" cy="4709160"/>
          </a:xfrm>
          <a:prstGeom prst="roundRect">
            <a:avLst>
              <a:gd name="adj" fmla="val 1165"/>
            </a:avLst>
          </a:prstGeom>
          <a:solidFill>
            <a:srgbClr val="FFFFFF"/>
          </a:solidFill>
          <a:ln w="1587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85800" y="1554480"/>
            <a:ext cx="5020056" cy="36576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>
              <a:spcAft>
                <a:spcPts val="600"/>
              </a:spcAft>
              <a:defRPr sz="1500" b="1">
                <a:solidFill>
                  <a:srgbClr val="14251D"/>
                </a:solidFill>
                <a:latin typeface="Arial"/>
              </a:defRPr>
              <a:buNone/>
            </a:pPr>
            <a:r>
              <a:t>WHAT TRIGGERS A REVIEW?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54496" y="1325880"/>
            <a:ext cx="5477256" cy="4709160"/>
          </a:xfrm>
          <a:prstGeom prst="roundRect">
            <a:avLst>
              <a:gd name="adj" fmla="val 1165"/>
            </a:avLst>
          </a:prstGeom>
          <a:solidFill>
            <a:srgbClr val="FFFFFF"/>
          </a:solidFill>
          <a:ln w="1587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483096" y="1554480"/>
            <a:ext cx="5020056" cy="36576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>
              <a:spcAft>
                <a:spcPts val="600"/>
              </a:spcAft>
              <a:defRPr sz="1500" b="1">
                <a:solidFill>
                  <a:srgbClr val="14251D"/>
                </a:solidFill>
                <a:latin typeface="Arial"/>
              </a:defRPr>
              <a:buNone/>
            </a:pPr>
            <a:r>
              <a:t>A PERSON MAKES THE CALL</a:t>
            </a:r>
            <a:endParaRPr lang="en-US" sz="15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C3B8938-6710-D689-16BA-525BBFEFE1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5651" y="256032"/>
            <a:ext cx="592202" cy="510753"/>
          </a:xfrm>
          <a:prstGeom prst="rect">
            <a:avLst/>
          </a:prstGeom>
        </p:spPr>
      </p:pic>
      <p:pic>
        <p:nvPicPr>
          <p:cNvPr id="18" name="Picture 17" descr="courtyard-motion-natural.png"/>
          <p:cNvPicPr>
            <a:picLocks noChangeAspect="1"/>
          </p:cNvPicPr>
          <p:nvPr/>
        </p:nvPicPr>
        <p:blipFill>
          <a:blip r:embed="rId3"/>
          <a:srcRect t="12842" b="12842"/>
          <a:stretch>
            <a:fillRect/>
          </a:stretch>
        </p:blipFill>
        <p:spPr>
          <a:xfrm>
            <a:off x="704850" y="2038350"/>
            <a:ext cx="5010150" cy="20955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04850" y="4343400"/>
            <a:ext cx="4953000" cy="371475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 marL="0" indent="0">
              <a:spcAft>
                <a:spcPts val="600"/>
              </a:spcAft>
              <a:defRPr sz="2025" b="1">
                <a:solidFill>
                  <a:srgbClr val="14251D"/>
                </a:solidFill>
                <a:latin typeface="Arial"/>
              </a:defRPr>
              <a:buNone/>
            </a:pPr>
            <a:r>
              <a:t>Movement needs context.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850" y="4857750"/>
            <a:ext cx="4953000" cy="9144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noAutofit/>
          </a:bodyPr>
          <a:lstStyle/>
          <a:p>
            <a:pPr marL="190500" indent="-190500" algn="l" lvl="0">
              <a:lnSpc>
                <a:spcPct val="110000"/>
              </a:lnSpc>
              <a:spcAft>
                <a:spcPts val="600"/>
              </a:spcAft>
              <a:buChar char="•"/>
              <a:defRPr sz="1650" b="0" i="0">
                <a:solidFill>
                  <a:srgbClr val="46534C"/>
                </a:solidFill>
                <a:latin typeface="Arial"/>
                <a:ea typeface="Arial"/>
                <a:cs typeface="Arial"/>
              </a:defRPr>
            </a:pPr>
            <a:r>
              <a:t>Repeated, directed arm movements</a:t>
            </a:r>
          </a:p>
          <a:p>
            <a:pPr marL="190500" indent="-190500" algn="l" lvl="0">
              <a:lnSpc>
                <a:spcPct val="110000"/>
              </a:lnSpc>
              <a:spcAft>
                <a:spcPts val="600"/>
              </a:spcAft>
              <a:buChar char="•"/>
              <a:defRPr sz="1650" b="0" i="0">
                <a:solidFill>
                  <a:srgbClr val="46534C"/>
                </a:solidFill>
                <a:latin typeface="Arial"/>
                <a:ea typeface="Arial"/>
                <a:cs typeface="Arial"/>
              </a:defRPr>
            </a:pPr>
            <a:r>
              <a:t>The distance between people</a:t>
            </a:r>
          </a:p>
          <a:p>
            <a:pPr marL="190500" indent="-190500" algn="l" lvl="0">
              <a:lnSpc>
                <a:spcPct val="110000"/>
              </a:lnSpc>
              <a:spcAft>
                <a:spcPts val="600"/>
              </a:spcAft>
              <a:buChar char="•"/>
              <a:defRPr sz="1650" b="0" i="0">
                <a:solidFill>
                  <a:srgbClr val="46534C"/>
                </a:solidFill>
                <a:latin typeface="Arial"/>
                <a:ea typeface="Arial"/>
                <a:cs typeface="Arial"/>
              </a:defRPr>
            </a:pPr>
            <a:r>
              <a:t>Several signals over 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5575" y="2124075"/>
            <a:ext cx="4867275" cy="36195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 marL="0" indent="0">
              <a:spcAft>
                <a:spcPts val="600"/>
              </a:spcAft>
              <a:defRPr sz="1950" b="1">
                <a:solidFill>
                  <a:srgbClr val="14251D"/>
                </a:solidFill>
                <a:latin typeface="Arial"/>
              </a:defRPr>
              <a:buNone/>
            </a:pPr>
            <a:r>
              <a:t>01 / Notice the alert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05575" y="2533650"/>
            <a:ext cx="4867275" cy="6858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 marL="0" indent="0">
              <a:spcAft>
                <a:spcPts val="600"/>
              </a:spcAft>
              <a:defRPr sz="1650" b="0">
                <a:solidFill>
                  <a:srgbClr val="46534C"/>
                </a:solidFill>
                <a:latin typeface="Arial"/>
              </a:defRPr>
              <a:buNone/>
            </a:pPr>
            <a:r>
              <a:t>NIVRA highlights a pattern worth checking.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5575" y="3276600"/>
            <a:ext cx="4867275" cy="36195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 marL="0" indent="0">
              <a:spcAft>
                <a:spcPts val="600"/>
              </a:spcAft>
              <a:defRPr sz="1950" b="1">
                <a:solidFill>
                  <a:srgbClr val="14251D"/>
                </a:solidFill>
                <a:latin typeface="Arial"/>
              </a:defRPr>
              <a:buNone/>
            </a:pPr>
            <a:r>
              <a:t>02 / Look at the scene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05575" y="3686175"/>
            <a:ext cx="4867275" cy="6858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 marL="0" indent="0">
              <a:spcAft>
                <a:spcPts val="600"/>
              </a:spcAft>
              <a:defRPr sz="1650" b="0">
                <a:solidFill>
                  <a:srgbClr val="46534C"/>
                </a:solidFill>
                <a:latin typeface="Arial"/>
              </a:defRPr>
              <a:buNone/>
            </a:pPr>
            <a:r>
              <a:t>Staff assess what is actually happening.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05575" y="4429125"/>
            <a:ext cx="4867275" cy="36195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 marL="0" indent="0">
              <a:spcAft>
                <a:spcPts val="600"/>
              </a:spcAft>
              <a:defRPr sz="1950" b="1">
                <a:solidFill>
                  <a:srgbClr val="14251D"/>
                </a:solidFill>
                <a:latin typeface="Arial"/>
              </a:defRPr>
              <a:buNone/>
            </a:pPr>
            <a:r>
              <a:t>03 / Decide what to do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05575" y="4838700"/>
            <a:ext cx="4867275" cy="6858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 marL="0" indent="0">
              <a:spcAft>
                <a:spcPts val="600"/>
              </a:spcAft>
              <a:defRPr sz="1650" b="0">
                <a:solidFill>
                  <a:srgbClr val="46534C"/>
                </a:solidFill>
                <a:latin typeface="Arial"/>
              </a:defRPr>
              <a:buNone/>
            </a:pPr>
            <a:r>
              <a:t>Dismiss it, keep watching, or arrange help.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1500" y="6200775"/>
            <a:ext cx="10763250" cy="2667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noAutofit/>
          </a:bodyPr>
          <a:lstStyle/>
          <a:p>
            <a:pPr marL="0" indent="0" algn="l" lvl="0">
              <a:lnSpc>
                <a:spcPct val="110000"/>
              </a:lnSpc>
              <a:spcAft>
                <a:spcPts val="600"/>
              </a:spcAft>
              <a:buNone/>
              <a:defRPr sz="1125" b="0" i="0">
                <a:solidFill>
                  <a:srgbClr val="46534C"/>
                </a:solidFill>
                <a:latin typeface="Arial"/>
                <a:ea typeface="Arial"/>
                <a:cs typeface="Arial"/>
              </a:defRPr>
            </a:pPr>
            <a:r>
              <a:t>Experimental motion rules; sports, play, occlusion and camera angle can produce errors.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1375" y="6524625"/>
            <a:ext cx="714375" cy="238125"/>
          </a:xfrm>
          <a:prstGeom prst="rect">
            <a:avLst/>
          </a:prstGeom>
          <a:noFill/>
        </p:spPr>
        <p:txBody>
          <a:bodyPr wrap="square" lIns="38100" rIns="38100" tIns="19050" bIns="19050" anchor="t">
            <a:noAutofit/>
          </a:bodyPr>
          <a:lstStyle/>
          <a:p>
            <a:pPr marL="0" indent="0" algn="r" lvl="0">
              <a:lnSpc>
                <a:spcPct val="110000"/>
              </a:lnSpc>
              <a:spcAft>
                <a:spcPts val="600"/>
              </a:spcAft>
              <a:buNone/>
              <a:defRPr sz="975" b="0" i="0">
                <a:solidFill>
                  <a:srgbClr val="222760"/>
                </a:solidFill>
                <a:latin typeface="Arial"/>
                <a:ea typeface="Arial"/>
                <a:cs typeface="Arial"/>
              </a:defRPr>
            </a:pPr>
            <a:r>
              <a:t>03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>
            <a:extLst>
              <a:ext uri="{FF2B5EF4-FFF2-40B4-BE49-F238E27FC236}">
                <a16:creationId xmlns:a16="http://schemas.microsoft.com/office/drawing/2014/main" id="{B482144C-71A3-2785-0B18-2B270F3401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5185" y="405322"/>
            <a:ext cx="592202" cy="510753"/>
          </a:xfrm>
          <a:prstGeom prst="rect">
            <a:avLst/>
          </a:prstGeom>
        </p:spPr>
      </p:pic>
      <p:sp>
        <p:nvSpPr>
          <p:cNvPr id="8" name="Text 2">
            <a:extLst>
              <a:ext uri="{FF2B5EF4-FFF2-40B4-BE49-F238E27FC236}">
                <a16:creationId xmlns:a16="http://schemas.microsoft.com/office/drawing/2014/main" id="{65E2676B-6F83-FFD7-2D82-348EE889C2E4}"/>
              </a:ext>
            </a:extLst>
          </p:cNvPr>
          <p:cNvSpPr/>
          <p:nvPr/>
        </p:nvSpPr>
        <p:spPr>
          <a:xfrm>
            <a:off x="552450" y="457200"/>
            <a:ext cx="10382250" cy="60960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>
            <a:noAutofit/>
          </a:bodyPr>
          <a:lstStyle/>
          <a:p>
            <a:pPr marL="0" indent="0" algn="l" lvl="0">
              <a:lnSpc>
                <a:spcPct val="110000"/>
              </a:lnSpc>
              <a:spcAft>
                <a:spcPts val="600"/>
              </a:spcAft>
              <a:buNone/>
              <a:defRPr sz="2850" b="1" i="0">
                <a:solidFill>
                  <a:srgbClr val="222760"/>
                </a:solidFill>
                <a:latin typeface="Georgia"/>
                <a:ea typeface="Georgia"/>
                <a:cs typeface="Georgia"/>
              </a:defRPr>
            </a:pPr>
            <a:r>
              <a:t>Technical Approach | Demo</a:t>
            </a:r>
            <a:endParaRPr lang="en-US" sz="2850" dirty="0" b="1" i="0">
              <a:solidFill>
                <a:srgbClr val="222760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5D12F776-09C3-0FCA-E8E7-C78191D9CE0C}"/>
              </a:ext>
            </a:extLst>
          </p:cNvPr>
          <p:cNvSpPr/>
          <p:nvPr/>
        </p:nvSpPr>
        <p:spPr>
          <a:xfrm>
            <a:off x="457200" y="1325880"/>
            <a:ext cx="4160520" cy="470916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1587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3C22CF0B-06CE-B2D4-7B65-FF0182359EDF}"/>
              </a:ext>
            </a:extLst>
          </p:cNvPr>
          <p:cNvSpPr/>
          <p:nvPr/>
        </p:nvSpPr>
        <p:spPr>
          <a:xfrm>
            <a:off x="4937760" y="1325880"/>
            <a:ext cx="6793992" cy="32004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>
              <a:spcAft>
                <a:spcPts val="600"/>
              </a:spcAft>
              <a:defRPr sz="1500" b="1">
                <a:solidFill>
                  <a:srgbClr val="14251D"/>
                </a:solidFill>
                <a:latin typeface="Arial"/>
              </a:defRPr>
              <a:buNone/>
            </a:pPr>
            <a:r>
              <a:t>CURRENT LAB AND NEXT STEPS</a:t>
            </a:r>
            <a:endParaRPr lang="en-US" sz="1400" dirty="0"/>
          </a:p>
        </p:txBody>
      </p:sp>
      <p:sp>
        <p:nvSpPr>
          <p:cNvPr id="24" name="Shape 9">
            <a:extLst>
              <a:ext uri="{FF2B5EF4-FFF2-40B4-BE49-F238E27FC236}">
                <a16:creationId xmlns:a16="http://schemas.microsoft.com/office/drawing/2014/main" id="{B8551020-AB1A-3707-B537-05FBB9093EBC}"/>
              </a:ext>
            </a:extLst>
          </p:cNvPr>
          <p:cNvSpPr/>
          <p:nvPr/>
        </p:nvSpPr>
        <p:spPr>
          <a:xfrm>
            <a:off x="4937760" y="1737360"/>
            <a:ext cx="6793992" cy="4297680"/>
          </a:xfrm>
          <a:prstGeom prst="roundRect">
            <a:avLst>
              <a:gd name="adj" fmla="val 1277"/>
            </a:avLst>
          </a:prstGeom>
          <a:solidFill>
            <a:srgbClr val="F7F5FB"/>
          </a:solidFill>
          <a:ln w="12700">
            <a:solidFill>
              <a:srgbClr val="D9D3E8"/>
            </a:solidFill>
            <a:prstDash val="solid"/>
          </a:ln>
        </p:spPr>
        <p:txBody>
          <a:bodyPr/>
          <a:lstStyle/>
          <a:p>
            <a:endParaRPr lang="en-IN" dirty="0">
              <a:highlight>
                <a:srgbClr val="FFFF00"/>
              </a:highlight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85800" y="1562100"/>
            <a:ext cx="3714750" cy="409575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 marL="0" indent="0">
              <a:spcAft>
                <a:spcPts val="600"/>
              </a:spcAft>
              <a:defRPr sz="2025" b="1">
                <a:solidFill>
                  <a:srgbClr val="14251D"/>
                </a:solidFill>
                <a:latin typeface="Arial"/>
              </a:defRPr>
              <a:buNone/>
            </a:pPr>
            <a:r>
              <a:t>Try the current lab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2200275"/>
            <a:ext cx="3686175" cy="2333625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 marL="0" indent="0">
              <a:spcAft>
                <a:spcPts val="600"/>
              </a:spcAft>
              <a:defRPr sz="1800" b="0">
                <a:solidFill>
                  <a:srgbClr val="46534C"/>
                </a:solidFill>
                <a:latin typeface="Arial"/>
              </a:defRPr>
              <a:buNone/>
            </a:pPr>
            <a:r>
              <a:t>1. Choose camera, video or test scenario.</a:t>
            </a:r>
          </a:p>
          <a:p>
            <a:pPr marL="0" indent="0">
              <a:spcAft>
                <a:spcPts val="600"/>
              </a:spcAft>
              <a:defRPr sz="1800" b="0">
                <a:solidFill>
                  <a:srgbClr val="46534C"/>
                </a:solidFill>
                <a:latin typeface="Arial"/>
              </a:defRPr>
              <a:buNone/>
            </a:pPr>
            <a:r>
              <a:t>2. Inspect skeletons and review reasons.</a:t>
            </a:r>
          </a:p>
          <a:p>
            <a:pPr marL="0" indent="0">
              <a:spcAft>
                <a:spcPts val="600"/>
              </a:spcAft>
              <a:defRPr sz="1800" b="0">
                <a:solidFill>
                  <a:srgbClr val="46534C"/>
                </a:solidFill>
                <a:latin typeface="Arial"/>
              </a:defRPr>
              <a:buNone/>
            </a:pPr>
            <a:r>
              <a:t>3. Acknowledge alerts; pause, replay or stop.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4819650"/>
            <a:ext cx="3619500" cy="43815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 marL="0" indent="0">
              <a:spcAft>
                <a:spcPts val="600"/>
              </a:spcAft>
              <a:defRPr sz="2250" b="1">
                <a:solidFill>
                  <a:srgbClr val="14251D"/>
                </a:solidFill>
                <a:latin typeface="Arial"/>
              </a:defRPr>
              <a:buNone/>
            </a:pPr>
            <a:r>
              <a:t>211 tests passed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314950"/>
            <a:ext cx="3667125" cy="5715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 marL="0" indent="0">
              <a:spcAft>
                <a:spcPts val="600"/>
              </a:spcAft>
              <a:defRPr sz="1500" b="0">
                <a:solidFill>
                  <a:srgbClr val="46534C"/>
                </a:solidFill>
                <a:latin typeface="Arial"/>
              </a:defRPr>
              <a:buNone/>
            </a:pPr>
            <a:r>
              <a:t>Lint and production build also passed during local verification.</a:t>
            </a:r>
          </a:p>
        </p:txBody>
      </p:sp>
      <p:pic>
        <p:nvPicPr>
          <p:cNvPr id="29" name="Picture 28" descr="operator-review-natural.png"/>
          <p:cNvPicPr>
            <a:picLocks noChangeAspect="1"/>
          </p:cNvPicPr>
          <p:nvPr/>
        </p:nvPicPr>
        <p:blipFill>
          <a:blip r:embed="rId3"/>
          <a:srcRect t="15147" b="15147"/>
          <a:stretch>
            <a:fillRect/>
          </a:stretch>
        </p:blipFill>
        <p:spPr>
          <a:xfrm>
            <a:off x="5219700" y="2038350"/>
            <a:ext cx="6191250" cy="220027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210175" y="4400550"/>
            <a:ext cx="6105525" cy="409575"/>
          </a:xfrm>
          <a:prstGeom prst="rect">
            <a:avLst/>
          </a:prstGeom>
          <a:noFill/>
        </p:spPr>
        <p:txBody>
          <a:bodyPr wrap="square" lIns="38100" rIns="38100" tIns="19050" bIns="19050" anchor="t">
            <a:noAutofit/>
          </a:bodyPr>
          <a:lstStyle/>
          <a:p>
            <a:pPr marL="0" indent="0" algn="l" lvl="0">
              <a:lnSpc>
                <a:spcPct val="110000"/>
              </a:lnSpc>
              <a:spcAft>
                <a:spcPts val="600"/>
              </a:spcAft>
              <a:buNone/>
              <a:defRPr sz="2025" b="1" i="0">
                <a:solidFill>
                  <a:srgbClr val="14251D"/>
                </a:solidFill>
                <a:latin typeface="Arial"/>
                <a:ea typeface="Arial"/>
                <a:cs typeface="Arial"/>
              </a:defRPr>
            </a:pPr>
            <a:r>
              <a:t>Proposed next: connected response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10175" y="4895850"/>
            <a:ext cx="6076950" cy="1000125"/>
          </a:xfrm>
          <a:prstGeom prst="rect">
            <a:avLst/>
          </a:prstGeom>
          <a:noFill/>
        </p:spPr>
        <p:txBody>
          <a:bodyPr wrap="square" lIns="38100" rIns="38100" tIns="19050" bIns="19050" anchor="t">
            <a:noAutofit/>
          </a:bodyPr>
          <a:lstStyle/>
          <a:p>
            <a:pPr marL="190500" indent="-190500" algn="l" lvl="0">
              <a:lnSpc>
                <a:spcPct val="110000"/>
              </a:lnSpc>
              <a:spcAft>
                <a:spcPts val="600"/>
              </a:spcAft>
              <a:buChar char="•"/>
              <a:defRPr sz="1650" b="0" i="0">
                <a:solidFill>
                  <a:srgbClr val="46534C"/>
                </a:solidFill>
                <a:latin typeface="Arial"/>
                <a:ea typeface="Arial"/>
                <a:cs typeface="Arial"/>
              </a:defRPr>
            </a:pPr>
            <a:r>
              <a:t>Connect cameras across a site</a:t>
            </a:r>
          </a:p>
          <a:p>
            <a:pPr marL="190500" indent="-190500" algn="l" lvl="0">
              <a:lnSpc>
                <a:spcPct val="110000"/>
              </a:lnSpc>
              <a:spcAft>
                <a:spcPts val="600"/>
              </a:spcAft>
              <a:buChar char="•"/>
              <a:defRPr sz="1650" b="0" i="0">
                <a:solidFill>
                  <a:srgbClr val="46534C"/>
                </a:solidFill>
                <a:latin typeface="Arial"/>
                <a:ea typeface="Arial"/>
                <a:cs typeface="Arial"/>
              </a:defRPr>
            </a:pPr>
            <a:r>
              <a:t>Replay the previous 8 seconds</a:t>
            </a:r>
          </a:p>
          <a:p>
            <a:pPr marL="190500" indent="-190500" algn="l" lvl="0">
              <a:lnSpc>
                <a:spcPct val="110000"/>
              </a:lnSpc>
              <a:spcAft>
                <a:spcPts val="600"/>
              </a:spcAft>
              <a:buChar char="•"/>
              <a:defRPr sz="1650" b="0" i="0">
                <a:solidFill>
                  <a:srgbClr val="46534C"/>
                </a:solidFill>
                <a:latin typeface="Arial"/>
                <a:ea typeface="Arial"/>
                <a:cs typeface="Arial"/>
              </a:defRPr>
            </a:pPr>
            <a:r>
              <a:t>Help staff contact an available responder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1500" y="6200775"/>
            <a:ext cx="10763250" cy="2667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noAutofit/>
          </a:bodyPr>
          <a:lstStyle/>
          <a:p>
            <a:pPr marL="0" indent="0" algn="l" lvl="0">
              <a:lnSpc>
                <a:spcPct val="110000"/>
              </a:lnSpc>
              <a:spcAft>
                <a:spcPts val="600"/>
              </a:spcAft>
              <a:buNone/>
              <a:defRPr sz="1125" b="0" i="0">
                <a:solidFill>
                  <a:srgbClr val="46534C"/>
                </a:solidFill>
                <a:latin typeface="Arial"/>
                <a:ea typeface="Arial"/>
                <a:cs typeface="Arial"/>
              </a:defRPr>
            </a:pPr>
            <a:r>
              <a:t>Planned features, not current capabilities. Generated illustration; current app uses an 8-second alert cooldown.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01375" y="6524625"/>
            <a:ext cx="714375" cy="238125"/>
          </a:xfrm>
          <a:prstGeom prst="rect">
            <a:avLst/>
          </a:prstGeom>
          <a:noFill/>
        </p:spPr>
        <p:txBody>
          <a:bodyPr wrap="square" lIns="38100" rIns="38100" tIns="19050" bIns="19050" anchor="t">
            <a:noAutofit/>
          </a:bodyPr>
          <a:lstStyle/>
          <a:p>
            <a:pPr marL="0" indent="0" algn="r" lvl="0">
              <a:lnSpc>
                <a:spcPct val="110000"/>
              </a:lnSpc>
              <a:spcAft>
                <a:spcPts val="600"/>
              </a:spcAft>
              <a:buNone/>
              <a:defRPr sz="975" b="0" i="0">
                <a:solidFill>
                  <a:srgbClr val="222760"/>
                </a:solidFill>
                <a:latin typeface="Arial"/>
                <a:ea typeface="Arial"/>
                <a:cs typeface="Arial"/>
              </a:defRPr>
            </a:pPr>
            <a:r>
              <a:t>05 /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>
            <a:extLst>
              <a:ext uri="{FF2B5EF4-FFF2-40B4-BE49-F238E27FC236}">
                <a16:creationId xmlns:a16="http://schemas.microsoft.com/office/drawing/2014/main" id="{57C0764E-4A66-6153-62BB-5CBC489FDD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5185" y="405322"/>
            <a:ext cx="592202" cy="510753"/>
          </a:xfrm>
          <a:prstGeom prst="rect">
            <a:avLst/>
          </a:prstGeom>
        </p:spPr>
      </p:pic>
      <p:sp>
        <p:nvSpPr>
          <p:cNvPr id="5" name="Text 1">
            <a:extLst>
              <a:ext uri="{FF2B5EF4-FFF2-40B4-BE49-F238E27FC236}">
                <a16:creationId xmlns:a16="http://schemas.microsoft.com/office/drawing/2014/main" id="{DAEDAEAA-8FA0-3224-6C7C-26B21FF98B2E}"/>
              </a:ext>
            </a:extLst>
          </p:cNvPr>
          <p:cNvSpPr/>
          <p:nvPr/>
        </p:nvSpPr>
        <p:spPr>
          <a:xfrm>
            <a:off x="552450" y="457200"/>
            <a:ext cx="10382250" cy="60960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>
            <a:noAutofit/>
          </a:bodyPr>
          <a:lstStyle/>
          <a:p>
            <a:pPr marL="0" indent="0" algn="l" lvl="0">
              <a:lnSpc>
                <a:spcPct val="110000"/>
              </a:lnSpc>
              <a:spcAft>
                <a:spcPts val="600"/>
              </a:spcAft>
              <a:buNone/>
              <a:defRPr sz="2850" b="1" i="0">
                <a:solidFill>
                  <a:srgbClr val="222760"/>
                </a:solidFill>
                <a:latin typeface="Georgia"/>
                <a:ea typeface="Georgia"/>
                <a:cs typeface="Georgia"/>
              </a:defRPr>
            </a:pPr>
            <a:r>
              <a:t>Impact and Benefits | Why it matters</a:t>
            </a:r>
            <a:endParaRPr lang="en-US" sz="2850" dirty="0" b="1" i="0">
              <a:solidFill>
                <a:srgbClr val="222760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E3185866-11F6-824C-9FCC-1D023AE9C71E}"/>
              </a:ext>
            </a:extLst>
          </p:cNvPr>
          <p:cNvSpPr/>
          <p:nvPr/>
        </p:nvSpPr>
        <p:spPr>
          <a:xfrm>
            <a:off x="548640" y="160020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3">
            <a:extLst>
              <a:ext uri="{FF2B5EF4-FFF2-40B4-BE49-F238E27FC236}">
                <a16:creationId xmlns:a16="http://schemas.microsoft.com/office/drawing/2014/main" id="{5DC2B347-E581-38C0-5508-F51306B2545A}"/>
              </a:ext>
            </a:extLst>
          </p:cNvPr>
          <p:cNvSpPr/>
          <p:nvPr/>
        </p:nvSpPr>
        <p:spPr>
          <a:xfrm>
            <a:off x="548640" y="1600200"/>
            <a:ext cx="3383280" cy="502920"/>
          </a:xfrm>
          <a:prstGeom prst="rect">
            <a:avLst/>
          </a:prstGeom>
          <a:solidFill>
            <a:srgbClr val="14251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CA7DC4D3-6F9B-9B82-BF78-8D444223657C}"/>
              </a:ext>
            </a:extLst>
          </p:cNvPr>
          <p:cNvSpPr/>
          <p:nvPr/>
        </p:nvSpPr>
        <p:spPr>
          <a:xfrm>
            <a:off x="548640" y="1600200"/>
            <a:ext cx="3383280" cy="50292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 algn="ctr">
              <a:spcAft>
                <a:spcPts val="600"/>
              </a:spcAft>
              <a:defRPr sz="2250" b="1">
                <a:solidFill>
                  <a:srgbClr val="FFFFFF"/>
                </a:solidFill>
                <a:latin typeface="Arial"/>
              </a:defRPr>
              <a:buNone/>
            </a:pPr>
            <a:r>
              <a:t>4.4 million</a:t>
            </a:r>
            <a:endParaRPr lang="en-US" sz="1300" dirty="0"/>
          </a:p>
        </p:txBody>
      </p:sp>
      <p:sp>
        <p:nvSpPr>
          <p:cNvPr id="18" name="Text 5">
            <a:extLst>
              <a:ext uri="{FF2B5EF4-FFF2-40B4-BE49-F238E27FC236}">
                <a16:creationId xmlns:a16="http://schemas.microsoft.com/office/drawing/2014/main" id="{3D5ED718-9ACA-393D-7381-2BAE9FB80ABB}"/>
              </a:ext>
            </a:extLst>
          </p:cNvPr>
          <p:cNvSpPr/>
          <p:nvPr/>
        </p:nvSpPr>
        <p:spPr>
          <a:xfrm>
            <a:off x="822960" y="2286000"/>
            <a:ext cx="2834640" cy="137160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>
              <a:lnSpc>
                <a:spcPct val="115000"/>
              </a:lnSpc>
              <a:spcAft>
                <a:spcPts val="600"/>
              </a:spcAft>
              <a:defRPr sz="1500" b="0">
                <a:solidFill>
                  <a:srgbClr val="46534C"/>
                </a:solidFill>
                <a:latin typeface="Arial"/>
              </a:defRPr>
              <a:buNone/>
            </a:pPr>
            <a:r>
              <a:t>Global injury-related deaths in 2019, including unintentional injuries.</a:t>
            </a:r>
            <a:endParaRPr lang="en-US" sz="1200" dirty="0"/>
          </a:p>
        </p:txBody>
      </p:sp>
      <p:sp>
        <p:nvSpPr>
          <p:cNvPr id="21" name="Shape 6">
            <a:extLst>
              <a:ext uri="{FF2B5EF4-FFF2-40B4-BE49-F238E27FC236}">
                <a16:creationId xmlns:a16="http://schemas.microsoft.com/office/drawing/2014/main" id="{710857C3-79A8-CA18-6262-1EE7C172509F}"/>
              </a:ext>
            </a:extLst>
          </p:cNvPr>
          <p:cNvSpPr/>
          <p:nvPr/>
        </p:nvSpPr>
        <p:spPr>
          <a:xfrm>
            <a:off x="4251960" y="160020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7">
            <a:extLst>
              <a:ext uri="{FF2B5EF4-FFF2-40B4-BE49-F238E27FC236}">
                <a16:creationId xmlns:a16="http://schemas.microsoft.com/office/drawing/2014/main" id="{C19EFA0D-3406-DE44-6475-EB9DBF77D709}"/>
              </a:ext>
            </a:extLst>
          </p:cNvPr>
          <p:cNvSpPr/>
          <p:nvPr/>
        </p:nvSpPr>
        <p:spPr>
          <a:xfrm>
            <a:off x="4251960" y="1600200"/>
            <a:ext cx="3383280" cy="502920"/>
          </a:xfrm>
          <a:prstGeom prst="rect">
            <a:avLst/>
          </a:prstGeom>
          <a:solidFill>
            <a:srgbClr val="14251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0E4588E4-6BC5-246B-EF41-78377AE24A3D}"/>
              </a:ext>
            </a:extLst>
          </p:cNvPr>
          <p:cNvSpPr/>
          <p:nvPr/>
        </p:nvSpPr>
        <p:spPr>
          <a:xfrm>
            <a:off x="4251960" y="1600200"/>
            <a:ext cx="3383280" cy="50292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 algn="ctr">
              <a:spcAft>
                <a:spcPts val="600"/>
              </a:spcAft>
              <a:defRPr sz="2250" b="1">
                <a:solidFill>
                  <a:srgbClr val="FFFFFF"/>
                </a:solidFill>
                <a:latin typeface="Arial"/>
              </a:defRPr>
              <a:buNone/>
            </a:pPr>
            <a:r>
              <a:t>1.25 million</a:t>
            </a:r>
            <a:endParaRPr lang="en-US" sz="1300" dirty="0"/>
          </a:p>
        </p:txBody>
      </p:sp>
      <p:sp>
        <p:nvSpPr>
          <p:cNvPr id="30" name="Text 9">
            <a:extLst>
              <a:ext uri="{FF2B5EF4-FFF2-40B4-BE49-F238E27FC236}">
                <a16:creationId xmlns:a16="http://schemas.microsoft.com/office/drawing/2014/main" id="{61D796A0-51AE-8FC4-ED52-7C7412EB4B6F}"/>
              </a:ext>
            </a:extLst>
          </p:cNvPr>
          <p:cNvSpPr/>
          <p:nvPr/>
        </p:nvSpPr>
        <p:spPr>
          <a:xfrm>
            <a:off x="4526280" y="2286000"/>
            <a:ext cx="2834640" cy="137160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>
              <a:lnSpc>
                <a:spcPct val="115000"/>
              </a:lnSpc>
              <a:spcAft>
                <a:spcPts val="600"/>
              </a:spcAft>
              <a:defRPr sz="1500" b="0">
                <a:solidFill>
                  <a:srgbClr val="46534C"/>
                </a:solidFill>
                <a:latin typeface="Arial"/>
              </a:defRPr>
              <a:buNone/>
            </a:pPr>
            <a:r>
              <a:t>Violence-related injury deaths in 2019, including self-harm and conflict.</a:t>
            </a:r>
            <a:endParaRPr lang="en-US" sz="1200" dirty="0"/>
          </a:p>
        </p:txBody>
      </p:sp>
      <p:sp>
        <p:nvSpPr>
          <p:cNvPr id="32" name="Shape 10">
            <a:extLst>
              <a:ext uri="{FF2B5EF4-FFF2-40B4-BE49-F238E27FC236}">
                <a16:creationId xmlns:a16="http://schemas.microsoft.com/office/drawing/2014/main" id="{7783ED2F-548C-A7AC-7DFA-72F1CFA43077}"/>
              </a:ext>
            </a:extLst>
          </p:cNvPr>
          <p:cNvSpPr/>
          <p:nvPr/>
        </p:nvSpPr>
        <p:spPr>
          <a:xfrm>
            <a:off x="7955280" y="160020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Shape 11">
            <a:extLst>
              <a:ext uri="{FF2B5EF4-FFF2-40B4-BE49-F238E27FC236}">
                <a16:creationId xmlns:a16="http://schemas.microsoft.com/office/drawing/2014/main" id="{BD14AC99-0775-98A8-13E4-172861EE28E4}"/>
              </a:ext>
            </a:extLst>
          </p:cNvPr>
          <p:cNvSpPr/>
          <p:nvPr/>
        </p:nvSpPr>
        <p:spPr>
          <a:xfrm>
            <a:off x="7955280" y="1600200"/>
            <a:ext cx="3383280" cy="502920"/>
          </a:xfrm>
          <a:prstGeom prst="rect">
            <a:avLst/>
          </a:prstGeom>
          <a:solidFill>
            <a:srgbClr val="14251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12">
            <a:extLst>
              <a:ext uri="{FF2B5EF4-FFF2-40B4-BE49-F238E27FC236}">
                <a16:creationId xmlns:a16="http://schemas.microsoft.com/office/drawing/2014/main" id="{DAAC04C4-1292-8F43-9FE5-1E152752B6E3}"/>
              </a:ext>
            </a:extLst>
          </p:cNvPr>
          <p:cNvSpPr/>
          <p:nvPr/>
        </p:nvSpPr>
        <p:spPr>
          <a:xfrm>
            <a:off x="7955280" y="1600200"/>
            <a:ext cx="3383280" cy="50292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 algn="ctr">
              <a:spcAft>
                <a:spcPts val="600"/>
              </a:spcAft>
              <a:defRPr sz="2250" b="1">
                <a:solidFill>
                  <a:srgbClr val="FFFFFF"/>
                </a:solidFill>
                <a:latin typeface="Arial"/>
              </a:defRPr>
              <a:buNone/>
            </a:pPr>
            <a:r>
              <a:t>~12,000 / day</a:t>
            </a:r>
            <a:endParaRPr lang="en-US" sz="1300" dirty="0"/>
          </a:p>
        </p:txBody>
      </p:sp>
      <p:sp>
        <p:nvSpPr>
          <p:cNvPr id="38" name="Text 13">
            <a:extLst>
              <a:ext uri="{FF2B5EF4-FFF2-40B4-BE49-F238E27FC236}">
                <a16:creationId xmlns:a16="http://schemas.microsoft.com/office/drawing/2014/main" id="{462E7A75-A4E9-3179-B351-AC44349DB9CF}"/>
              </a:ext>
            </a:extLst>
          </p:cNvPr>
          <p:cNvSpPr/>
          <p:nvPr/>
        </p:nvSpPr>
        <p:spPr>
          <a:xfrm>
            <a:off x="8229600" y="2286000"/>
            <a:ext cx="2834640" cy="137160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>
              <a:lnSpc>
                <a:spcPct val="115000"/>
              </a:lnSpc>
              <a:spcAft>
                <a:spcPts val="600"/>
              </a:spcAft>
              <a:defRPr sz="1500" b="0">
                <a:solidFill>
                  <a:srgbClr val="46534C"/>
                </a:solidFill>
                <a:latin typeface="Arial"/>
              </a:defRPr>
              <a:buNone/>
            </a:pPr>
            <a:r>
              <a:t>Approximate daily equivalent of 4.4 million. Not a count of public fights.</a:t>
            </a:r>
            <a:endParaRPr lang="en-US" sz="1200" dirty="0"/>
          </a:p>
        </p:txBody>
      </p:sp>
      <p:sp>
        <p:nvSpPr>
          <p:cNvPr id="40" name="Text 14">
            <a:extLst>
              <a:ext uri="{FF2B5EF4-FFF2-40B4-BE49-F238E27FC236}">
                <a16:creationId xmlns:a16="http://schemas.microsoft.com/office/drawing/2014/main" id="{0E44F278-2528-5628-6C49-FD8711391855}"/>
              </a:ext>
            </a:extLst>
          </p:cNvPr>
          <p:cNvSpPr/>
          <p:nvPr/>
        </p:nvSpPr>
        <p:spPr>
          <a:xfrm>
            <a:off x="548640" y="4160520"/>
            <a:ext cx="10515600" cy="32004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>
              <a:spcAft>
                <a:spcPts val="600"/>
              </a:spcAft>
              <a:defRPr sz="1500" b="1">
                <a:solidFill>
                  <a:srgbClr val="14251D"/>
                </a:solidFill>
                <a:latin typeface="Arial"/>
              </a:defRPr>
              <a:buNone/>
            </a:pPr>
            <a:r>
              <a:t>WHAT THESE FIGURES MEAN FOR NIVRA</a:t>
            </a:r>
            <a:endParaRPr lang="en-US" sz="1300" dirty="0"/>
          </a:p>
        </p:txBody>
      </p:sp>
      <p:sp>
        <p:nvSpPr>
          <p:cNvPr id="42" name="Text 15">
            <a:extLst>
              <a:ext uri="{FF2B5EF4-FFF2-40B4-BE49-F238E27FC236}">
                <a16:creationId xmlns:a16="http://schemas.microsoft.com/office/drawing/2014/main" id="{1A3A24E7-A066-0567-3F0D-558B41D4B2F7}"/>
              </a:ext>
            </a:extLst>
          </p:cNvPr>
          <p:cNvSpPr/>
          <p:nvPr/>
        </p:nvSpPr>
        <p:spPr>
          <a:xfrm>
            <a:off x="548640" y="4526280"/>
            <a:ext cx="10515600" cy="164592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>
            <a:noAutofit/>
          </a:bodyPr>
          <a:lstStyle/>
          <a:p>
            <a:pPr marL="190500" indent="-190500" algn="l" lvl="0">
              <a:lnSpc>
                <a:spcPct val="110000"/>
              </a:lnSpc>
              <a:spcAft>
                <a:spcPts val="600"/>
              </a:spcAft>
              <a:buChar char="•"/>
              <a:defRPr sz="1650" b="0" i="0">
                <a:solidFill>
                  <a:srgbClr val="46534C"/>
                </a:solidFill>
                <a:latin typeface="Arial"/>
                <a:ea typeface="Arial"/>
                <a:cs typeface="Arial"/>
              </a:defRPr>
            </a:pPr>
            <a:r>
              <a:t>Our focus is narrower: help staff notice a developing incident sooner.</a:t>
            </a:r>
            <a:endParaRPr lang="en-US" sz="1650" dirty="0" b="0" i="0">
              <a:solidFill>
                <a:srgbClr val="46534C"/>
              </a:solidFill>
              <a:latin typeface="Arial"/>
              <a:ea typeface="Arial"/>
              <a:cs typeface="Arial"/>
            </a:endParaRPr>
          </a:p>
          <a:p>
            <a:pPr marL="190500" indent="-190500" algn="l" lvl="0">
              <a:lnSpc>
                <a:spcPct val="110000"/>
              </a:lnSpc>
              <a:spcAft>
                <a:spcPts val="600"/>
              </a:spcAft>
              <a:buChar char="•"/>
              <a:defRPr sz="1650" b="0" i="0">
                <a:solidFill>
                  <a:srgbClr val="46534C"/>
                </a:solidFill>
                <a:latin typeface="Arial"/>
                <a:ea typeface="Arial"/>
                <a:cs typeface="Arial"/>
              </a:defRPr>
            </a:pPr>
            <a:r>
              <a:t>Test whether alerts are useful, timely and easy to review.</a:t>
            </a:r>
          </a:p>
          <a:p>
            <a:pPr marL="190500" indent="-190500" algn="l" lvl="0">
              <a:lnSpc>
                <a:spcPct val="110000"/>
              </a:lnSpc>
              <a:spcAft>
                <a:spcPts val="600"/>
              </a:spcAft>
              <a:buChar char="•"/>
              <a:defRPr sz="1650" b="0" i="0">
                <a:solidFill>
                  <a:srgbClr val="46534C"/>
                </a:solidFill>
                <a:latin typeface="Arial"/>
                <a:ea typeface="Arial"/>
                <a:cs typeface="Arial"/>
              </a:defRPr>
            </a:pPr>
            <a:r>
              <a:t>These global figures describe the problem; they do not prove NIVRA works.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1500" y="6200775"/>
            <a:ext cx="10763250" cy="2667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noAutofit/>
          </a:bodyPr>
          <a:lstStyle/>
          <a:p>
            <a:pPr marL="0" indent="0" algn="l" lvl="0">
              <a:lnSpc>
                <a:spcPct val="110000"/>
              </a:lnSpc>
              <a:spcAft>
                <a:spcPts val="600"/>
              </a:spcAft>
              <a:buNone/>
              <a:defRPr sz="1125" b="0" i="0">
                <a:solidFill>
                  <a:srgbClr val="46534C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hlinkClick r:id="rId3"/>
                <a:solidFill>
                  <a:srgbClr val="46534C"/>
                </a:solidFill>
                <a:latin typeface="Arial"/>
                <a:ea typeface="Arial"/>
                <a:cs typeface="Arial"/>
              </a:rPr>
              <a:t>Source: WHO, Preventing injuries and violence (2022), 2019 estimates.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001375" y="6524625"/>
            <a:ext cx="714375" cy="238125"/>
          </a:xfrm>
          <a:prstGeom prst="rect">
            <a:avLst/>
          </a:prstGeom>
          <a:noFill/>
        </p:spPr>
        <p:txBody>
          <a:bodyPr wrap="square" lIns="38100" rIns="38100" tIns="19050" bIns="19050" anchor="t">
            <a:noAutofit/>
          </a:bodyPr>
          <a:lstStyle/>
          <a:p>
            <a:pPr marL="0" indent="0" algn="r" lvl="0">
              <a:lnSpc>
                <a:spcPct val="110000"/>
              </a:lnSpc>
              <a:spcAft>
                <a:spcPts val="600"/>
              </a:spcAft>
              <a:buNone/>
              <a:defRPr sz="975" b="0" i="0">
                <a:solidFill>
                  <a:srgbClr val="222760"/>
                </a:solidFill>
                <a:latin typeface="Arial"/>
                <a:ea typeface="Arial"/>
                <a:cs typeface="Arial"/>
              </a:defRPr>
            </a:pPr>
            <a:r>
              <a:t>08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645</Words>
  <Application>Microsoft Office PowerPoint</Application>
  <PresentationFormat>Widescreen</PresentationFormat>
  <Paragraphs>122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Arial</vt:lpstr>
      <vt:lpstr>Calibri</vt:lpstr>
      <vt:lpstr>Cambria</vt:lpstr>
      <vt:lpstr>Franklin Gothic</vt:lpstr>
      <vt:lpstr>Garamond</vt:lpstr>
      <vt:lpstr>Libre Franklin</vt:lpstr>
      <vt:lpstr>Noto Sans Symbols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Team Member Details </vt:lpstr>
      <vt:lpstr>Important Pointers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CES 4</cp:lastModifiedBy>
  <cp:revision>6</cp:revision>
  <dcterms:created xsi:type="dcterms:W3CDTF">2026-08-17T04:57:11Z</dcterms:created>
  <dcterms:modified xsi:type="dcterms:W3CDTF">2026-08-19T09:42:38Z</dcterms:modified>
</cp:coreProperties>
</file>