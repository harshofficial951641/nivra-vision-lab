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71" r:id="rId4"/>
    <p:sldId id="267" r:id="rId5"/>
    <p:sldId id="272" r:id="rId6"/>
    <p:sldId id="268" r:id="rId7"/>
    <p:sldId id="269" r:id="rId8"/>
    <p:sldId id="273" r:id="rId9"/>
    <p:sldId id="270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D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02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AD0AA497-1EE7-F68D-66FB-F8756BE2B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C453ED9B-995C-6843-B0C9-B3FF94FAE4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Team leader is taken as Harsh Jain, the first listed student and requester. Category 2 is inferred from the supplied Class 10 example and the Class 12 team. School prefix PP follows the Pitampura unit naming used in student email addresses; verify portal conventions before submission.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770BF2B7-2E56-C99A-7196-13F19BC112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6360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FA5E0C8F-2206-51F1-0695-98AC23FD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330C7AD0-B8EF-3BDE-5738-FD82CFE98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Verified from VisionWorkerClient.ts: exactly two workers, pose and object, not three. Object analysis lower-frequency CPU. Browser app is statically hosted with Sites. No FastAPI or WebSocket responder backend exists in this repository.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0E11A6CF-2552-132E-B1AC-AC1B179C03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6686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6DAD231F-1DC0-9515-E1B5-D7CCF6D13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CB7DE707-8FD8-12BB-AA35-20D2291B4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Privacy boundary follows repo. Future trials require suitable permissions and review of applicable child-data rules. No compliance certification or proven safety outcome is claimed.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861050B9-84D2-944C-3F44-9842BDB72B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6102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39E0E29C-D5BC-44CC-1199-60754AFDF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>
            <a:extLst>
              <a:ext uri="{FF2B5EF4-FFF2-40B4-BE49-F238E27FC236}">
                <a16:creationId xmlns:a16="http://schemas.microsoft.com/office/drawing/2014/main" id="{D26FF8F9-AD59-07B9-E00F-B1BCFD985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Benefits are intended outcomes. Measure missed events, false alerts, review latency and usability. Earlier attention and reduced harm have not been measured in a deployment.</a:t>
            </a:r>
          </a:p>
        </p:txBody>
      </p:sp>
      <p:sp>
        <p:nvSpPr>
          <p:cNvPr id="241" name="Google Shape;241;p5:notes">
            <a:extLst>
              <a:ext uri="{FF2B5EF4-FFF2-40B4-BE49-F238E27FC236}">
                <a16:creationId xmlns:a16="http://schemas.microsoft.com/office/drawing/2014/main" id="{D3DEEBED-6F7F-7E3D-C075-829D1842A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6740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Additional reference: https://www.meity.gov.in/static/uploads/2024/06/2bf1f0e9f04e6fb4f8fef35e82c42aa5.pdf . Model card cautions against surveillance/life-critical use. Public demo: https://nivra-vision-lab.topperly.chatgpt.site . Supplied metrics PDF used as secondary context, not an authoritative source for unverified costs.</a:t>
            </a:r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5942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All five students and DOBs supplied by user. Mentor fields intentionally blank. No student information is published to the public demo.</a:t>
            </a:r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0806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61563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784246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github.com/tanishqagg-dev/nivra-vision-lab" TargetMode="External"/><Relationship Id="rId7" Type="http://schemas.openxmlformats.org/officeDocument/2006/relationships/hyperlink" Target="https://www.axis.com/products/axis-object-analytic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sel.education.gov.in/sites/default/files/guidelines/guidelines_sss.pdf" TargetMode="External"/><Relationship Id="rId5" Type="http://schemas.openxmlformats.org/officeDocument/2006/relationships/hyperlink" Target="https://developers.google.com/edge/mediapipe/solutions/vision/pose_landmarker/web_js" TargetMode="External"/><Relationship Id="rId4" Type="http://schemas.openxmlformats.org/officeDocument/2006/relationships/hyperlink" Target="https://www.who.int/westernpacific/publications/i/item/9789240047136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F1F5F7E1-2D66-467B-F164-52602A8BF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CB596411-A76F-ECDB-FA18-6B1BBC2CDFDA}"/>
              </a:ext>
            </a:extLst>
          </p:cNvPr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Bharati Hackathon 3.0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B482F5-EFB3-5068-A003-14FD2681834A}"/>
              </a:ext>
            </a:extLst>
          </p:cNvPr>
          <p:cNvSpPr/>
          <p:nvPr/>
        </p:nvSpPr>
        <p:spPr>
          <a:xfrm>
            <a:off x="731520" y="11924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29C5975-B3A2-2B71-F41F-39A0442ACAAF}"/>
              </a:ext>
            </a:extLst>
          </p:cNvPr>
          <p:cNvSpPr/>
          <p:nvPr/>
        </p:nvSpPr>
        <p:spPr>
          <a:xfrm>
            <a:off x="731520" y="1923019"/>
            <a:ext cx="9875520" cy="10058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defRPr sz="3000" b="1">
                <a:solidFill>
                  <a:srgbClr val="222760"/>
                </a:solidFill>
                <a:latin typeface="Georgia"/>
              </a:defRPr>
            </a:pPr>
            <a:r>
              <a:t>NIVRA: Before Impact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3EA0BC3-3FA9-F645-8556-24420EA92C5B}"/>
              </a:ext>
            </a:extLst>
          </p:cNvPr>
          <p:cNvSpPr/>
          <p:nvPr/>
        </p:nvSpPr>
        <p:spPr>
          <a:xfrm>
            <a:off x="731520" y="3191090"/>
            <a:ext cx="106984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400A172-9FC3-D7CE-8DC3-1A5DFE286D88}"/>
              </a:ext>
            </a:extLst>
          </p:cNvPr>
          <p:cNvSpPr/>
          <p:nvPr/>
        </p:nvSpPr>
        <p:spPr>
          <a:xfrm>
            <a:off x="5120640" y="3063240"/>
            <a:ext cx="603504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660C73F0-C506-7964-0C96-0DDC1210B6D4}"/>
              </a:ext>
            </a:extLst>
          </p:cNvPr>
          <p:cNvSpPr/>
          <p:nvPr/>
        </p:nvSpPr>
        <p:spPr>
          <a:xfrm>
            <a:off x="1005840" y="3507377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86E3D25-0556-CAE9-D319-64E05E2C62EA}"/>
              </a:ext>
            </a:extLst>
          </p:cNvPr>
          <p:cNvSpPr/>
          <p:nvPr/>
        </p:nvSpPr>
        <p:spPr>
          <a:xfrm>
            <a:off x="952500" y="3629025"/>
            <a:ext cx="3810000" cy="2667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125" b="1" i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lang="en-US" sz="1125" b="1" i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Problem Statement Title</a:t>
            </a: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1CF4DBC1-9609-5FFB-FA1D-2934F197C1D5}"/>
              </a:ext>
            </a:extLst>
          </p:cNvPr>
          <p:cNvSpPr/>
          <p:nvPr/>
        </p:nvSpPr>
        <p:spPr>
          <a:xfrm>
            <a:off x="5067300" y="3571875"/>
            <a:ext cx="6000750" cy="333375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5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CCTV can miss warning signs before an incident escalates</a:t>
            </a:r>
            <a:endParaRPr lang="en-US" sz="1575" b="0" i="0" dirty="0">
              <a:solidFill>
                <a:srgbClr val="2227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B4545435-528F-D771-1AFA-8DB6DF0686C9}"/>
              </a:ext>
            </a:extLst>
          </p:cNvPr>
          <p:cNvSpPr/>
          <p:nvPr/>
        </p:nvSpPr>
        <p:spPr>
          <a:xfrm>
            <a:off x="1005840" y="3951514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3B21521D-8097-D790-F5CD-0347A1A6B6D3}"/>
              </a:ext>
            </a:extLst>
          </p:cNvPr>
          <p:cNvSpPr/>
          <p:nvPr/>
        </p:nvSpPr>
        <p:spPr>
          <a:xfrm>
            <a:off x="952500" y="4072890"/>
            <a:ext cx="3810000" cy="2667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125" b="1" i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lang="en-US" sz="1125" b="1" i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Theme</a:t>
            </a: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772B60E9-1A36-50EB-B677-68B52948315B}"/>
              </a:ext>
            </a:extLst>
          </p:cNvPr>
          <p:cNvSpPr/>
          <p:nvPr/>
        </p:nvSpPr>
        <p:spPr>
          <a:xfrm>
            <a:off x="5067300" y="4015740"/>
            <a:ext cx="6000750" cy="333375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5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T4 | Community &amp; Civic Innovation</a:t>
            </a:r>
            <a:endParaRPr lang="en-US" sz="1575" b="0" i="0" dirty="0">
              <a:solidFill>
                <a:srgbClr val="2227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72C12956-5F9F-EE58-4447-6ACBC4646ADB}"/>
              </a:ext>
            </a:extLst>
          </p:cNvPr>
          <p:cNvSpPr/>
          <p:nvPr/>
        </p:nvSpPr>
        <p:spPr>
          <a:xfrm>
            <a:off x="1005840" y="4395651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E3FEDFC6-927E-DF15-54F9-30969801F2E7}"/>
              </a:ext>
            </a:extLst>
          </p:cNvPr>
          <p:cNvSpPr/>
          <p:nvPr/>
        </p:nvSpPr>
        <p:spPr>
          <a:xfrm>
            <a:off x="1005840" y="4395651"/>
            <a:ext cx="402336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78A34103-47A8-9FE7-3B67-DD45BC767875}"/>
              </a:ext>
            </a:extLst>
          </p:cNvPr>
          <p:cNvSpPr/>
          <p:nvPr/>
        </p:nvSpPr>
        <p:spPr>
          <a:xfrm>
            <a:off x="5120640" y="4395651"/>
            <a:ext cx="6035040" cy="444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9665B41C-0812-424E-D913-A108277E671F}"/>
              </a:ext>
            </a:extLst>
          </p:cNvPr>
          <p:cNvSpPr/>
          <p:nvPr/>
        </p:nvSpPr>
        <p:spPr>
          <a:xfrm>
            <a:off x="1005840" y="4839789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74CEDA0C-14A7-6746-95AC-266E15A9DACF}"/>
              </a:ext>
            </a:extLst>
          </p:cNvPr>
          <p:cNvSpPr/>
          <p:nvPr/>
        </p:nvSpPr>
        <p:spPr>
          <a:xfrm>
            <a:off x="952500" y="4516755"/>
            <a:ext cx="3810000" cy="2667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125" b="1" i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lang="en-US" sz="1125" b="1" i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Team Name</a:t>
            </a:r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0F04A708-E8A6-7D7F-A198-C2F4F2B7B962}"/>
              </a:ext>
            </a:extLst>
          </p:cNvPr>
          <p:cNvSpPr/>
          <p:nvPr/>
        </p:nvSpPr>
        <p:spPr>
          <a:xfrm>
            <a:off x="5067300" y="4459605"/>
            <a:ext cx="6000750" cy="333375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5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Team Damage Control</a:t>
            </a:r>
            <a:endParaRPr lang="en-US" sz="1575" b="0" i="0" dirty="0">
              <a:solidFill>
                <a:srgbClr val="2227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3E91B74A-EA5C-0F32-3C0B-98A149CF63A4}"/>
              </a:ext>
            </a:extLst>
          </p:cNvPr>
          <p:cNvSpPr/>
          <p:nvPr/>
        </p:nvSpPr>
        <p:spPr>
          <a:xfrm>
            <a:off x="1005840" y="5283926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E20E031C-781A-87D9-1113-02236EB3FF36}"/>
              </a:ext>
            </a:extLst>
          </p:cNvPr>
          <p:cNvSpPr/>
          <p:nvPr/>
        </p:nvSpPr>
        <p:spPr>
          <a:xfrm>
            <a:off x="952500" y="4960620"/>
            <a:ext cx="3810000" cy="2667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125" b="1" i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lang="en-US" sz="1125" b="1" i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Team Leader</a:t>
            </a:r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87376AFA-4CED-D805-43D2-B4BAE125A6FF}"/>
              </a:ext>
            </a:extLst>
          </p:cNvPr>
          <p:cNvSpPr/>
          <p:nvPr/>
        </p:nvSpPr>
        <p:spPr>
          <a:xfrm>
            <a:off x="5067300" y="4903470"/>
            <a:ext cx="6000750" cy="333375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5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Harsh Jain</a:t>
            </a:r>
            <a:endParaRPr lang="en-US" sz="1575" b="0" i="0" dirty="0">
              <a:solidFill>
                <a:srgbClr val="2227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7BBD9AFB-93BC-4BE4-A0B0-5E5910B84916}"/>
              </a:ext>
            </a:extLst>
          </p:cNvPr>
          <p:cNvSpPr/>
          <p:nvPr/>
        </p:nvSpPr>
        <p:spPr>
          <a:xfrm>
            <a:off x="1005840" y="5728063"/>
            <a:ext cx="10149840" cy="0"/>
          </a:xfrm>
          <a:prstGeom prst="line">
            <a:avLst/>
          </a:prstGeom>
          <a:noFill/>
          <a:ln w="12700">
            <a:solidFill>
              <a:srgbClr val="E4E7F2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002060"/>
              </a:solidFill>
            </a:endParaRPr>
          </a:p>
        </p:txBody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8B944417-9F17-038C-7FEA-565059465012}"/>
              </a:ext>
            </a:extLst>
          </p:cNvPr>
          <p:cNvSpPr/>
          <p:nvPr/>
        </p:nvSpPr>
        <p:spPr>
          <a:xfrm>
            <a:off x="952500" y="5404485"/>
            <a:ext cx="3810000" cy="2667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125" b="1" i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lang="en-US" sz="1125" b="1" i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Unit Name</a:t>
            </a:r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80AA14F6-5499-52DA-0400-C9196CC2AB9C}"/>
              </a:ext>
            </a:extLst>
          </p:cNvPr>
          <p:cNvSpPr/>
          <p:nvPr/>
        </p:nvSpPr>
        <p:spPr>
          <a:xfrm>
            <a:off x="5067300" y="5347335"/>
            <a:ext cx="6000750" cy="333375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5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Bal Bharati Public School, Pitampura</a:t>
            </a:r>
            <a:endParaRPr lang="en-US" sz="1575" b="0" i="0" dirty="0">
              <a:solidFill>
                <a:srgbClr val="22276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B5829B4-9EB7-59A8-4B53-C40C003FC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237" y="289084"/>
            <a:ext cx="1662112" cy="1433512"/>
          </a:xfrm>
          <a:prstGeom prst="rect">
            <a:avLst/>
          </a:prstGeom>
        </p:spPr>
      </p:pic>
      <p:sp>
        <p:nvSpPr>
          <p:cNvPr id="4" name="Text 24">
            <a:extLst>
              <a:ext uri="{FF2B5EF4-FFF2-40B4-BE49-F238E27FC236}">
                <a16:creationId xmlns:a16="http://schemas.microsoft.com/office/drawing/2014/main" id="{806E0F1E-C06A-CEAD-3117-5E44882F79A1}"/>
              </a:ext>
            </a:extLst>
          </p:cNvPr>
          <p:cNvSpPr/>
          <p:nvPr/>
        </p:nvSpPr>
        <p:spPr>
          <a:xfrm>
            <a:off x="952500" y="5848350"/>
            <a:ext cx="3810000" cy="2667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125" b="1" i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lang="en-US" sz="1125" b="1" i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Team Size</a:t>
            </a:r>
          </a:p>
        </p:txBody>
      </p:sp>
      <p:sp>
        <p:nvSpPr>
          <p:cNvPr id="8" name="Text 25">
            <a:extLst>
              <a:ext uri="{FF2B5EF4-FFF2-40B4-BE49-F238E27FC236}">
                <a16:creationId xmlns:a16="http://schemas.microsoft.com/office/drawing/2014/main" id="{02131163-CB48-7571-1416-3DFA36D18D14}"/>
              </a:ext>
            </a:extLst>
          </p:cNvPr>
          <p:cNvSpPr/>
          <p:nvPr/>
        </p:nvSpPr>
        <p:spPr>
          <a:xfrm>
            <a:off x="5067300" y="5791200"/>
            <a:ext cx="6000750" cy="333375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5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5 students (excluding mentor)</a:t>
            </a:r>
            <a:endParaRPr lang="en-US" sz="1575" b="0" i="0" dirty="0">
              <a:solidFill>
                <a:srgbClr val="2227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477125" y="2847975"/>
            <a:ext cx="3667125" cy="28575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350" b="0">
                <a:solidFill>
                  <a:srgbClr val="46534C"/>
                </a:solidFill>
                <a:latin typeface="Arial"/>
              </a:defRPr>
            </a:pPr>
            <a:r>
              <a:t>Category: Cat2</a:t>
            </a:r>
          </a:p>
        </p:txBody>
      </p:sp>
      <p:pic>
        <p:nvPicPr>
          <p:cNvPr id="55" name="Picture 54" descr="logo-aperture-concept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85800" y="2619375"/>
            <a:ext cx="447675" cy="44767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219200" y="2714625"/>
            <a:ext cx="6048375" cy="3048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650" b="0">
                <a:solidFill>
                  <a:srgbClr val="14251D"/>
                </a:solidFill>
                <a:latin typeface="Arial"/>
              </a:defRPr>
            </a:pPr>
            <a:r>
              <a:t>Spot warning signs. Help staff respond sooner.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r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2531581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52450" y="457200"/>
            <a:ext cx="10382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28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t>Your Idea</a:t>
            </a:r>
            <a:endParaRPr lang="en-US" sz="2850" b="1" i="0" dirty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500" b="1" i="0">
                <a:solidFill>
                  <a:srgbClr val="14251D"/>
                </a:solidFill>
                <a:latin typeface="Arial"/>
                <a:ea typeface="Arial"/>
                <a:cs typeface="Arial"/>
              </a:defRPr>
            </a:pPr>
            <a:r>
              <a:rPr lang="en-US" sz="1500" b="1" i="0" dirty="0">
                <a:solidFill>
                  <a:srgbClr val="14251D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11" name="Shape 9"/>
          <p:cNvSpPr/>
          <p:nvPr/>
        </p:nvSpPr>
        <p:spPr>
          <a:xfrm>
            <a:off x="6254496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83096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500" b="1" i="0">
                <a:solidFill>
                  <a:srgbClr val="14251D"/>
                </a:solidFill>
                <a:latin typeface="Arial"/>
                <a:ea typeface="Arial"/>
                <a:cs typeface="Arial"/>
              </a:defRPr>
            </a:pPr>
            <a:r>
              <a:rPr lang="en-US" sz="1500" b="1" i="0" dirty="0">
                <a:solidFill>
                  <a:srgbClr val="14251D"/>
                </a:solidFill>
                <a:latin typeface="Arial"/>
                <a:ea typeface="Arial"/>
                <a:cs typeface="Arial"/>
              </a:rPr>
              <a:t>NIVRA'S RESPONSE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3B8938-6710-D689-16BA-525BBFEFE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5651" y="256032"/>
            <a:ext cx="592202" cy="510753"/>
          </a:xfrm>
          <a:prstGeom prst="rect">
            <a:avLst/>
          </a:prstGeom>
        </p:spPr>
      </p:pic>
      <p:pic>
        <p:nvPicPr>
          <p:cNvPr id="18" name="Picture 17" descr="school-corridor-natural.png"/>
          <p:cNvPicPr>
            <a:picLocks noChangeAspect="1"/>
          </p:cNvPicPr>
          <p:nvPr/>
        </p:nvPicPr>
        <p:blipFill>
          <a:blip r:embed="rId4"/>
          <a:srcRect t="14531" b="14531"/>
          <a:stretch>
            <a:fillRect/>
          </a:stretch>
        </p:blipFill>
        <p:spPr>
          <a:xfrm>
            <a:off x="695325" y="2028825"/>
            <a:ext cx="5010150" cy="2000250"/>
          </a:xfrm>
          <a:prstGeom prst="rect">
            <a:avLst/>
          </a:prstGeom>
        </p:spPr>
      </p:pic>
      <p:pic>
        <p:nvPicPr>
          <p:cNvPr id="19" name="Picture 18" descr="operator-review-natural.png"/>
          <p:cNvPicPr>
            <a:picLocks noChangeAspect="1"/>
          </p:cNvPicPr>
          <p:nvPr/>
        </p:nvPicPr>
        <p:blipFill>
          <a:blip r:embed="rId5"/>
          <a:srcRect t="14531" b="14531"/>
          <a:stretch>
            <a:fillRect/>
          </a:stretch>
        </p:blipFill>
        <p:spPr>
          <a:xfrm>
            <a:off x="6496050" y="2028825"/>
            <a:ext cx="5010150" cy="2000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04850" y="4210050"/>
            <a:ext cx="4953000" cy="70485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A camera can record a fight.</a:t>
            </a:r>
          </a:p>
          <a:p>
            <a:pPr marL="0" indent="0"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Who notices it starting?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5086350"/>
            <a:ext cx="4953000" cy="8001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Staff cannot watch every feed at once.</a:t>
            </a:r>
          </a:p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A developing incident can go unnoticed.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6050" y="4210050"/>
            <a:ext cx="4953000" cy="70485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NIVRA draws attention</a:t>
            </a:r>
          </a:p>
          <a:p>
            <a:pPr marL="0" indent="0"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to moments worth checking.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6050" y="5086350"/>
            <a:ext cx="4953000" cy="8001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It flags concerning movement.</a:t>
            </a:r>
          </a:p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A member of staff reviews the alert.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r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52450" y="457200"/>
            <a:ext cx="10382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28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t>Visible Warning Signals</a:t>
            </a:r>
            <a:endParaRPr lang="en-US" sz="2850" b="1" i="0" dirty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defRPr sz="1500" b="1">
                <a:solidFill>
                  <a:srgbClr val="14251D"/>
                </a:solidFill>
                <a:latin typeface="Arial"/>
              </a:defRPr>
            </a:pPr>
            <a:r>
              <a:t>WHAT TRIGGERS A REVIEW?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54496" y="1325880"/>
            <a:ext cx="5477256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83096" y="1554480"/>
            <a:ext cx="5020056" cy="36576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defRPr sz="1500" b="1">
                <a:solidFill>
                  <a:srgbClr val="14251D"/>
                </a:solidFill>
                <a:latin typeface="Arial"/>
              </a:defRPr>
            </a:pPr>
            <a:r>
              <a:t>A PERSON MAKES THE CALL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3B8938-6710-D689-16BA-525BBFEFE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5651" y="256032"/>
            <a:ext cx="592202" cy="510753"/>
          </a:xfrm>
          <a:prstGeom prst="rect">
            <a:avLst/>
          </a:prstGeom>
        </p:spPr>
      </p:pic>
      <p:pic>
        <p:nvPicPr>
          <p:cNvPr id="18" name="Picture 17" descr="courtyard-motion-natural.png"/>
          <p:cNvPicPr>
            <a:picLocks noChangeAspect="1"/>
          </p:cNvPicPr>
          <p:nvPr/>
        </p:nvPicPr>
        <p:blipFill>
          <a:blip r:embed="rId4"/>
          <a:srcRect t="12842" b="12842"/>
          <a:stretch>
            <a:fillRect/>
          </a:stretch>
        </p:blipFill>
        <p:spPr>
          <a:xfrm>
            <a:off x="704850" y="2038350"/>
            <a:ext cx="5010150" cy="2095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4850" y="4343400"/>
            <a:ext cx="4953000" cy="371475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2025" b="1">
                <a:solidFill>
                  <a:srgbClr val="14251D"/>
                </a:solidFill>
                <a:latin typeface="Arial"/>
              </a:defRPr>
            </a:pPr>
            <a:r>
              <a:t>Movement needs context.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" y="4857750"/>
            <a:ext cx="4953000" cy="9144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Repeated, directed arm movements</a:t>
            </a:r>
          </a:p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The distance between people</a:t>
            </a:r>
          </a:p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Several signals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575" y="2124075"/>
            <a:ext cx="4867275" cy="36195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</a:pPr>
            <a:r>
              <a:t>01 / Notice the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575" y="2533650"/>
            <a:ext cx="4867275" cy="6858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NIVRA highlights a pattern worth checking.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575" y="3276600"/>
            <a:ext cx="4867275" cy="36195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</a:pPr>
            <a:r>
              <a:t>02 / Look at the scene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5575" y="3686175"/>
            <a:ext cx="4867275" cy="6858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Staff assess what is actually happening.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575" y="4429125"/>
            <a:ext cx="4867275" cy="36195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950" b="1">
                <a:solidFill>
                  <a:srgbClr val="14251D"/>
                </a:solidFill>
                <a:latin typeface="Arial"/>
              </a:defRPr>
            </a:pPr>
            <a:r>
              <a:t>03 / Decide what to 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5575" y="4838700"/>
            <a:ext cx="4867275" cy="6858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Dismiss it, keep watching, or arrange help.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r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A35151C1-A88F-8109-F3C9-EF84687F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82144C-71A3-2785-0B18-2B270F340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65E2676B-6F83-FFD7-2D82-348EE889C2E4}"/>
              </a:ext>
            </a:extLst>
          </p:cNvPr>
          <p:cNvSpPr/>
          <p:nvPr/>
        </p:nvSpPr>
        <p:spPr>
          <a:xfrm>
            <a:off x="552450" y="457200"/>
            <a:ext cx="10382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28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t>Technical Approach</a:t>
            </a:r>
            <a:endParaRPr lang="en-US" sz="2850" b="1" i="0" dirty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D12F776-09C3-0FCA-E8E7-C78191D9CE0C}"/>
              </a:ext>
            </a:extLst>
          </p:cNvPr>
          <p:cNvSpPr/>
          <p:nvPr/>
        </p:nvSpPr>
        <p:spPr>
          <a:xfrm>
            <a:off x="457200" y="1325880"/>
            <a:ext cx="4160520" cy="47091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C22CF0B-06CE-B2D4-7B65-FF0182359EDF}"/>
              </a:ext>
            </a:extLst>
          </p:cNvPr>
          <p:cNvSpPr/>
          <p:nvPr/>
        </p:nvSpPr>
        <p:spPr>
          <a:xfrm>
            <a:off x="4937760" y="1325880"/>
            <a:ext cx="6793992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defRPr sz="1500" b="1">
                <a:solidFill>
                  <a:srgbClr val="14251D"/>
                </a:solidFill>
                <a:latin typeface="Arial"/>
              </a:defRPr>
            </a:pPr>
            <a:r>
              <a:t>BROWSER ARCHITECTURE</a:t>
            </a:r>
            <a:endParaRPr lang="en-US" sz="14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B8551020-AB1A-3707-B537-05FBB9093EBC}"/>
              </a:ext>
            </a:extLst>
          </p:cNvPr>
          <p:cNvSpPr/>
          <p:nvPr/>
        </p:nvSpPr>
        <p:spPr>
          <a:xfrm>
            <a:off x="4937760" y="1737360"/>
            <a:ext cx="6793992" cy="4297680"/>
          </a:xfrm>
          <a:prstGeom prst="roundRect">
            <a:avLst>
              <a:gd name="adj" fmla="val 1277"/>
            </a:avLst>
          </a:prstGeom>
          <a:solidFill>
            <a:srgbClr val="F7F5FB"/>
          </a:solidFill>
          <a:ln w="12700">
            <a:solidFill>
              <a:srgbClr val="D9D3E8"/>
            </a:solidFill>
            <a:prstDash val="solid"/>
          </a:ln>
        </p:spPr>
        <p:txBody>
          <a:bodyPr/>
          <a:lstStyle/>
          <a:p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590675"/>
            <a:ext cx="3695700" cy="36195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</a:pPr>
            <a:r>
              <a:t>Inputs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038350"/>
            <a:ext cx="3695700" cy="9525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Camera, local video or scripted scenario.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924175"/>
            <a:ext cx="3695700" cy="36195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</a:pPr>
            <a:r>
              <a:t>Two Web Workers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371850"/>
            <a:ext cx="3695700" cy="9525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One for pose, one for objects. Local MediaPipe + WASM.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381500"/>
            <a:ext cx="3695700" cy="36195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875" b="1">
                <a:solidFill>
                  <a:srgbClr val="14251D"/>
                </a:solidFill>
                <a:latin typeface="Arial"/>
              </a:defRPr>
            </a:pPr>
            <a: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29175"/>
            <a:ext cx="3695700" cy="9525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650" b="0">
                <a:solidFill>
                  <a:srgbClr val="46534C"/>
                </a:solidFill>
                <a:latin typeface="Arial"/>
              </a:defRPr>
            </a:pPr>
            <a:r>
              <a:t>GPU for real-time pose when supported. CPU for review scans and fallback.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445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0175" y="2695575"/>
            <a:ext cx="1285875" cy="333375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0175" y="3209925"/>
            <a:ext cx="1285875" cy="4953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Camera / video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3200" y="2924175"/>
            <a:ext cx="247650" cy="32385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4370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29425" y="2695575"/>
            <a:ext cx="1285875" cy="333375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Vision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9425" y="3209925"/>
            <a:ext cx="1285875" cy="4953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Pose + objects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2450" y="2924175"/>
            <a:ext cx="247650" cy="32385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2950" y="2571750"/>
            <a:ext cx="1438275" cy="1238250"/>
          </a:xfrm>
          <a:prstGeom prst="rect">
            <a:avLst/>
          </a:prstGeom>
          <a:solidFill>
            <a:srgbClr val="E8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48675" y="2695575"/>
            <a:ext cx="1285875" cy="333375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Rules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8675" y="3209925"/>
            <a:ext cx="1285875" cy="4953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Motion history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91700" y="2924175"/>
            <a:ext cx="247650" cy="32385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875" b="0">
                <a:solidFill>
                  <a:srgbClr val="1425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82200" y="2571750"/>
            <a:ext cx="1438275" cy="1238250"/>
          </a:xfrm>
          <a:prstGeom prst="rect">
            <a:avLst/>
          </a:prstGeom>
          <a:solidFill>
            <a:srgbClr val="D2F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067925" y="2695575"/>
            <a:ext cx="1285875" cy="333375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800" b="1">
                <a:solidFill>
                  <a:srgbClr val="14251D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67925" y="3209925"/>
            <a:ext cx="1285875" cy="4953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425" b="0">
                <a:solidFill>
                  <a:srgbClr val="14251D"/>
                </a:solidFill>
                <a:latin typeface="Arial"/>
              </a:defRPr>
            </a:pPr>
            <a:r>
              <a:t>Banner + tone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91125" y="4229100"/>
            <a:ext cx="6143625" cy="409575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2175" b="1">
                <a:solidFill>
                  <a:srgbClr val="14251D"/>
                </a:solidFill>
                <a:latin typeface="Arial"/>
              </a:defRPr>
            </a:pPr>
            <a:r>
              <a:t>Frames remain in the browser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91125" y="4752975"/>
            <a:ext cx="6096000" cy="101917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Video is processed on the device.</a:t>
            </a:r>
          </a:p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No footage is uploaded or recorded by the app.</a:t>
            </a:r>
          </a:p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Temporary tracks clear when the session ends.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r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3132866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82144C-71A3-2785-0B18-2B270F340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65E2676B-6F83-FFD7-2D82-348EE889C2E4}"/>
              </a:ext>
            </a:extLst>
          </p:cNvPr>
          <p:cNvSpPr/>
          <p:nvPr/>
        </p:nvSpPr>
        <p:spPr>
          <a:xfrm>
            <a:off x="552450" y="457200"/>
            <a:ext cx="10382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28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t>Technical Approach | Demo</a:t>
            </a:r>
            <a:endParaRPr lang="en-US" sz="2850" b="1" i="0" dirty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D12F776-09C3-0FCA-E8E7-C78191D9CE0C}"/>
              </a:ext>
            </a:extLst>
          </p:cNvPr>
          <p:cNvSpPr/>
          <p:nvPr/>
        </p:nvSpPr>
        <p:spPr>
          <a:xfrm>
            <a:off x="457200" y="1325880"/>
            <a:ext cx="4160520" cy="47091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C22CF0B-06CE-B2D4-7B65-FF0182359EDF}"/>
              </a:ext>
            </a:extLst>
          </p:cNvPr>
          <p:cNvSpPr/>
          <p:nvPr/>
        </p:nvSpPr>
        <p:spPr>
          <a:xfrm>
            <a:off x="4937760" y="1325880"/>
            <a:ext cx="6793992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defRPr sz="1500" b="1">
                <a:solidFill>
                  <a:srgbClr val="14251D"/>
                </a:solidFill>
                <a:latin typeface="Arial"/>
              </a:defRPr>
            </a:pPr>
            <a:r>
              <a:t>CURRENT LAB AND NEXT STEPS</a:t>
            </a:r>
            <a:endParaRPr lang="en-US" sz="14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B8551020-AB1A-3707-B537-05FBB9093EBC}"/>
              </a:ext>
            </a:extLst>
          </p:cNvPr>
          <p:cNvSpPr/>
          <p:nvPr/>
        </p:nvSpPr>
        <p:spPr>
          <a:xfrm>
            <a:off x="4937760" y="1737360"/>
            <a:ext cx="6793992" cy="4297680"/>
          </a:xfrm>
          <a:prstGeom prst="roundRect">
            <a:avLst>
              <a:gd name="adj" fmla="val 1277"/>
            </a:avLst>
          </a:prstGeom>
          <a:solidFill>
            <a:srgbClr val="F7F5FB"/>
          </a:solidFill>
          <a:ln w="12700">
            <a:solidFill>
              <a:srgbClr val="D9D3E8"/>
            </a:solidFill>
            <a:prstDash val="solid"/>
          </a:ln>
        </p:spPr>
        <p:txBody>
          <a:bodyPr/>
          <a:lstStyle/>
          <a:p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1562100"/>
            <a:ext cx="3714750" cy="409575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2025" b="1">
                <a:solidFill>
                  <a:srgbClr val="14251D"/>
                </a:solidFill>
                <a:latin typeface="Arial"/>
              </a:defRPr>
            </a:pPr>
            <a:r>
              <a:t>Try the current 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200275"/>
            <a:ext cx="3686175" cy="23336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1. Choose camera, video or test scenario.</a:t>
            </a:r>
          </a:p>
          <a:p>
            <a:pPr marL="0" indent="0"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2. Inspect skeletons and review reasons.</a:t>
            </a:r>
          </a:p>
          <a:p>
            <a:pPr marL="0" indent="0"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3. Acknowledge alerts; pause, replay or stop.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819650"/>
            <a:ext cx="3619500" cy="43815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2250" b="1">
                <a:solidFill>
                  <a:srgbClr val="14251D"/>
                </a:solidFill>
                <a:latin typeface="Arial"/>
              </a:defRPr>
            </a:pPr>
            <a:r>
              <a:t>211 tests passed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14950"/>
            <a:ext cx="3667125" cy="5715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500" b="0">
                <a:solidFill>
                  <a:srgbClr val="46534C"/>
                </a:solidFill>
                <a:latin typeface="Arial"/>
              </a:defRPr>
            </a:pPr>
            <a:r>
              <a:t>Lint and production build also passed during local verification.</a:t>
            </a:r>
          </a:p>
        </p:txBody>
      </p:sp>
      <p:pic>
        <p:nvPicPr>
          <p:cNvPr id="29" name="Picture 28" descr="operator-review-natural.png"/>
          <p:cNvPicPr>
            <a:picLocks noChangeAspect="1"/>
          </p:cNvPicPr>
          <p:nvPr/>
        </p:nvPicPr>
        <p:blipFill>
          <a:blip r:embed="rId4"/>
          <a:srcRect t="15147" b="15147"/>
          <a:stretch>
            <a:fillRect/>
          </a:stretch>
        </p:blipFill>
        <p:spPr>
          <a:xfrm>
            <a:off x="5219700" y="2038350"/>
            <a:ext cx="6191250" cy="22002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210175" y="4400550"/>
            <a:ext cx="6105525" cy="40957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2025" b="1" i="0">
                <a:solidFill>
                  <a:srgbClr val="14251D"/>
                </a:solidFill>
                <a:latin typeface="Arial"/>
                <a:ea typeface="Arial"/>
                <a:cs typeface="Arial"/>
              </a:defRPr>
            </a:pPr>
            <a:r>
              <a:t>Proposed next: connected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0175" y="4895850"/>
            <a:ext cx="6076950" cy="10001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Connect cameras across a site</a:t>
            </a:r>
          </a:p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Replay the previous 8 seconds</a:t>
            </a:r>
          </a:p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Help staff contact an available responder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r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D05E0537-5504-17CF-2745-3AFBC1E2C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416CBF-3AF1-01A6-BF37-6DE07F757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D41C862-4124-A050-2DDE-18AE35C331F6}"/>
              </a:ext>
            </a:extLst>
          </p:cNvPr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defRPr sz="1200" b="1">
                <a:solidFill>
                  <a:srgbClr val="14251D"/>
                </a:solidFill>
                <a:latin typeface="Arial"/>
              </a:defRPr>
            </a:pPr>
            <a:endParaRPr lang="en-US" sz="1200" dirty="0">
              <a:highlight>
                <a:srgbClr val="FF0000"/>
              </a:highlight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48AAE38-CC2A-FACF-5697-E4D8B334BDD0}"/>
              </a:ext>
            </a:extLst>
          </p:cNvPr>
          <p:cNvSpPr/>
          <p:nvPr/>
        </p:nvSpPr>
        <p:spPr>
          <a:xfrm>
            <a:off x="552450" y="457200"/>
            <a:ext cx="10382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28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rPr lang="en-US" sz="2850" b="1" i="0" dirty="0">
                <a:solidFill>
                  <a:srgbClr val="222760"/>
                </a:solidFill>
                <a:latin typeface="Georgia"/>
                <a:ea typeface="Georgia"/>
                <a:cs typeface="Georgia"/>
              </a:rPr>
              <a:t>Feasibility and Viability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25C929E-E67D-FA87-6F66-8733A7DE9EB8}"/>
              </a:ext>
            </a:extLst>
          </p:cNvPr>
          <p:cNvSpPr/>
          <p:nvPr/>
        </p:nvSpPr>
        <p:spPr>
          <a:xfrm>
            <a:off x="989045" y="1600200"/>
            <a:ext cx="94332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OF THE IDEA</a:t>
            </a:r>
            <a:endParaRPr lang="en-US" sz="13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0E15B07B-E98B-FF29-3491-047DBF6DA3F8}"/>
              </a:ext>
            </a:extLst>
          </p:cNvPr>
          <p:cNvSpPr/>
          <p:nvPr/>
        </p:nvSpPr>
        <p:spPr>
          <a:xfrm>
            <a:off x="989044" y="2100321"/>
            <a:ext cx="10075195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Runs in a browser on a laptop or phone.</a:t>
            </a:r>
            <a:endParaRPr lang="en-US" sz="1650" b="0" i="0" dirty="0">
              <a:solidFill>
                <a:srgbClr val="46534C"/>
              </a:solidFill>
              <a:latin typeface="Arial"/>
              <a:ea typeface="Arial"/>
              <a:cs typeface="Arial"/>
            </a:endParaRPr>
          </a:p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Uses camera input or a local video file.</a:t>
            </a:r>
          </a:p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Start with one supervised school trial before connecting more cameras.</a:t>
            </a: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824DE081-D638-45D4-BACA-E63E8343BEC3}"/>
              </a:ext>
            </a:extLst>
          </p:cNvPr>
          <p:cNvSpPr/>
          <p:nvPr/>
        </p:nvSpPr>
        <p:spPr>
          <a:xfrm>
            <a:off x="548640" y="3657600"/>
            <a:ext cx="5166360" cy="2468880"/>
          </a:xfrm>
          <a:prstGeom prst="roundRect">
            <a:avLst>
              <a:gd name="adj" fmla="val 3704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A1E101C-8C62-CBB2-BADD-643B74632CF1}"/>
              </a:ext>
            </a:extLst>
          </p:cNvPr>
          <p:cNvSpPr/>
          <p:nvPr/>
        </p:nvSpPr>
        <p:spPr>
          <a:xfrm>
            <a:off x="822960" y="3886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 &amp; RISKS</a:t>
            </a:r>
            <a:endParaRPr lang="en-US" sz="12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8A29699B-89FB-D00D-0132-C453F5B3F5D6}"/>
              </a:ext>
            </a:extLst>
          </p:cNvPr>
          <p:cNvSpPr/>
          <p:nvPr/>
        </p:nvSpPr>
        <p:spPr>
          <a:xfrm>
            <a:off x="822960" y="4297680"/>
            <a:ext cx="4617720" cy="15544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01  Sports and play can trigger reviews.</a:t>
            </a:r>
            <a:endParaRPr lang="en-US" sz="1650" b="0" i="0" dirty="0">
              <a:solidFill>
                <a:srgbClr val="46534C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02  Occlusion or weak devices reduce coverage.</a:t>
            </a:r>
          </a:p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03  School video needs permission and privacy controls.</a:t>
            </a: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43A98284-AA8C-F284-4880-505AAE55CC1F}"/>
              </a:ext>
            </a:extLst>
          </p:cNvPr>
          <p:cNvSpPr/>
          <p:nvPr/>
        </p:nvSpPr>
        <p:spPr>
          <a:xfrm>
            <a:off x="6080760" y="3657600"/>
            <a:ext cx="5166360" cy="2468880"/>
          </a:xfrm>
          <a:prstGeom prst="roundRect">
            <a:avLst>
              <a:gd name="adj" fmla="val 3704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D31591CD-4BDC-FD65-8C77-9AC56BFFA0EB}"/>
              </a:ext>
            </a:extLst>
          </p:cNvPr>
          <p:cNvSpPr/>
          <p:nvPr/>
        </p:nvSpPr>
        <p:spPr>
          <a:xfrm>
            <a:off x="6355080" y="3886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TO OVERCOME THEM</a:t>
            </a:r>
            <a:endParaRPr lang="en-US" sz="12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8A8F513E-B0F9-B736-D672-D502880BD1FE}"/>
              </a:ext>
            </a:extLst>
          </p:cNvPr>
          <p:cNvSpPr/>
          <p:nvPr/>
        </p:nvSpPr>
        <p:spPr>
          <a:xfrm>
            <a:off x="6355080" y="4297680"/>
            <a:ext cx="4617720" cy="155448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01  Require human review; test positive and quiet clips.</a:t>
            </a:r>
            <a:endParaRPr lang="en-US" sz="1650" b="0" i="0" dirty="0">
              <a:solidFill>
                <a:srgbClr val="46534C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02  Use Lite / CPU fallback; show visibility and runtime state.</a:t>
            </a:r>
          </a:p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03  Keep frames local; obtain school approval before trials.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r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984061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CA8B95A5-39CE-A91E-4AC1-D052C012A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C0764E-4A66-6153-62BB-5CBC489FD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DAEDAEAA-8FA0-3224-6C7C-26B21FF98B2E}"/>
              </a:ext>
            </a:extLst>
          </p:cNvPr>
          <p:cNvSpPr/>
          <p:nvPr/>
        </p:nvSpPr>
        <p:spPr>
          <a:xfrm>
            <a:off x="552450" y="457200"/>
            <a:ext cx="10382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28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rPr lang="en-US" sz="2850" b="1" i="0" dirty="0">
                <a:solidFill>
                  <a:srgbClr val="222760"/>
                </a:solidFill>
                <a:latin typeface="Georgia"/>
                <a:ea typeface="Georgia"/>
                <a:cs typeface="Georgia"/>
              </a:rPr>
              <a:t>Impact and Benefits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3185866-11F6-824C-9FCC-1D023AE9C71E}"/>
              </a:ext>
            </a:extLst>
          </p:cNvPr>
          <p:cNvSpPr/>
          <p:nvPr/>
        </p:nvSpPr>
        <p:spPr>
          <a:xfrm>
            <a:off x="54864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DC2B347-E581-38C0-5508-F51306B2545A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CA7DC4D3-6F9B-9B82-BF78-8D444223657C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3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D5ED718-9ACA-393D-7381-2BAE9FB80ABB}"/>
              </a:ext>
            </a:extLst>
          </p:cNvPr>
          <p:cNvSpPr/>
          <p:nvPr/>
        </p:nvSpPr>
        <p:spPr>
          <a:xfrm>
            <a:off x="82296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Help staff notice a developing incident and decide when to step in.</a:t>
            </a:r>
            <a:endParaRPr lang="en-US" sz="12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710857C3-79A8-CA18-6262-1EE7C172509F}"/>
              </a:ext>
            </a:extLst>
          </p:cNvPr>
          <p:cNvSpPr/>
          <p:nvPr/>
        </p:nvSpPr>
        <p:spPr>
          <a:xfrm>
            <a:off x="425196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C19EFA0D-3406-DE44-6475-EB9DBF77D709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0E4588E4-6BC5-246B-EF41-78377AE24A3D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</a:t>
            </a:r>
            <a:endParaRPr lang="en-US" sz="13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61D796A0-51AE-8FC4-ED52-7C7412EB4B6F}"/>
              </a:ext>
            </a:extLst>
          </p:cNvPr>
          <p:cNvSpPr/>
          <p:nvPr/>
        </p:nvSpPr>
        <p:spPr>
          <a:xfrm>
            <a:off x="452628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Build on existing cameras where possible, reducing the need for new equipment.</a:t>
            </a:r>
            <a:endParaRPr lang="en-US" sz="12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7783ED2F-548C-A7AC-7DFA-72F1CFA43077}"/>
              </a:ext>
            </a:extLst>
          </p:cNvPr>
          <p:cNvSpPr/>
          <p:nvPr/>
        </p:nvSpPr>
        <p:spPr>
          <a:xfrm>
            <a:off x="795528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BD14AC99-0775-98A8-13E4-172861EE28E4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AAC04C4-1292-8F43-9FE5-1E152752B6E3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3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462E7A75-A4E9-3179-B351-AC44349DB9CF}"/>
              </a:ext>
            </a:extLst>
          </p:cNvPr>
          <p:cNvSpPr/>
          <p:nvPr/>
        </p:nvSpPr>
        <p:spPr>
          <a:xfrm>
            <a:off x="822960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defRPr sz="1800" b="0">
                <a:solidFill>
                  <a:srgbClr val="46534C"/>
                </a:solidFill>
                <a:latin typeface="Arial"/>
              </a:defRPr>
            </a:pPr>
            <a:r>
              <a:t>Reuse suitable devices and extend their working life.</a:t>
            </a:r>
            <a:endParaRPr lang="en-US" sz="12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0E44F278-2528-5628-6C49-FD8711391855}"/>
              </a:ext>
            </a:extLst>
          </p:cNvPr>
          <p:cNvSpPr/>
          <p:nvPr/>
        </p:nvSpPr>
        <p:spPr>
          <a:xfrm>
            <a:off x="54864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SOLUTION</a:t>
            </a:r>
            <a:endParaRPr lang="en-US" sz="13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1A3A24E7-A066-0567-3F0D-558B41D4B2F7}"/>
              </a:ext>
            </a:extLst>
          </p:cNvPr>
          <p:cNvSpPr/>
          <p:nvPr/>
        </p:nvSpPr>
        <p:spPr>
          <a:xfrm>
            <a:off x="548640" y="4526280"/>
            <a:ext cx="10515600" cy="1645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For staff: fewer feeds to search when an alert appears.</a:t>
            </a:r>
            <a:endParaRPr lang="en-US" sz="1650" b="0" i="0" dirty="0">
              <a:solidFill>
                <a:srgbClr val="46534C"/>
              </a:solidFill>
              <a:latin typeface="Arial"/>
              <a:ea typeface="Arial"/>
              <a:cs typeface="Arial"/>
            </a:endParaRPr>
          </a:p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For schools: a practical way to trial earlier incident review.</a:t>
            </a:r>
          </a:p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Next step: measure missed events, false alerts and review time.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r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2527233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C0764E-4A66-6153-62BB-5CBC489FD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185" y="405322"/>
            <a:ext cx="592202" cy="51075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DAEDAEAA-8FA0-3224-6C7C-26B21FF98B2E}"/>
              </a:ext>
            </a:extLst>
          </p:cNvPr>
          <p:cNvSpPr/>
          <p:nvPr/>
        </p:nvSpPr>
        <p:spPr>
          <a:xfrm>
            <a:off x="552450" y="457200"/>
            <a:ext cx="10382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28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t>Impact and Benefits | Why it matters</a:t>
            </a:r>
            <a:endParaRPr lang="en-US" sz="2850" b="1" i="0" dirty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3185866-11F6-824C-9FCC-1D023AE9C71E}"/>
              </a:ext>
            </a:extLst>
          </p:cNvPr>
          <p:cNvSpPr/>
          <p:nvPr/>
        </p:nvSpPr>
        <p:spPr>
          <a:xfrm>
            <a:off x="54864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DC2B347-E581-38C0-5508-F51306B2545A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CA7DC4D3-6F9B-9B82-BF78-8D444223657C}"/>
              </a:ext>
            </a:extLst>
          </p:cNvPr>
          <p:cNvSpPr/>
          <p:nvPr/>
        </p:nvSpPr>
        <p:spPr>
          <a:xfrm>
            <a:off x="54864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defRPr sz="2250" b="1">
                <a:solidFill>
                  <a:srgbClr val="FFFFFF"/>
                </a:solidFill>
                <a:latin typeface="Arial"/>
              </a:defRPr>
            </a:pPr>
            <a:r>
              <a:t>4.4 million</a:t>
            </a:r>
            <a:endParaRPr lang="en-US" sz="13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D5ED718-9ACA-393D-7381-2BAE9FB80ABB}"/>
              </a:ext>
            </a:extLst>
          </p:cNvPr>
          <p:cNvSpPr/>
          <p:nvPr/>
        </p:nvSpPr>
        <p:spPr>
          <a:xfrm>
            <a:off x="82296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defRPr sz="1500" b="0">
                <a:solidFill>
                  <a:srgbClr val="46534C"/>
                </a:solidFill>
                <a:latin typeface="Arial"/>
              </a:defRPr>
            </a:pPr>
            <a:r>
              <a:t>Global injury-related deaths in 2019, including unintentional injuries.</a:t>
            </a:r>
            <a:endParaRPr lang="en-US" sz="12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710857C3-79A8-CA18-6262-1EE7C172509F}"/>
              </a:ext>
            </a:extLst>
          </p:cNvPr>
          <p:cNvSpPr/>
          <p:nvPr/>
        </p:nvSpPr>
        <p:spPr>
          <a:xfrm>
            <a:off x="425196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C19EFA0D-3406-DE44-6475-EB9DBF77D709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0E4588E4-6BC5-246B-EF41-78377AE24A3D}"/>
              </a:ext>
            </a:extLst>
          </p:cNvPr>
          <p:cNvSpPr/>
          <p:nvPr/>
        </p:nvSpPr>
        <p:spPr>
          <a:xfrm>
            <a:off x="425196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defRPr sz="2250" b="1">
                <a:solidFill>
                  <a:srgbClr val="FFFFFF"/>
                </a:solidFill>
                <a:latin typeface="Arial"/>
              </a:defRPr>
            </a:pPr>
            <a:r>
              <a:t>1.25 million</a:t>
            </a:r>
            <a:endParaRPr lang="en-US" sz="13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61D796A0-51AE-8FC4-ED52-7C7412EB4B6F}"/>
              </a:ext>
            </a:extLst>
          </p:cNvPr>
          <p:cNvSpPr/>
          <p:nvPr/>
        </p:nvSpPr>
        <p:spPr>
          <a:xfrm>
            <a:off x="452628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defRPr sz="1500" b="0">
                <a:solidFill>
                  <a:srgbClr val="46534C"/>
                </a:solidFill>
                <a:latin typeface="Arial"/>
              </a:defRPr>
            </a:pPr>
            <a:r>
              <a:t>Violence-related injury deaths in 2019, including self-harm and conflict.</a:t>
            </a:r>
            <a:endParaRPr lang="en-US" sz="12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7783ED2F-548C-A7AC-7DFA-72F1CFA43077}"/>
              </a:ext>
            </a:extLst>
          </p:cNvPr>
          <p:cNvSpPr/>
          <p:nvPr/>
        </p:nvSpPr>
        <p:spPr>
          <a:xfrm>
            <a:off x="795528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BD14AC99-0775-98A8-13E4-172861EE28E4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solidFill>
            <a:srgbClr val="1425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DAAC04C4-1292-8F43-9FE5-1E152752B6E3}"/>
              </a:ext>
            </a:extLst>
          </p:cNvPr>
          <p:cNvSpPr/>
          <p:nvPr/>
        </p:nvSpPr>
        <p:spPr>
          <a:xfrm>
            <a:off x="795528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 algn="ctr">
              <a:spcAft>
                <a:spcPts val="600"/>
              </a:spcAft>
              <a:defRPr sz="2250" b="1">
                <a:solidFill>
                  <a:srgbClr val="FFFFFF"/>
                </a:solidFill>
                <a:latin typeface="Arial"/>
              </a:defRPr>
            </a:pPr>
            <a:r>
              <a:t>~12,000 / day</a:t>
            </a:r>
            <a:endParaRPr lang="en-US" sz="13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462E7A75-A4E9-3179-B351-AC44349DB9CF}"/>
              </a:ext>
            </a:extLst>
          </p:cNvPr>
          <p:cNvSpPr/>
          <p:nvPr/>
        </p:nvSpPr>
        <p:spPr>
          <a:xfrm>
            <a:off x="822960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defRPr sz="1500" b="0">
                <a:solidFill>
                  <a:srgbClr val="46534C"/>
                </a:solidFill>
                <a:latin typeface="Arial"/>
              </a:defRPr>
            </a:pPr>
            <a:r>
              <a:t>Approximate daily equivalent of 4.4 million. Not a count of public fights.</a:t>
            </a:r>
            <a:endParaRPr lang="en-US" sz="12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0E44F278-2528-5628-6C49-FD8711391855}"/>
              </a:ext>
            </a:extLst>
          </p:cNvPr>
          <p:cNvSpPr/>
          <p:nvPr/>
        </p:nvSpPr>
        <p:spPr>
          <a:xfrm>
            <a:off x="54864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/>
          <a:lstStyle/>
          <a:p>
            <a:pPr marL="0" indent="0">
              <a:spcAft>
                <a:spcPts val="600"/>
              </a:spcAft>
              <a:defRPr sz="1500" b="1">
                <a:solidFill>
                  <a:srgbClr val="14251D"/>
                </a:solidFill>
                <a:latin typeface="Arial"/>
              </a:defRPr>
            </a:pPr>
            <a:r>
              <a:t>WHAT THESE FIGURES MEAN FOR NIVRA</a:t>
            </a:r>
            <a:endParaRPr lang="en-US" sz="13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1A3A24E7-A066-0567-3F0D-558B41D4B2F7}"/>
              </a:ext>
            </a:extLst>
          </p:cNvPr>
          <p:cNvSpPr/>
          <p:nvPr/>
        </p:nvSpPr>
        <p:spPr>
          <a:xfrm>
            <a:off x="548640" y="4526280"/>
            <a:ext cx="10515600" cy="164592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Our focus is narrower: help staff notice a developing incident sooner.</a:t>
            </a:r>
            <a:endParaRPr lang="en-US" sz="1650" b="0" i="0" dirty="0">
              <a:solidFill>
                <a:srgbClr val="46534C"/>
              </a:solidFill>
              <a:latin typeface="Arial"/>
              <a:ea typeface="Arial"/>
              <a:cs typeface="Arial"/>
            </a:endParaRPr>
          </a:p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Test whether alerts are useful, timely and easy to review.</a:t>
            </a:r>
          </a:p>
          <a:p>
            <a:pPr marL="190500" lvl="0" indent="-190500" algn="l">
              <a:lnSpc>
                <a:spcPct val="110000"/>
              </a:lnSpc>
              <a:spcAft>
                <a:spcPts val="600"/>
              </a:spcAft>
              <a:buChar char="•"/>
              <a:defRPr sz="16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These global figures describe the problem; they do not prove NIVRA works.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r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>
            <a:extLst>
              <a:ext uri="{FF2B5EF4-FFF2-40B4-BE49-F238E27FC236}">
                <a16:creationId xmlns:a16="http://schemas.microsoft.com/office/drawing/2014/main" id="{356E6E85-492D-B094-25B7-D3450CDA3048}"/>
              </a:ext>
            </a:extLst>
          </p:cNvPr>
          <p:cNvSpPr/>
          <p:nvPr/>
        </p:nvSpPr>
        <p:spPr>
          <a:xfrm>
            <a:off x="6560321" y="1600200"/>
            <a:ext cx="5417179" cy="365760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9" name="Google Shape;219;p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  <a:defRPr sz="750" b="0">
                <a:solidFill>
                  <a:srgbClr val="222760"/>
                </a:solidFill>
                <a:latin typeface="Arial"/>
              </a:defRPr>
            </a:pPr>
            <a:endParaRPr>
              <a:latin typeface="Garamond" panose="02020404030301010803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B25E136-E311-1699-E79F-75EF9489A4C9}"/>
              </a:ext>
            </a:extLst>
          </p:cNvPr>
          <p:cNvSpPr/>
          <p:nvPr/>
        </p:nvSpPr>
        <p:spPr>
          <a:xfrm>
            <a:off x="552450" y="457200"/>
            <a:ext cx="5810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25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t>Research and References</a:t>
            </a:r>
            <a:endParaRPr lang="en-US" sz="2550" b="1" i="0" dirty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D6EB980-7877-F5B7-459A-D4B5D2BA7CDA}"/>
              </a:ext>
            </a:extLst>
          </p:cNvPr>
          <p:cNvSpPr/>
          <p:nvPr/>
        </p:nvSpPr>
        <p:spPr>
          <a:xfrm>
            <a:off x="548640" y="1600200"/>
            <a:ext cx="5775248" cy="365760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A5533E6-210A-9D2B-999D-6D1EDA53212C}"/>
              </a:ext>
            </a:extLst>
          </p:cNvPr>
          <p:cNvSpPr/>
          <p:nvPr/>
        </p:nvSpPr>
        <p:spPr>
          <a:xfrm>
            <a:off x="6697339" y="1749110"/>
            <a:ext cx="5432561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350" b="1" i="0">
                <a:solidFill>
                  <a:srgbClr val="14251D"/>
                </a:solidFill>
                <a:latin typeface="Arial"/>
                <a:ea typeface="Arial"/>
                <a:cs typeface="Arial"/>
              </a:defRPr>
            </a:pPr>
            <a:r>
              <a:t>IMPLEMENTED IN THE REPOSITORY</a:t>
            </a:r>
            <a:endParaRPr lang="en-US" sz="1350" b="1" i="0" dirty="0">
              <a:solidFill>
                <a:srgbClr val="14251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4169B4-1DCF-188F-ADF8-9FA49565252E}"/>
              </a:ext>
            </a:extLst>
          </p:cNvPr>
          <p:cNvSpPr/>
          <p:nvPr/>
        </p:nvSpPr>
        <p:spPr>
          <a:xfrm>
            <a:off x="6705600" y="457200"/>
            <a:ext cx="5048250" cy="60960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25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t>Technology Stack</a:t>
            </a:r>
            <a:endParaRPr lang="en-US" sz="2550" b="1" i="0" dirty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7C2F44F-88C0-E656-B432-7BB7AC7F20EC}"/>
              </a:ext>
            </a:extLst>
          </p:cNvPr>
          <p:cNvSpPr/>
          <p:nvPr/>
        </p:nvSpPr>
        <p:spPr>
          <a:xfrm>
            <a:off x="822960" y="1741932"/>
            <a:ext cx="5432561" cy="320040"/>
          </a:xfrm>
          <a:prstGeom prst="rect">
            <a:avLst/>
          </a:prstGeom>
          <a:noFill/>
          <a:ln/>
        </p:spPr>
        <p:txBody>
          <a:bodyPr wrap="square" lIns="38100" tIns="19050" rIns="38100" bIns="1905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350" b="1" i="0">
                <a:solidFill>
                  <a:srgbClr val="14251D"/>
                </a:solidFill>
                <a:latin typeface="Arial"/>
                <a:ea typeface="Arial"/>
                <a:cs typeface="Arial"/>
              </a:defRPr>
            </a:pPr>
            <a:r>
              <a:t>EVIDENCE AND SOURCES</a:t>
            </a:r>
            <a:endParaRPr lang="en-US" sz="1350" b="1" i="0" dirty="0">
              <a:solidFill>
                <a:srgbClr val="14251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819150" y="2190750"/>
            <a:ext cx="5219700" cy="2762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hlinkClick r:id="rId3"/>
              </a:rPr>
              <a:t>NIVRA repository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819150" y="2466975"/>
            <a:ext cx="5219700" cy="2667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Implementation, test fixtures and limitations.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819150" y="2771775"/>
            <a:ext cx="5219700" cy="2762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hlinkClick r:id="rId4"/>
              </a:rPr>
              <a:t>WHO | Injuries and violence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19150" y="3048000"/>
            <a:ext cx="5219700" cy="2667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Broad global burden; not product impact.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19150" y="3352800"/>
            <a:ext cx="5219700" cy="2762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hlinkClick r:id="rId5"/>
              </a:rPr>
              <a:t>MediaPipe Pose Landmarker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819150" y="3629025"/>
            <a:ext cx="5219700" cy="2667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Landmark API and model documentation.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819150" y="3933825"/>
            <a:ext cx="5219700" cy="2762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hlinkClick r:id="rId6"/>
              </a:rPr>
              <a:t>MoE school safety / DPDP Act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19150" y="4210050"/>
            <a:ext cx="5219700" cy="2667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Policy context and privacy review before trials.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19150" y="4514850"/>
            <a:ext cx="5219700" cy="2762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hlinkClick r:id="rId7"/>
              </a:rPr>
              <a:t>Axis Object Analytics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819150" y="4791075"/>
            <a:ext cx="5219700" cy="2667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Existing event-analytics category for comparison.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743700" y="2190750"/>
            <a:ext cx="4895850" cy="2762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React 19 + TypeScript + Vite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743700" y="2466975"/>
            <a:ext cx="4895850" cy="2667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Browser UI and production build.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743700" y="2771775"/>
            <a:ext cx="4895850" cy="2762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MediaPipe Tasks Vision 1.0.1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6743700" y="3048000"/>
            <a:ext cx="4895850" cy="2667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Pose Landmarker Full / Lite, float16.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743700" y="3352800"/>
            <a:ext cx="4895850" cy="2762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EfficientDet-Lite0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743700" y="3629025"/>
            <a:ext cx="4895850" cy="2667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Optional object analysis on CPU.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6743700" y="3933825"/>
            <a:ext cx="4895850" cy="2762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Web Workers + WASM + Canvas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743700" y="4210050"/>
            <a:ext cx="4895850" cy="2667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Two workers; GPU attempt / CPU fallback.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743700" y="4514850"/>
            <a:ext cx="4895850" cy="2762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650" b="1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Vitest + Playwright + Oxlint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743700" y="4791075"/>
            <a:ext cx="4895850" cy="2667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l">
              <a:lnSpc>
                <a:spcPct val="110000"/>
              </a:lnSpc>
              <a:spcAft>
                <a:spcPts val="600"/>
              </a:spcAft>
              <a:buNone/>
              <a:defRPr sz="1350" b="0" i="0">
                <a:solidFill>
                  <a:srgbClr val="46534C"/>
                </a:solidFill>
                <a:latin typeface="Arial"/>
                <a:ea typeface="Arial"/>
                <a:cs typeface="Arial"/>
              </a:defRPr>
            </a:pPr>
            <a:r>
              <a:t>Unit tests, browser tests and lint tools.</a:t>
            </a:r>
          </a:p>
        </p:txBody>
      </p:sp>
      <p:pic>
        <p:nvPicPr>
          <p:cNvPr id="240" name="Picture 2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15700" y="47625"/>
            <a:ext cx="619125" cy="533400"/>
          </a:xfrm>
          <a:prstGeom prst="rect">
            <a:avLst/>
          </a:prstGeom>
        </p:spPr>
      </p:pic>
      <p:sp>
        <p:nvSpPr>
          <p:cNvPr id="241" name="TextBox 240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r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855782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552450" y="457200"/>
            <a:ext cx="10382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Aft>
                <a:spcPts val="600"/>
              </a:spcAft>
              <a:buNone/>
              <a:defRPr sz="2850" b="1" i="0">
                <a:solidFill>
                  <a:srgbClr val="222760"/>
                </a:solidFill>
                <a:latin typeface="Georgia"/>
                <a:ea typeface="Georgia"/>
                <a:cs typeface="Georgia"/>
              </a:defRPr>
            </a:pPr>
            <a:r>
              <a:rPr lang="en-US" sz="2850" b="1" i="0" dirty="0">
                <a:solidFill>
                  <a:srgbClr val="222760"/>
                </a:solidFill>
                <a:latin typeface="Georgia"/>
                <a:ea typeface="Georgia"/>
                <a:cs typeface="Georgia"/>
              </a:rPr>
              <a:t>Team Member Details </a:t>
            </a:r>
            <a:endParaRPr sz="2850" b="1" i="0" dirty="0">
              <a:solidFill>
                <a:srgbClr val="222760"/>
              </a:solidFill>
              <a:latin typeface="Georgia"/>
              <a:ea typeface="Georgia"/>
              <a:cs typeface="Georgia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759B07-67C9-9D93-9ECF-CCE9D278DC24}"/>
              </a:ext>
            </a:extLst>
          </p:cNvPr>
          <p:cNvGraphicFramePr>
            <a:graphicFrameLocks noGrp="1"/>
          </p:cNvGraphicFramePr>
          <p:nvPr/>
        </p:nvGraphicFramePr>
        <p:xfrm>
          <a:off x="348792" y="2477265"/>
          <a:ext cx="10658475" cy="24821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30263179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92270666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84744027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3576290862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1951274119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2885562377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376403924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63951980"/>
                    </a:ext>
                  </a:extLst>
                </a:gridCol>
              </a:tblGrid>
              <a:tr h="35540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SL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Student  ID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Name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Class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DOB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Email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Phone Number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Gender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392453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223564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Harsh Jain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12C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23/04/2009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223564@pp.balbharati.org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9810141505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49989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218461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Tanishq Aggarwal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12C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09/05/2009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218461@pp.balbharati.org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9810398813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658894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201362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Keshav Garg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11/06/2009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201362@pp.balbharati.org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7011900075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468398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213266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Reyansh Garg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02/07/2009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213266@pp.balbharati.org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8595774056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487646"/>
                  </a:ext>
                </a:extLst>
              </a:tr>
              <a:tr h="423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213283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Asmi Sharma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12D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28/03/2010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213283@pp.balbharati.org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8595612803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t>Female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0958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F75299-7EEA-6AC5-6C80-566AFE7A7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189423"/>
              </p:ext>
            </p:extLst>
          </p:nvPr>
        </p:nvGraphicFramePr>
        <p:xfrm>
          <a:off x="348791" y="5574445"/>
          <a:ext cx="11613818" cy="779221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431146">
                  <a:extLst>
                    <a:ext uri="{9D8B030D-6E8A-4147-A177-3AD203B41FA5}">
                      <a16:colId xmlns:a16="http://schemas.microsoft.com/office/drawing/2014/main" val="3302631791"/>
                    </a:ext>
                  </a:extLst>
                </a:gridCol>
                <a:gridCol w="2123519">
                  <a:extLst>
                    <a:ext uri="{9D8B030D-6E8A-4147-A177-3AD203B41FA5}">
                      <a16:colId xmlns:a16="http://schemas.microsoft.com/office/drawing/2014/main" val="2847440272"/>
                    </a:ext>
                  </a:extLst>
                </a:gridCol>
                <a:gridCol w="1112363">
                  <a:extLst>
                    <a:ext uri="{9D8B030D-6E8A-4147-A177-3AD203B41FA5}">
                      <a16:colId xmlns:a16="http://schemas.microsoft.com/office/drawing/2014/main" val="3576290862"/>
                    </a:ext>
                  </a:extLst>
                </a:gridCol>
                <a:gridCol w="1049170">
                  <a:extLst>
                    <a:ext uri="{9D8B030D-6E8A-4147-A177-3AD203B41FA5}">
                      <a16:colId xmlns:a16="http://schemas.microsoft.com/office/drawing/2014/main" val="1951274119"/>
                    </a:ext>
                  </a:extLst>
                </a:gridCol>
                <a:gridCol w="2199024">
                  <a:extLst>
                    <a:ext uri="{9D8B030D-6E8A-4147-A177-3AD203B41FA5}">
                      <a16:colId xmlns:a16="http://schemas.microsoft.com/office/drawing/2014/main" val="2885562377"/>
                    </a:ext>
                  </a:extLst>
                </a:gridCol>
                <a:gridCol w="2199024">
                  <a:extLst>
                    <a:ext uri="{9D8B030D-6E8A-4147-A177-3AD203B41FA5}">
                      <a16:colId xmlns:a16="http://schemas.microsoft.com/office/drawing/2014/main" val="3940072084"/>
                    </a:ext>
                  </a:extLst>
                </a:gridCol>
                <a:gridCol w="1482396">
                  <a:extLst>
                    <a:ext uri="{9D8B030D-6E8A-4147-A177-3AD203B41FA5}">
                      <a16:colId xmlns:a16="http://schemas.microsoft.com/office/drawing/2014/main" val="1376403924"/>
                    </a:ext>
                  </a:extLst>
                </a:gridCol>
                <a:gridCol w="1017176">
                  <a:extLst>
                    <a:ext uri="{9D8B030D-6E8A-4147-A177-3AD203B41FA5}">
                      <a16:colId xmlns:a16="http://schemas.microsoft.com/office/drawing/2014/main" val="263951980"/>
                    </a:ext>
                  </a:extLst>
                </a:gridCol>
              </a:tblGrid>
              <a:tr h="37251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SL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Name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UID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Address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DOB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Email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Phone Number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sz="1100" b="1" dirty="0">
                          <a:latin typeface="Arial" panose="02020404030301010803" pitchFamily="18" charset="0"/>
                        </a:rPr>
                        <a:t>Gender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392453"/>
                  </a:ext>
                </a:extLst>
              </a:tr>
              <a:tr h="40671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rPr lang="en-IN" sz="1100" b="0">
                          <a:latin typeface="Arial" panose="020B0604020202020204" pitchFamily="34" charset="0"/>
                        </a:rPr>
                        <a:t>1</a:t>
                      </a:r>
                      <a:endParaRPr lang="en-IN" sz="1100" b="0" dirty="0">
                        <a:latin typeface="Arial" panose="020B0604020202020204" pitchFamily="34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rPr lang="en-IN" sz="1100" b="0">
                          <a:latin typeface="Arial" panose="020B0604020202020204" pitchFamily="34" charset="0"/>
                        </a:rPr>
                        <a:t>Chehak Kalra</a:t>
                      </a:r>
                      <a:endParaRPr lang="en-IN" sz="1100" b="0" dirty="0">
                        <a:latin typeface="Arial" panose="020B0604020202020204" pitchFamily="34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rPr lang="en-IN" sz="1100" b="0">
                          <a:latin typeface="Arial" panose="020B0604020202020204" pitchFamily="34" charset="0"/>
                        </a:rPr>
                        <a:t>400790233128</a:t>
                      </a:r>
                      <a:endParaRPr lang="en-IN" sz="1100" b="0" dirty="0">
                        <a:latin typeface="Arial" panose="020B0604020202020204" pitchFamily="34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rPr lang="en-IN" sz="1100" b="0">
                          <a:latin typeface="Arial" panose="020B0604020202020204" pitchFamily="34" charset="0"/>
                        </a:rPr>
                        <a:t>BBPSPP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rPr lang="en-IN" sz="1100" b="0">
                          <a:latin typeface="Arial" panose="020B0604020202020204" pitchFamily="34" charset="0"/>
                        </a:rPr>
                        <a:t>12/09/1996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rPr lang="en-IN" sz="1100" b="0">
                          <a:latin typeface="Arial" panose="020B0604020202020204" pitchFamily="34" charset="0"/>
                        </a:rPr>
                        <a:t>Chehak.kalra@pp.balbharati.org</a:t>
                      </a:r>
                      <a:endParaRPr lang="en-IN" sz="1100" b="0" dirty="0">
                        <a:latin typeface="Arial" panose="020B0604020202020204" pitchFamily="34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rPr lang="en-IN" sz="1100" b="0">
                          <a:latin typeface="Arial" panose="020B0604020202020204" pitchFamily="34" charset="0"/>
                        </a:rPr>
                        <a:t>9582507790</a:t>
                      </a: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4251D"/>
                          </a:solidFill>
                          <a:latin typeface="Arial"/>
                        </a:defRPr>
                      </a:pPr>
                      <a:r>
                        <a:rPr lang="en-IN" sz="1100" b="0">
                          <a:latin typeface="Arial" panose="020B0604020202020204" pitchFamily="34" charset="0"/>
                        </a:rPr>
                        <a:t>Female</a:t>
                      </a:r>
                      <a:endParaRPr lang="en-IN" sz="1100" b="0" dirty="0">
                        <a:latin typeface="Arial" panose="020B0604020202020204" pitchFamily="34" charset="0"/>
                      </a:endParaRPr>
                    </a:p>
                  </a:txBody>
                  <a:tcPr marL="66675" marR="666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499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2142D74-5B94-4BB9-E01D-920884BDDF84}"/>
              </a:ext>
            </a:extLst>
          </p:cNvPr>
          <p:cNvSpPr txBox="1"/>
          <p:nvPr/>
        </p:nvSpPr>
        <p:spPr>
          <a:xfrm>
            <a:off x="310838" y="2077155"/>
            <a:ext cx="2026517" cy="400110"/>
          </a:xfrm>
          <a:prstGeom prst="rect">
            <a:avLst/>
          </a:prstGeom>
          <a:noFill/>
        </p:spPr>
        <p:txBody>
          <a:bodyPr wrap="square" lIns="38100" tIns="19050" rIns="38100" bIns="19050" rtlCol="0" anchor="t">
            <a:noAutofit/>
          </a:bodyPr>
          <a:lstStyle/>
          <a:p>
            <a:r>
              <a:rPr lang="en-IN" sz="1800" b="1" i="0" dirty="0">
                <a:solidFill>
                  <a:srgbClr val="14251D"/>
                </a:solidFill>
                <a:latin typeface="Arial"/>
                <a:ea typeface="Arial"/>
                <a:cs typeface="Arial"/>
              </a:rPr>
              <a:t>Student’s Details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61244-D56B-7E3D-CD75-FB4BA993B192}"/>
              </a:ext>
            </a:extLst>
          </p:cNvPr>
          <p:cNvSpPr txBox="1"/>
          <p:nvPr/>
        </p:nvSpPr>
        <p:spPr>
          <a:xfrm>
            <a:off x="310838" y="5149127"/>
            <a:ext cx="1818126" cy="400110"/>
          </a:xfrm>
          <a:prstGeom prst="rect">
            <a:avLst/>
          </a:prstGeom>
          <a:noFill/>
        </p:spPr>
        <p:txBody>
          <a:bodyPr wrap="square" lIns="38100" tIns="19050" rIns="38100" bIns="19050" rtlCol="0" anchor="t">
            <a:noAutofit/>
          </a:bodyPr>
          <a:lstStyle/>
          <a:p>
            <a:r>
              <a:rPr lang="en-IN" sz="1800" b="1" i="0" dirty="0">
                <a:solidFill>
                  <a:srgbClr val="14251D"/>
                </a:solidFill>
                <a:latin typeface="Arial"/>
                <a:ea typeface="Arial"/>
                <a:cs typeface="Arial"/>
              </a:rPr>
              <a:t>Mentor Details</a:t>
            </a:r>
          </a:p>
        </p:txBody>
      </p:sp>
      <p:pic>
        <p:nvPicPr>
          <p:cNvPr id="238" name="Picture 2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25" y="266700"/>
            <a:ext cx="714375" cy="619125"/>
          </a:xfrm>
          <a:prstGeom prst="rect">
            <a:avLst/>
          </a:prstGeom>
        </p:spPr>
      </p:pic>
      <p:sp>
        <p:nvSpPr>
          <p:cNvPr id="239" name="TextBox 238"/>
          <p:cNvSpPr txBox="1"/>
          <p:nvPr/>
        </p:nvSpPr>
        <p:spPr>
          <a:xfrm>
            <a:off x="571500" y="1381125"/>
            <a:ext cx="7620000" cy="304800"/>
          </a:xfrm>
          <a:prstGeom prst="rect">
            <a:avLst/>
          </a:prstGeom>
          <a:noFill/>
        </p:spPr>
        <p:txBody>
          <a:bodyPr wrap="square" lIns="38100" tIns="19050" rIns="38100" bIns="19050" anchor="t">
            <a:spAutoFit/>
          </a:bodyPr>
          <a:lstStyle/>
          <a:p>
            <a:pPr marL="0" indent="0">
              <a:spcAft>
                <a:spcPts val="600"/>
              </a:spcAft>
              <a:defRPr sz="1650" b="1">
                <a:solidFill>
                  <a:srgbClr val="14251D"/>
                </a:solidFill>
                <a:latin typeface="Arial"/>
              </a:defRPr>
            </a:pPr>
            <a:r>
              <a:t>Team leader: Harsh Jain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1001375" y="6524625"/>
            <a:ext cx="714375" cy="238125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marL="0" lvl="0" indent="0" algn="r">
              <a:lnSpc>
                <a:spcPct val="110000"/>
              </a:lnSpc>
              <a:spcAft>
                <a:spcPts val="600"/>
              </a:spcAft>
              <a:buNone/>
              <a:defRPr sz="975" b="0" i="0">
                <a:solidFill>
                  <a:srgbClr val="222760"/>
                </a:solidFill>
                <a:latin typeface="Arial"/>
                <a:ea typeface="Arial"/>
                <a:cs typeface="Arial"/>
              </a:defRPr>
            </a:pPr>
            <a: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610963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1157</Words>
  <Application>Microsoft Office PowerPoint</Application>
  <PresentationFormat>Widescreen</PresentationFormat>
  <Paragraphs>220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Franklin Gothic</vt:lpstr>
      <vt:lpstr>Garamond</vt:lpstr>
      <vt:lpstr>Georgia</vt:lpstr>
      <vt:lpstr>Libre Franklin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Member Details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 Jain</cp:lastModifiedBy>
  <cp:revision>8</cp:revision>
  <dcterms:created xsi:type="dcterms:W3CDTF">2026-08-17T04:57:11Z</dcterms:created>
  <dcterms:modified xsi:type="dcterms:W3CDTF">2026-09-21T10:57:15Z</dcterms:modified>
</cp:coreProperties>
</file>