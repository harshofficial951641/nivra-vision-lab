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12f8ecdbc3c46ce" /><Relationship Type="http://schemas.openxmlformats.org/officeDocument/2006/relationships/extended-properties" Target="/docProps/app.xml" Id="R6ae137271cf940f8" /><Relationship Type="http://schemas.openxmlformats.org/officeDocument/2006/relationships/officeDocument" Target="/ppt/presentation.xml" Id="R7459aadc441545d3" /></Relationships>
</file>

<file path=ppt/presentation.xml><?xml version="1.0" encoding="utf-8"?>
<p:presentation xmlns:p="http://schemas.openxmlformats.org/presentationml/2006/main">
  <p:sldMasterIdLst>
    <p:sldMasterId xmlns:r="http://schemas.openxmlformats.org/officeDocument/2006/relationships" id="2147483648" r:id="R2609a2dffbe9409c"/>
  </p:sldMasterIdLst>
  <p:notesMasterIdLst>
    <p:notesMasterId xmlns:r="http://schemas.openxmlformats.org/officeDocument/2006/relationships" r:id="R2b6bf6814a1b4ab8"/>
  </p:notesMasterIdLst>
  <p:sldIdLst>
    <p:sldId xmlns:r="http://schemas.openxmlformats.org/officeDocument/2006/relationships" id="256" r:id="R40997176b4ba44a0"/>
    <p:sldId xmlns:r="http://schemas.openxmlformats.org/officeDocument/2006/relationships" id="257" r:id="Rf18950cad0254790"/>
    <p:sldId xmlns:r="http://schemas.openxmlformats.org/officeDocument/2006/relationships" id="258" r:id="R755d2a3353b04c97"/>
    <p:sldId xmlns:r="http://schemas.openxmlformats.org/officeDocument/2006/relationships" id="259" r:id="R1b65dc6fee214c01"/>
    <p:sldId xmlns:r="http://schemas.openxmlformats.org/officeDocument/2006/relationships" id="260" r:id="R6ee100e87eed4021"/>
    <p:sldId xmlns:r="http://schemas.openxmlformats.org/officeDocument/2006/relationships" id="261" r:id="Rc131ca7ea9a2453b"/>
    <p:sldId xmlns:r="http://schemas.openxmlformats.org/officeDocument/2006/relationships" id="262" r:id="R24e8bd8c5c2b4cb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04d31096b0b4be3" /><Relationship Type="http://schemas.openxmlformats.org/officeDocument/2006/relationships/slideMaster" Target="/ppt/slideMasters/slideMaster1.xml" Id="R2609a2dffbe9409c" /><Relationship Type="http://schemas.openxmlformats.org/officeDocument/2006/relationships/notesMaster" Target="/ppt/notesMasters/notesMaster1.xml" Id="R2b6bf6814a1b4ab8" /><Relationship Type="http://schemas.openxmlformats.org/officeDocument/2006/relationships/presProps" Target="/ppt/presProps.xml" Id="R0730671721dd4bda" /><Relationship Type="http://schemas.openxmlformats.org/officeDocument/2006/relationships/tableStyles" Target="/ppt/tableStyles.xml" Id="R5e5a55bbb7d946df" /><Relationship Type="http://schemas.openxmlformats.org/officeDocument/2006/relationships/slide" Target="/ppt/slides/slide1.xml" Id="R40997176b4ba44a0" /><Relationship Type="http://schemas.openxmlformats.org/officeDocument/2006/relationships/slide" Target="/ppt/slides/slide2.xml" Id="Rf18950cad0254790" /><Relationship Type="http://schemas.openxmlformats.org/officeDocument/2006/relationships/slide" Target="/ppt/slides/slide3.xml" Id="R755d2a3353b04c97" /><Relationship Type="http://schemas.openxmlformats.org/officeDocument/2006/relationships/slide" Target="/ppt/slides/slide4.xml" Id="R1b65dc6fee214c01" /><Relationship Type="http://schemas.openxmlformats.org/officeDocument/2006/relationships/slide" Target="/ppt/slides/slide5.xml" Id="R6ee100e87eed4021" /><Relationship Type="http://schemas.openxmlformats.org/officeDocument/2006/relationships/slide" Target="/ppt/slides/slide6.xml" Id="Rc131ca7ea9a2453b" /><Relationship Type="http://schemas.openxmlformats.org/officeDocument/2006/relationships/slide" Target="/ppt/slides/slide7.xml" Id="R24e8bd8c5c2b4cb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d07b2a50dd14d6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d51865bd3e843c0" /><Relationship Type="http://schemas.openxmlformats.org/officeDocument/2006/relationships/notesMaster" Target="/ppt/notesMasters/notesMaster1.xml" Id="R27c5813a0d1846c9" /></Relationships>
</file>

<file path=ppt/notesSlides/_rels/notesSlide2.xml.rels>&#65279;<?xml version="1.0" encoding="utf-8"?><Relationships xmlns="http://schemas.openxmlformats.org/package/2006/relationships"><Relationship Type="http://schemas.openxmlformats.org/officeDocument/2006/relationships/slide" Target="/ppt/slides/slide2.xml" Id="R53de173dfada479a" /><Relationship Type="http://schemas.openxmlformats.org/officeDocument/2006/relationships/notesMaster" Target="/ppt/notesMasters/notesMaster1.xml" Id="R5e980b07cc204868" /></Relationships>
</file>

<file path=ppt/notesSlides/_rels/notesSlide3.xml.rels>&#65279;<?xml version="1.0" encoding="utf-8"?><Relationships xmlns="http://schemas.openxmlformats.org/package/2006/relationships"><Relationship Type="http://schemas.openxmlformats.org/officeDocument/2006/relationships/slide" Target="/ppt/slides/slide3.xml" Id="R8505f90235ac4b9f" /><Relationship Type="http://schemas.openxmlformats.org/officeDocument/2006/relationships/notesMaster" Target="/ppt/notesMasters/notesMaster1.xml" Id="R95a0f0a4e0e84103" /></Relationships>
</file>

<file path=ppt/notesSlides/_rels/notesSlide4.xml.rels>&#65279;<?xml version="1.0" encoding="utf-8"?><Relationships xmlns="http://schemas.openxmlformats.org/package/2006/relationships"><Relationship Type="http://schemas.openxmlformats.org/officeDocument/2006/relationships/slide" Target="/ppt/slides/slide4.xml" Id="Raa05d156a8c84207" /><Relationship Type="http://schemas.openxmlformats.org/officeDocument/2006/relationships/notesMaster" Target="/ppt/notesMasters/notesMaster1.xml" Id="Rd4fef08421f445f4" /></Relationships>
</file>

<file path=ppt/notesSlides/_rels/notesSlide5.xml.rels>&#65279;<?xml version="1.0" encoding="utf-8"?><Relationships xmlns="http://schemas.openxmlformats.org/package/2006/relationships"><Relationship Type="http://schemas.openxmlformats.org/officeDocument/2006/relationships/slide" Target="/ppt/slides/slide5.xml" Id="R135a3ead5a7b41ba" /><Relationship Type="http://schemas.openxmlformats.org/officeDocument/2006/relationships/notesMaster" Target="/ppt/notesMasters/notesMaster1.xml" Id="R1a68f419382a4076" /></Relationships>
</file>

<file path=ppt/notesSlides/_rels/notesSlide6.xml.rels>&#65279;<?xml version="1.0" encoding="utf-8"?><Relationships xmlns="http://schemas.openxmlformats.org/package/2006/relationships"><Relationship Type="http://schemas.openxmlformats.org/officeDocument/2006/relationships/slide" Target="/ppt/slides/slide6.xml" Id="R60e91ca52cad41e0" /><Relationship Type="http://schemas.openxmlformats.org/officeDocument/2006/relationships/notesMaster" Target="/ppt/notesMasters/notesMaster1.xml" Id="Rd2b6207e5c644056" /></Relationships>
</file>

<file path=ppt/notesSlides/_rels/notesSlide7.xml.rels>&#65279;<?xml version="1.0" encoding="utf-8"?><Relationships xmlns="http://schemas.openxmlformats.org/package/2006/relationships"><Relationship Type="http://schemas.openxmlformats.org/officeDocument/2006/relationships/slide" Target="/ppt/slides/slide7.xml" Id="Rb47f528aff024bec" /><Relationship Type="http://schemas.openxmlformats.org/officeDocument/2006/relationships/notesMaster" Target="/ppt/notesMasters/notesMaster1.xml" Id="Rb17d088afc7049d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NIVRA is an idea, not a validated prototype. Structure follows Idea Submission Template BBH3.0, content slides 1–7. All generated imagery is conceptual. Personal details, team size and category left blank at user request. PP prefix is based on school usage, not a verified hackathon code list. T3 chosen for AI for Good.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NIVRA is an idea, not a validated prototype. Structure follows Idea Submission Template BBH3.0, content slides 1–7. All generated imagery is conceptual. Proposed users: campus safety staff, teachers and event marshals. Problem is a hypothesis to validate; no user interviews or impact measurements are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NIVRA is an idea, not a validated prototype. Structure follows Idea Submission Template BBH3.0, content slides 1–7. All generated imagery is conceptual. Candidate design, not implemented. Camera/browser compatibility, multi-person tracking and temporal thresholds need validation. Short video buffer proposed; event metadata is the default stored record.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NIVRA is an idea, not a validated prototype. Structure follows Idea Submission Template BBH3.0, content slides 1–7. All generated imagery is conceptual. Resource needs are a plan, not an inventory of confirmed team skills or equipment. Test false alerts, missed staged events, and delivery/acknowledgement failures. No guaranteed detection accuracy.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NIVRA is an idea, not a validated prototype. Structure follows Idea Submission Template BBH3.0, content slides 1–7. All generated imagery is conceptual. All benefits are intended outcomes. Evaluate time to review, time to acknowledgement, false alerts and missed staged events before any expansion.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NIVRA is an idea, not a validated prototype. Structure follows Idea Submission Template BBH3.0, content slides 1–7. All generated imagery is conceptual. Sources: https://dsel.education.gov.in/sites/default/files/guidelines/guidelines_sss.pdf</a:t>
            </a:r>
          </a:p>
          <a:p xmlns:a="http://schemas.openxmlformats.org/drawingml/2006/main">
            <a:r>
              <a:t>https://research.google/blog/on-device-real-time-body-pose-tracking-with-mediapipe-blazepose/</a:t>
            </a:r>
          </a:p>
          <a:p xmlns:a="http://schemas.openxmlformats.org/drawingml/2006/main">
            <a:r>
              <a:t>https://developers.google.com/edge/mediapipe/solutions/vision/pose_landmarker/web_js</a:t>
            </a:r>
          </a:p>
          <a:p xmlns:a="http://schemas.openxmlformats.org/drawingml/2006/main">
            <a:r>
              <a:t>https://www.axis.com/products/axis-object-analytics</a:t>
            </a:r>
          </a:p>
          <a:p xmlns:a="http://schemas.openxmlformats.org/drawingml/2006/main">
            <a:r>
              <a:t>https://www.meity.gov.in/static/uploads/2024/06/2bf1f0e9f04e6fb4f8fef35e82c42aa5.pdf</a:t>
            </a:r>
          </a:p>
          <a:p xmlns:a="http://schemas.openxmlformats.org/drawingml/2006/main">
            <a:r>
              <a:t>Sources accessed September 2026. Dataset is planned self-collected material, not an existing dataset.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NIVRA is an idea, not a validated prototype. Structure follows Idea Submission Template BBH3.0, content slides 1–7. All generated imagery is conceptual. All student and mentor details deliberately left blank at user request. Tables remain native and editable. Fill only the applicable student rows before submission.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727b3cb76364f7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d95c97af6494066" /><Relationship Type="http://schemas.openxmlformats.org/officeDocument/2006/relationships/slideLayout" Target="/ppt/slideLayouts/slideLayout1.xml" Id="Rb6fa5fc8d79b428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6fa5fc8d79b428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fe7030a838a416a" /><Relationship Type="http://schemas.openxmlformats.org/officeDocument/2006/relationships/image" Target="/ppt/media/image.png" Id="Rbac73c24877143e1" /><Relationship Type="http://schemas.openxmlformats.org/officeDocument/2006/relationships/image" Target="/ppt/media/image2.png" Id="Rb6fc53d56c5a4072" /><Relationship Type="http://schemas.openxmlformats.org/officeDocument/2006/relationships/notesSlide" Target="/ppt/notesSlides/notesSlide1.xml" Id="Raa8d1526f8f54ee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1022e5ff08944d9" /><Relationship Type="http://schemas.openxmlformats.org/officeDocument/2006/relationships/image" Target="/ppt/media/image3.png" Id="R943aa62a22644a6c" /><Relationship Type="http://schemas.openxmlformats.org/officeDocument/2006/relationships/image" Target="/ppt/media/image4.png" Id="R87d9a515198c427d" /><Relationship Type="http://schemas.openxmlformats.org/officeDocument/2006/relationships/notesSlide" Target="/ppt/notesSlides/notesSlide2.xml" Id="Rf3ae64f365ff4f6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b37052b1d5c4c3e" /><Relationship Type="http://schemas.openxmlformats.org/officeDocument/2006/relationships/notesSlide" Target="/ppt/notesSlides/notesSlide3.xml" Id="R31ad4edd6aed415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9768a0a4dc4458f" /><Relationship Type="http://schemas.openxmlformats.org/officeDocument/2006/relationships/notesSlide" Target="/ppt/notesSlides/notesSlide4.xml" Id="R0bce3fd3bb284e5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abefe3ab0f94d49" /><Relationship Type="http://schemas.openxmlformats.org/officeDocument/2006/relationships/notesSlide" Target="/ppt/notesSlides/notesSlide5.xml" Id="Rc04089a7d6db4d4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d4e67085c054522" /><Relationship Type="http://schemas.openxmlformats.org/officeDocument/2006/relationships/notesSlide" Target="/ppt/notesSlides/notesSlide6.xml" Id="Rc24160a7eb87491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f2bc91bed4341fb" /><Relationship Type="http://schemas.openxmlformats.org/officeDocument/2006/relationships/notesSlide" Target="/ppt/notesSlides/notesSlide7.xml" Id="R9cd0efd056404d71" /></Relationships>
</file>

<file path=ppt/slides/slide1.xml><?xml version="1.0" encoding="utf-8"?>
<p:sld xmlns:p="http://schemas.openxmlformats.org/presentationml/2006/main">
  <p:cSld>
    <p:bg>
      <p:bgPr>
        <a:solidFill xmlns:a="http://schemas.openxmlformats.org/drawingml/2006/main">
          <a:srgbClr val="F7FAF5"/>
        </a:solidFill>
      </p:bgPr>
    </p:bg>
    <p:spTree>
      <p:nvGrpSpPr>
        <p:cNvPr id="1" name=""/>
        <p:cNvGrpSpPr/>
        <p:nvPr/>
      </p:nvGrpSpPr>
      <p:grpSpPr>
        <a:xfrm xmlns:a="http://schemas.openxmlformats.org/drawingml/2006/main"/>
      </p:grpSpPr>
      <p:sp>
        <p:nvSpPr>
          <p:cNvPr id="15" name="text-1">
            <a:extLst xmlns:a="http://schemas.openxmlformats.org/drawingml/2006/main">
              <a:ext uri="{FF2B5EF4-FFF2-40B4-BE49-F238E27FC236}">
                <a16:creationId xmlns:a16="http://schemas.microsoft.com/office/drawing/2014/main" id="{3AFA6868-6B5A-4FF4-BF69-89C81BA13E87}"/>
              </a:ext>
            </a:extLst>
          </p:cNvPr>
          <p:cNvSpPr>
            <a:spLocks xmlns:a="http://schemas.openxmlformats.org/drawingml/2006/main" noGrp="1"/>
          </p:cNvSpPr>
          <p:nvPr/>
        </p:nvSpPr>
        <p:spPr>
          <a:xfrm xmlns:a="http://schemas.openxmlformats.org/drawingml/2006/main">
            <a:off x="533400" y="6457950"/>
            <a:ext cx="981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75" b="0">
                <a:solidFill>
                  <a:srgbClr val="506056"/>
                </a:solidFill>
                <a:latin typeface="Arial"/>
                <a:ea typeface="Arial"/>
                <a:cs typeface="Arial"/>
              </a:defRPr>
            </a:pPr>
            <a:r>
              <a:rPr sz="975" b="0">
                <a:solidFill>
                  <a:srgbClr val="506056"/>
                </a:solidFill>
                <a:latin typeface="Arial"/>
                <a:ea typeface="Arial"/>
                <a:cs typeface="Arial"/>
              </a:rPr>
              <a:t>NIVRA / BAL BHARATI HACKATHON 3.0</a:t>
            </a:r>
          </a:p>
        </p:txBody>
      </p:sp>
      <p:sp>
        <p:nvSpPr>
          <p:cNvPr id="2" name="text-2">
            <a:extLst xmlns:a="http://schemas.openxmlformats.org/drawingml/2006/main">
              <a:ext uri="{FF2B5EF4-FFF2-40B4-BE49-F238E27FC236}">
                <a16:creationId xmlns:a16="http://schemas.microsoft.com/office/drawing/2014/main" id="{AA8F342F-E4A3-4B7A-9DA3-BB00EA0CCDDA}"/>
              </a:ext>
            </a:extLst>
          </p:cNvPr>
          <p:cNvSpPr>
            <a:spLocks xmlns:a="http://schemas.openxmlformats.org/drawingml/2006/main" noGrp="1"/>
          </p:cNvSpPr>
          <p:nvPr/>
        </p:nvSpPr>
        <p:spPr>
          <a:xfrm xmlns:a="http://schemas.openxmlformats.org/drawingml/2006/main">
            <a:off x="11239500" y="6419850"/>
            <a:ext cx="419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14251D"/>
                </a:solidFill>
                <a:latin typeface="Arial"/>
                <a:ea typeface="Arial"/>
                <a:cs typeface="Arial"/>
              </a:defRPr>
            </a:pPr>
            <a:r>
              <a:rPr sz="1200" b="0">
                <a:solidFill>
                  <a:srgbClr val="14251D"/>
                </a:solidFill>
                <a:latin typeface="Arial"/>
                <a:ea typeface="Arial"/>
                <a:cs typeface="Arial"/>
              </a:rPr>
              <a:t>01</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bac73c24877143e1"/>
          <a:srcRect xmlns:a="http://schemas.openxmlformats.org/drawingml/2006/main" l="7870" t="0" r="7870" b="0"/>
          <a:stretch xmlns:a="http://schemas.openxmlformats.org/drawingml/2006/main">
            <a:fillRect l="0" t="0" r="0" b="0"/>
          </a:stretch>
        </p:blipFill>
        <p:spPr>
          <a:xfrm xmlns:a="http://schemas.openxmlformats.org/drawingml/2006/main">
            <a:off x="7858125" y="0"/>
            <a:ext cx="4333875" cy="6858000"/>
          </a:xfrm>
          <a:prstGeom xmlns:a="http://schemas.openxmlformats.org/drawingml/2006/main" prst="rect">
            <a:avLst/>
          </a:prstGeom>
        </p:spPr>
      </p:pic>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b6fc53d56c5a4072"/>
          <a:stretch xmlns:a="http://schemas.openxmlformats.org/drawingml/2006/main"/>
        </p:blipFill>
        <p:spPr>
          <a:xfrm xmlns:a="http://schemas.openxmlformats.org/drawingml/2006/main">
            <a:off x="457200" y="314325"/>
            <a:ext cx="781050" cy="781050"/>
          </a:xfrm>
          <a:prstGeom xmlns:a="http://schemas.openxmlformats.org/drawingml/2006/main" prst="rect">
            <a:avLst/>
          </a:prstGeom>
        </p:spPr>
      </p:pic>
      <p:sp>
        <p:nvSpPr>
          <p:cNvPr id="5" name="text-3">
            <a:extLst xmlns:a="http://schemas.openxmlformats.org/drawingml/2006/main">
              <a:ext uri="{FF2B5EF4-FFF2-40B4-BE49-F238E27FC236}">
                <a16:creationId xmlns:a16="http://schemas.microsoft.com/office/drawing/2014/main" id="{275BA00F-46A7-44B2-B20C-92049FB47B07}"/>
              </a:ext>
            </a:extLst>
          </p:cNvPr>
          <p:cNvSpPr>
            <a:spLocks xmlns:a="http://schemas.openxmlformats.org/drawingml/2006/main" noGrp="1"/>
          </p:cNvSpPr>
          <p:nvPr/>
        </p:nvSpPr>
        <p:spPr>
          <a:xfrm xmlns:a="http://schemas.openxmlformats.org/drawingml/2006/main">
            <a:off x="1304925" y="438150"/>
            <a:ext cx="6000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5100" b="1">
                <a:solidFill>
                  <a:srgbClr val="14251D"/>
                </a:solidFill>
                <a:latin typeface="Arial"/>
                <a:ea typeface="Arial"/>
                <a:cs typeface="Arial"/>
              </a:defRPr>
            </a:pPr>
            <a:r>
              <a:rPr sz="5100" b="1">
                <a:solidFill>
                  <a:srgbClr val="14251D"/>
                </a:solidFill>
                <a:latin typeface="Arial"/>
                <a:ea typeface="Arial"/>
                <a:cs typeface="Arial"/>
              </a:rPr>
              <a:t>NIVRA</a:t>
            </a:r>
          </a:p>
        </p:txBody>
      </p:sp>
      <p:sp>
        <p:nvSpPr>
          <p:cNvPr id="6" name="text-4">
            <a:extLst xmlns:a="http://schemas.openxmlformats.org/drawingml/2006/main">
              <a:ext uri="{FF2B5EF4-FFF2-40B4-BE49-F238E27FC236}">
                <a16:creationId xmlns:a16="http://schemas.microsoft.com/office/drawing/2014/main" id="{9BA90917-14C4-48E7-BC69-7A196AED7DA5}"/>
              </a:ext>
            </a:extLst>
          </p:cNvPr>
          <p:cNvSpPr>
            <a:spLocks xmlns:a="http://schemas.openxmlformats.org/drawingml/2006/main" noGrp="1"/>
          </p:cNvSpPr>
          <p:nvPr/>
        </p:nvSpPr>
        <p:spPr>
          <a:xfrm xmlns:a="http://schemas.openxmlformats.org/drawingml/2006/main">
            <a:off x="533400" y="1466850"/>
            <a:ext cx="709612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5250" b="1">
                <a:solidFill>
                  <a:srgbClr val="14251D"/>
                </a:solidFill>
                <a:latin typeface="Arial"/>
                <a:ea typeface="Arial"/>
                <a:cs typeface="Arial"/>
              </a:defRPr>
            </a:pPr>
            <a:r>
              <a:rPr sz="5250" b="1">
                <a:solidFill>
                  <a:srgbClr val="14251D"/>
                </a:solidFill>
                <a:latin typeface="Arial"/>
                <a:ea typeface="Arial"/>
                <a:cs typeface="Arial"/>
              </a:rPr>
              <a:t>Before impact.</a:t>
            </a:r>
          </a:p>
        </p:txBody>
      </p:sp>
      <p:sp>
        <p:nvSpPr>
          <p:cNvPr id="7" name="text-5">
            <a:extLst xmlns:a="http://schemas.openxmlformats.org/drawingml/2006/main">
              <a:ext uri="{FF2B5EF4-FFF2-40B4-BE49-F238E27FC236}">
                <a16:creationId xmlns:a16="http://schemas.microsoft.com/office/drawing/2014/main" id="{EC8B0EA6-3553-4BFD-94E2-ED406255EA03}"/>
              </a:ext>
            </a:extLst>
          </p:cNvPr>
          <p:cNvSpPr>
            <a:spLocks xmlns:a="http://schemas.openxmlformats.org/drawingml/2006/main" noGrp="1"/>
          </p:cNvSpPr>
          <p:nvPr/>
        </p:nvSpPr>
        <p:spPr>
          <a:xfrm xmlns:a="http://schemas.openxmlformats.org/drawingml/2006/main">
            <a:off x="561975" y="2514600"/>
            <a:ext cx="69723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506056"/>
                </a:solidFill>
                <a:latin typeface="Arial"/>
                <a:ea typeface="Arial"/>
                <a:cs typeface="Arial"/>
              </a:defRPr>
            </a:pPr>
            <a:r>
              <a:rPr sz="1575" b="0">
                <a:solidFill>
                  <a:srgbClr val="506056"/>
                </a:solidFill>
                <a:latin typeface="Arial"/>
                <a:ea typeface="Arial"/>
                <a:cs typeface="Arial"/>
              </a:rPr>
              <a:t>Bal Bharati Hackathon 3.0 / Idea Submission</a:t>
            </a:r>
          </a:p>
        </p:txBody>
      </p:sp>
      <p:sp>
        <p:nvSpPr>
          <p:cNvPr id="8" name="text-6">
            <a:extLst xmlns:a="http://schemas.openxmlformats.org/drawingml/2006/main">
              <a:ext uri="{FF2B5EF4-FFF2-40B4-BE49-F238E27FC236}">
                <a16:creationId xmlns:a16="http://schemas.microsoft.com/office/drawing/2014/main" id="{FD74A814-2D3D-4BE3-B41C-EE65B9422FEB}"/>
              </a:ext>
            </a:extLst>
          </p:cNvPr>
          <p:cNvSpPr>
            <a:spLocks xmlns:a="http://schemas.openxmlformats.org/drawingml/2006/main" noGrp="1"/>
          </p:cNvSpPr>
          <p:nvPr/>
        </p:nvSpPr>
        <p:spPr>
          <a:xfrm xmlns:a="http://schemas.openxmlformats.org/drawingml/2006/main">
            <a:off x="561975" y="3124200"/>
            <a:ext cx="676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1">
                <a:solidFill>
                  <a:srgbClr val="506056"/>
                </a:solidFill>
                <a:latin typeface="Arial"/>
                <a:ea typeface="Arial"/>
                <a:cs typeface="Arial"/>
              </a:defRPr>
            </a:pPr>
            <a:r>
              <a:rPr sz="1200" b="1">
                <a:solidFill>
                  <a:srgbClr val="506056"/>
                </a:solidFill>
                <a:latin typeface="Arial"/>
                <a:ea typeface="Arial"/>
                <a:cs typeface="Arial"/>
              </a:rPr>
              <a:t>PROBLEM STATEMENT</a:t>
            </a:r>
          </a:p>
        </p:txBody>
      </p:sp>
      <p:sp>
        <p:nvSpPr>
          <p:cNvPr id="9" name="text-7">
            <a:extLst xmlns:a="http://schemas.openxmlformats.org/drawingml/2006/main">
              <a:ext uri="{FF2B5EF4-FFF2-40B4-BE49-F238E27FC236}">
                <a16:creationId xmlns:a16="http://schemas.microsoft.com/office/drawing/2014/main" id="{3749037D-CA26-4285-90CB-B68C7B39F365}"/>
              </a:ext>
            </a:extLst>
          </p:cNvPr>
          <p:cNvSpPr>
            <a:spLocks xmlns:a="http://schemas.openxmlformats.org/drawingml/2006/main" noGrp="1"/>
          </p:cNvSpPr>
          <p:nvPr/>
        </p:nvSpPr>
        <p:spPr>
          <a:xfrm xmlns:a="http://schemas.openxmlformats.org/drawingml/2006/main">
            <a:off x="561975" y="3476625"/>
            <a:ext cx="676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14251D"/>
                </a:solidFill>
                <a:latin typeface="Arial"/>
                <a:ea typeface="Arial"/>
                <a:cs typeface="Arial"/>
              </a:defRPr>
            </a:pPr>
            <a:r>
              <a:rPr sz="2100" b="1">
                <a:solidFill>
                  <a:srgbClr val="14251D"/>
                </a:solidFill>
                <a:latin typeface="Arial"/>
                <a:ea typeface="Arial"/>
                <a:cs typeface="Arial"/>
              </a:rPr>
              <a:t>Developing incidents can go unnoticed;</a:t>
            </a:r>
          </a:p>
          <a:p xmlns:a="http://schemas.openxmlformats.org/drawingml/2006/main">
            <a:pPr>
              <a:defRPr sz="2100" b="1">
                <a:solidFill>
                  <a:srgbClr val="14251D"/>
                </a:solidFill>
                <a:latin typeface="Arial"/>
                <a:ea typeface="Arial"/>
                <a:cs typeface="Arial"/>
              </a:defRPr>
            </a:pPr>
            <a:r>
              <a:rPr sz="2100" b="1">
                <a:solidFill>
                  <a:srgbClr val="14251D"/>
                </a:solidFill>
                <a:latin typeface="Arial"/>
                <a:ea typeface="Arial"/>
                <a:cs typeface="Arial"/>
              </a:rPr>
              <a:t>camera footage alone cannot bring help.</a:t>
            </a:r>
          </a:p>
        </p:txBody>
      </p:sp>
      <p:sp>
        <p:nvSpPr>
          <p:cNvPr id="10" name="text-8">
            <a:extLst xmlns:a="http://schemas.openxmlformats.org/drawingml/2006/main">
              <a:ext uri="{FF2B5EF4-FFF2-40B4-BE49-F238E27FC236}">
                <a16:creationId xmlns:a16="http://schemas.microsoft.com/office/drawing/2014/main" id="{FB22D913-1CC9-4896-ABB5-036D864696E5}"/>
              </a:ext>
            </a:extLst>
          </p:cNvPr>
          <p:cNvSpPr>
            <a:spLocks xmlns:a="http://schemas.openxmlformats.org/drawingml/2006/main" noGrp="1"/>
          </p:cNvSpPr>
          <p:nvPr/>
        </p:nvSpPr>
        <p:spPr>
          <a:xfrm xmlns:a="http://schemas.openxmlformats.org/drawingml/2006/main">
            <a:off x="561975" y="4552950"/>
            <a:ext cx="68389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14251D"/>
                </a:solidFill>
                <a:latin typeface="Arial"/>
                <a:ea typeface="Arial"/>
                <a:cs typeface="Arial"/>
              </a:defRPr>
            </a:pPr>
            <a:r>
              <a:rPr sz="1725" b="0">
                <a:solidFill>
                  <a:srgbClr val="14251D"/>
                </a:solidFill>
                <a:latin typeface="Arial"/>
                <a:ea typeface="Arial"/>
                <a:cs typeface="Arial"/>
              </a:rPr>
              <a:t>Theme: T3 — AI for Good</a:t>
            </a:r>
          </a:p>
        </p:txBody>
      </p:sp>
      <p:sp>
        <p:nvSpPr>
          <p:cNvPr id="11" name="text-9">
            <a:extLst xmlns:a="http://schemas.openxmlformats.org/drawingml/2006/main">
              <a:ext uri="{FF2B5EF4-FFF2-40B4-BE49-F238E27FC236}">
                <a16:creationId xmlns:a16="http://schemas.microsoft.com/office/drawing/2014/main" id="{187C4DC9-0922-4603-B7C6-58C169AC018C}"/>
              </a:ext>
            </a:extLst>
          </p:cNvPr>
          <p:cNvSpPr>
            <a:spLocks xmlns:a="http://schemas.openxmlformats.org/drawingml/2006/main" noGrp="1"/>
          </p:cNvSpPr>
          <p:nvPr/>
        </p:nvSpPr>
        <p:spPr>
          <a:xfrm xmlns:a="http://schemas.openxmlformats.org/drawingml/2006/main">
            <a:off x="561975" y="4943475"/>
            <a:ext cx="68389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14251D"/>
                </a:solidFill>
                <a:latin typeface="Arial"/>
                <a:ea typeface="Arial"/>
                <a:cs typeface="Arial"/>
              </a:defRPr>
            </a:pPr>
            <a:r>
              <a:rPr sz="1725" b="0">
                <a:solidFill>
                  <a:srgbClr val="14251D"/>
                </a:solidFill>
                <a:latin typeface="Arial"/>
                <a:ea typeface="Arial"/>
                <a:cs typeface="Arial"/>
              </a:rPr>
              <a:t>Team: Damage Control</a:t>
            </a:r>
          </a:p>
        </p:txBody>
      </p:sp>
      <p:sp>
        <p:nvSpPr>
          <p:cNvPr id="12" name="text-10">
            <a:extLst xmlns:a="http://schemas.openxmlformats.org/drawingml/2006/main">
              <a:ext uri="{FF2B5EF4-FFF2-40B4-BE49-F238E27FC236}">
                <a16:creationId xmlns:a16="http://schemas.microsoft.com/office/drawing/2014/main" id="{6136B3B1-1DE9-4258-B094-9AC3781B1E4E}"/>
              </a:ext>
            </a:extLst>
          </p:cNvPr>
          <p:cNvSpPr>
            <a:spLocks xmlns:a="http://schemas.openxmlformats.org/drawingml/2006/main" noGrp="1"/>
          </p:cNvSpPr>
          <p:nvPr/>
        </p:nvSpPr>
        <p:spPr>
          <a:xfrm xmlns:a="http://schemas.openxmlformats.org/drawingml/2006/main">
            <a:off x="561975" y="5334000"/>
            <a:ext cx="7000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14251D"/>
                </a:solidFill>
                <a:latin typeface="Arial"/>
                <a:ea typeface="Arial"/>
                <a:cs typeface="Arial"/>
              </a:defRPr>
            </a:pPr>
            <a:r>
              <a:rPr sz="1650" b="0">
                <a:solidFill>
                  <a:srgbClr val="14251D"/>
                </a:solidFill>
                <a:latin typeface="Arial"/>
                <a:ea typeface="Arial"/>
                <a:cs typeface="Arial"/>
              </a:rPr>
              <a:t>School: Bal Bharati Public School, Pitampura</a:t>
            </a:r>
          </a:p>
        </p:txBody>
      </p:sp>
      <p:sp>
        <p:nvSpPr>
          <p:cNvPr id="13" name="text-11">
            <a:extLst xmlns:a="http://schemas.openxmlformats.org/drawingml/2006/main">
              <a:ext uri="{FF2B5EF4-FFF2-40B4-BE49-F238E27FC236}">
                <a16:creationId xmlns:a16="http://schemas.microsoft.com/office/drawing/2014/main" id="{1F247789-ACCC-4F8E-942A-60710B0A765B}"/>
              </a:ext>
            </a:extLst>
          </p:cNvPr>
          <p:cNvSpPr>
            <a:spLocks xmlns:a="http://schemas.openxmlformats.org/drawingml/2006/main" noGrp="1"/>
          </p:cNvSpPr>
          <p:nvPr/>
        </p:nvSpPr>
        <p:spPr>
          <a:xfrm xmlns:a="http://schemas.openxmlformats.org/drawingml/2006/main">
            <a:off x="561975" y="5734050"/>
            <a:ext cx="68389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14251D"/>
                </a:solidFill>
                <a:latin typeface="Arial"/>
                <a:ea typeface="Arial"/>
                <a:cs typeface="Arial"/>
              </a:defRPr>
            </a:pPr>
            <a:r>
              <a:rPr sz="1650" b="0">
                <a:solidFill>
                  <a:srgbClr val="14251D"/>
                </a:solidFill>
                <a:latin typeface="Arial"/>
                <a:ea typeface="Arial"/>
                <a:cs typeface="Arial"/>
              </a:rPr>
              <a:t>Team leader: __________________________</a:t>
            </a:r>
          </a:p>
        </p:txBody>
      </p:sp>
      <p:sp>
        <p:nvSpPr>
          <p:cNvPr id="14" name="text-12">
            <a:extLst xmlns:a="http://schemas.openxmlformats.org/drawingml/2006/main">
              <a:ext uri="{FF2B5EF4-FFF2-40B4-BE49-F238E27FC236}">
                <a16:creationId xmlns:a16="http://schemas.microsoft.com/office/drawing/2014/main" id="{A2D6019F-467C-46ED-828F-C67C13C71E4F}"/>
              </a:ext>
            </a:extLst>
          </p:cNvPr>
          <p:cNvSpPr>
            <a:spLocks xmlns:a="http://schemas.openxmlformats.org/drawingml/2006/main" noGrp="1"/>
          </p:cNvSpPr>
          <p:nvPr/>
        </p:nvSpPr>
        <p:spPr>
          <a:xfrm xmlns:a="http://schemas.openxmlformats.org/drawingml/2006/main">
            <a:off x="561975" y="6096000"/>
            <a:ext cx="7086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0">
                <a:solidFill>
                  <a:srgbClr val="506056"/>
                </a:solidFill>
                <a:latin typeface="Arial"/>
                <a:ea typeface="Arial"/>
                <a:cs typeface="Arial"/>
              </a:defRPr>
            </a:pPr>
            <a:r>
              <a:rPr sz="1425" b="0">
                <a:solidFill>
                  <a:srgbClr val="506056"/>
                </a:solidFill>
                <a:latin typeface="Arial"/>
                <a:ea typeface="Arial"/>
                <a:cs typeface="Arial"/>
              </a:rPr>
              <a:t>Team size (excluding mentor): ____     Category: ____</a:t>
            </a:r>
          </a:p>
        </p:txBody>
      </p:sp>
    </p:spTree>
    <p:extLst>
      <p:ext uri="{BB962C8B-B14F-4D97-AF65-F5344CB8AC3E}">
        <p14:creationId xmlns:p14="http://schemas.microsoft.com/office/powerpoint/2010/main" val="1768415391"/>
      </p:ext>
    </p:extLst>
  </p:cSld>
</p:sld>
</file>

<file path=ppt/slides/slide2.xml><?xml version="1.0" encoding="utf-8"?>
<p:sld xmlns:p="http://schemas.openxmlformats.org/presentationml/2006/main">
  <p:cSld>
    <p:bg>
      <p:bgPr>
        <a:solidFill xmlns:a="http://schemas.openxmlformats.org/drawingml/2006/main">
          <a:srgbClr val="F7FAF5"/>
        </a:solidFill>
      </p:bgPr>
    </p:bg>
    <p:spTree>
      <p:nvGrpSpPr>
        <p:cNvPr id="1" name=""/>
        <p:cNvGrpSpPr/>
        <p:nvPr/>
      </p:nvGrpSpPr>
      <p:grpSpPr>
        <a:xfrm xmlns:a="http://schemas.openxmlformats.org/drawingml/2006/main"/>
      </p:grpSpPr>
      <p:sp>
        <p:nvSpPr>
          <p:cNvPr id="13" name="text-13">
            <a:extLst xmlns:a="http://schemas.openxmlformats.org/drawingml/2006/main">
              <a:ext uri="{FF2B5EF4-FFF2-40B4-BE49-F238E27FC236}">
                <a16:creationId xmlns:a16="http://schemas.microsoft.com/office/drawing/2014/main" id="{B5AA7B3E-E5A6-48D8-87DD-D7C5D628CE73}"/>
              </a:ext>
            </a:extLst>
          </p:cNvPr>
          <p:cNvSpPr>
            <a:spLocks xmlns:a="http://schemas.openxmlformats.org/drawingml/2006/main" noGrp="1"/>
          </p:cNvSpPr>
          <p:nvPr/>
        </p:nvSpPr>
        <p:spPr>
          <a:xfrm xmlns:a="http://schemas.openxmlformats.org/drawingml/2006/main">
            <a:off x="533400" y="447675"/>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600" b="1">
                <a:solidFill>
                  <a:srgbClr val="14251D"/>
                </a:solidFill>
                <a:latin typeface="Arial"/>
                <a:ea typeface="Arial"/>
                <a:cs typeface="Arial"/>
              </a:defRPr>
            </a:pPr>
            <a:r>
              <a:rPr sz="3600" b="1">
                <a:solidFill>
                  <a:srgbClr val="14251D"/>
                </a:solidFill>
                <a:latin typeface="Arial"/>
                <a:ea typeface="Arial"/>
                <a:cs typeface="Arial"/>
              </a:rPr>
              <a:t>Your Idea</a:t>
            </a:r>
          </a:p>
        </p:txBody>
      </p:sp>
      <p:sp>
        <p:nvSpPr>
          <p:cNvPr id="2" name="text-14">
            <a:extLst xmlns:a="http://schemas.openxmlformats.org/drawingml/2006/main">
              <a:ext uri="{FF2B5EF4-FFF2-40B4-BE49-F238E27FC236}">
                <a16:creationId xmlns:a16="http://schemas.microsoft.com/office/drawing/2014/main" id="{5799B4E8-26DD-4AB4-B933-62885CFA0039}"/>
              </a:ext>
            </a:extLst>
          </p:cNvPr>
          <p:cNvSpPr>
            <a:spLocks xmlns:a="http://schemas.openxmlformats.org/drawingml/2006/main" noGrp="1"/>
          </p:cNvSpPr>
          <p:nvPr/>
        </p:nvSpPr>
        <p:spPr>
          <a:xfrm xmlns:a="http://schemas.openxmlformats.org/drawingml/2006/main">
            <a:off x="533400" y="6457950"/>
            <a:ext cx="981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75" b="0">
                <a:solidFill>
                  <a:srgbClr val="506056"/>
                </a:solidFill>
                <a:latin typeface="Arial"/>
                <a:ea typeface="Arial"/>
                <a:cs typeface="Arial"/>
              </a:defRPr>
            </a:pPr>
            <a:r>
              <a:rPr sz="975" b="0">
                <a:solidFill>
                  <a:srgbClr val="506056"/>
                </a:solidFill>
                <a:latin typeface="Arial"/>
                <a:ea typeface="Arial"/>
                <a:cs typeface="Arial"/>
              </a:rPr>
              <a:t>NIVRA / BAL BHARATI HACKATHON 3.0</a:t>
            </a:r>
          </a:p>
        </p:txBody>
      </p:sp>
      <p:sp>
        <p:nvSpPr>
          <p:cNvPr id="3" name="text-15">
            <a:extLst xmlns:a="http://schemas.openxmlformats.org/drawingml/2006/main">
              <a:ext uri="{FF2B5EF4-FFF2-40B4-BE49-F238E27FC236}">
                <a16:creationId xmlns:a16="http://schemas.microsoft.com/office/drawing/2014/main" id="{6FA465A8-3592-424C-BFD7-CFB76CD415AF}"/>
              </a:ext>
            </a:extLst>
          </p:cNvPr>
          <p:cNvSpPr>
            <a:spLocks xmlns:a="http://schemas.openxmlformats.org/drawingml/2006/main" noGrp="1"/>
          </p:cNvSpPr>
          <p:nvPr/>
        </p:nvSpPr>
        <p:spPr>
          <a:xfrm xmlns:a="http://schemas.openxmlformats.org/drawingml/2006/main">
            <a:off x="11239500" y="6419850"/>
            <a:ext cx="419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14251D"/>
                </a:solidFill>
                <a:latin typeface="Arial"/>
                <a:ea typeface="Arial"/>
                <a:cs typeface="Arial"/>
              </a:defRPr>
            </a:pPr>
            <a:r>
              <a:rPr sz="1200" b="0">
                <a:solidFill>
                  <a:srgbClr val="14251D"/>
                </a:solidFill>
                <a:latin typeface="Arial"/>
                <a:ea typeface="Arial"/>
                <a:cs typeface="Arial"/>
              </a:rPr>
              <a:t>02</a:t>
            </a:r>
          </a:p>
        </p:txBody>
      </p:sp>
      <p:sp>
        <p:nvSpPr>
          <p:cNvPr id="4" name="text-16">
            <a:extLst xmlns:a="http://schemas.openxmlformats.org/drawingml/2006/main">
              <a:ext uri="{FF2B5EF4-FFF2-40B4-BE49-F238E27FC236}">
                <a16:creationId xmlns:a16="http://schemas.microsoft.com/office/drawing/2014/main" id="{4B1ED2A1-2160-4620-A212-CBC8EF9F009B}"/>
              </a:ext>
            </a:extLst>
          </p:cNvPr>
          <p:cNvSpPr>
            <a:spLocks xmlns:a="http://schemas.openxmlformats.org/drawingml/2006/main" noGrp="1"/>
          </p:cNvSpPr>
          <p:nvPr/>
        </p:nvSpPr>
        <p:spPr>
          <a:xfrm xmlns:a="http://schemas.openxmlformats.org/drawingml/2006/main">
            <a:off x="552450" y="1200150"/>
            <a:ext cx="110966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506056"/>
                </a:solidFill>
                <a:latin typeface="Arial"/>
                <a:ea typeface="Arial"/>
                <a:cs typeface="Arial"/>
              </a:defRPr>
            </a:pPr>
            <a:r>
              <a:rPr sz="2100" b="0">
                <a:solidFill>
                  <a:srgbClr val="506056"/>
                </a:solidFill>
                <a:latin typeface="Arial"/>
                <a:ea typeface="Arial"/>
                <a:cs typeface="Arial"/>
              </a:rPr>
              <a:t>AI-assisted early intervention, with a human in charge.</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943aa62a22644a6c"/>
          <a:srcRect xmlns:a="http://schemas.openxmlformats.org/drawingml/2006/main" l="0" t="15719" r="0" b="15719"/>
          <a:stretch xmlns:a="http://schemas.openxmlformats.org/drawingml/2006/main">
            <a:fillRect l="0" t="0" r="0" b="0"/>
          </a:stretch>
        </p:blipFill>
        <p:spPr>
          <a:xfrm xmlns:a="http://schemas.openxmlformats.org/drawingml/2006/main">
            <a:off x="533400" y="1819275"/>
            <a:ext cx="5257800" cy="2028825"/>
          </a:xfrm>
          <a:prstGeom xmlns:a="http://schemas.openxmlformats.org/drawingml/2006/main" prst="rect">
            <a:avLst/>
          </a:prstGeom>
        </p:spPr>
      </p:pic>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87d9a515198c427d"/>
          <a:stretch xmlns:a="http://schemas.openxmlformats.org/drawingml/2006/main"/>
        </p:blipFill>
        <p:spPr>
          <a:xfrm xmlns:a="http://schemas.openxmlformats.org/drawingml/2006/main">
            <a:off x="7227258" y="1819275"/>
            <a:ext cx="3604884" cy="2028825"/>
          </a:xfrm>
          <a:prstGeom xmlns:a="http://schemas.openxmlformats.org/drawingml/2006/main" prst="rect">
            <a:avLst/>
          </a:prstGeom>
        </p:spPr>
      </p:pic>
      <p:sp>
        <p:nvSpPr>
          <p:cNvPr id="7" name="text-17">
            <a:extLst xmlns:a="http://schemas.openxmlformats.org/drawingml/2006/main">
              <a:ext uri="{FF2B5EF4-FFF2-40B4-BE49-F238E27FC236}">
                <a16:creationId xmlns:a16="http://schemas.microsoft.com/office/drawing/2014/main" id="{33FDC11F-0994-4779-823C-2E0F92413796}"/>
              </a:ext>
            </a:extLst>
          </p:cNvPr>
          <p:cNvSpPr>
            <a:spLocks xmlns:a="http://schemas.openxmlformats.org/drawingml/2006/main" noGrp="1"/>
          </p:cNvSpPr>
          <p:nvPr/>
        </p:nvSpPr>
        <p:spPr>
          <a:xfrm xmlns:a="http://schemas.openxmlformats.org/drawingml/2006/main">
            <a:off x="533400" y="4086225"/>
            <a:ext cx="52482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14251D"/>
                </a:solidFill>
                <a:latin typeface="Arial"/>
                <a:ea typeface="Arial"/>
                <a:cs typeface="Arial"/>
              </a:defRPr>
            </a:pPr>
            <a:r>
              <a:rPr sz="1875" b="1">
                <a:solidFill>
                  <a:srgbClr val="14251D"/>
                </a:solidFill>
                <a:latin typeface="Arial"/>
                <a:ea typeface="Arial"/>
                <a:cs typeface="Arial"/>
              </a:rPr>
              <a:t>Idea / Solution</a:t>
            </a:r>
          </a:p>
        </p:txBody>
      </p:sp>
      <p:sp>
        <p:nvSpPr>
          <p:cNvPr id="8" name="text-18">
            <a:extLst xmlns:a="http://schemas.openxmlformats.org/drawingml/2006/main">
              <a:ext uri="{FF2B5EF4-FFF2-40B4-BE49-F238E27FC236}">
                <a16:creationId xmlns:a16="http://schemas.microsoft.com/office/drawing/2014/main" id="{C9B8322F-851C-440D-B9F7-900A2CC1BF17}"/>
              </a:ext>
            </a:extLst>
          </p:cNvPr>
          <p:cNvSpPr>
            <a:spLocks xmlns:a="http://schemas.openxmlformats.org/drawingml/2006/main" noGrp="1"/>
          </p:cNvSpPr>
          <p:nvPr/>
        </p:nvSpPr>
        <p:spPr>
          <a:xfrm xmlns:a="http://schemas.openxmlformats.org/drawingml/2006/main">
            <a:off x="533400" y="4495800"/>
            <a:ext cx="52482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506056"/>
                </a:solidFill>
                <a:latin typeface="Arial"/>
                <a:ea typeface="Arial"/>
                <a:cs typeface="Arial"/>
              </a:defRPr>
            </a:pPr>
            <a:r>
              <a:rPr sz="1725" b="0">
                <a:solidFill>
                  <a:srgbClr val="506056"/>
                </a:solidFill>
                <a:latin typeface="Arial"/>
                <a:ea typeface="Arial"/>
                <a:cs typeface="Arial"/>
              </a:rPr>
              <a:t>Use a phone or camera feed to flag visible movement patterns that may need attention.</a:t>
            </a:r>
          </a:p>
        </p:txBody>
      </p:sp>
      <p:sp>
        <p:nvSpPr>
          <p:cNvPr id="9" name="text-19">
            <a:extLst xmlns:a="http://schemas.openxmlformats.org/drawingml/2006/main">
              <a:ext uri="{FF2B5EF4-FFF2-40B4-BE49-F238E27FC236}">
                <a16:creationId xmlns:a16="http://schemas.microsoft.com/office/drawing/2014/main" id="{74A614BC-F960-448B-9261-FEDAB81114F0}"/>
              </a:ext>
            </a:extLst>
          </p:cNvPr>
          <p:cNvSpPr>
            <a:spLocks xmlns:a="http://schemas.openxmlformats.org/drawingml/2006/main" noGrp="1"/>
          </p:cNvSpPr>
          <p:nvPr/>
        </p:nvSpPr>
        <p:spPr>
          <a:xfrm xmlns:a="http://schemas.openxmlformats.org/drawingml/2006/main">
            <a:off x="6400800" y="4086225"/>
            <a:ext cx="5238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14251D"/>
                </a:solidFill>
                <a:latin typeface="Arial"/>
                <a:ea typeface="Arial"/>
                <a:cs typeface="Arial"/>
              </a:defRPr>
            </a:pPr>
            <a:r>
              <a:rPr sz="1875" b="1">
                <a:solidFill>
                  <a:srgbClr val="14251D"/>
                </a:solidFill>
                <a:latin typeface="Arial"/>
                <a:ea typeface="Arial"/>
                <a:cs typeface="Arial"/>
              </a:rPr>
              <a:t>Problem Resolution</a:t>
            </a:r>
          </a:p>
        </p:txBody>
      </p:sp>
      <p:sp>
        <p:nvSpPr>
          <p:cNvPr id="10" name="text-20">
            <a:extLst xmlns:a="http://schemas.openxmlformats.org/drawingml/2006/main">
              <a:ext uri="{FF2B5EF4-FFF2-40B4-BE49-F238E27FC236}">
                <a16:creationId xmlns:a16="http://schemas.microsoft.com/office/drawing/2014/main" id="{AEE13C62-B211-4E31-9542-7E98E6EE3313}"/>
              </a:ext>
            </a:extLst>
          </p:cNvPr>
          <p:cNvSpPr>
            <a:spLocks xmlns:a="http://schemas.openxmlformats.org/drawingml/2006/main" noGrp="1"/>
          </p:cNvSpPr>
          <p:nvPr/>
        </p:nvSpPr>
        <p:spPr>
          <a:xfrm xmlns:a="http://schemas.openxmlformats.org/drawingml/2006/main">
            <a:off x="6400800" y="4495800"/>
            <a:ext cx="5238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506056"/>
                </a:solidFill>
                <a:latin typeface="Arial"/>
                <a:ea typeface="Arial"/>
                <a:cs typeface="Arial"/>
              </a:defRPr>
            </a:pPr>
            <a:r>
              <a:rPr sz="1725" b="0">
                <a:solidFill>
                  <a:srgbClr val="506056"/>
                </a:solidFill>
                <a:latin typeface="Arial"/>
                <a:ea typeface="Arial"/>
                <a:cs typeface="Arial"/>
              </a:rPr>
              <a:t>Give staff a short replay and location, then connect a confirmed alert to a responder.</a:t>
            </a:r>
          </a:p>
        </p:txBody>
      </p:sp>
      <p:sp>
        <p:nvSpPr>
          <p:cNvPr id="11" name="text-21">
            <a:extLst xmlns:a="http://schemas.openxmlformats.org/drawingml/2006/main">
              <a:ext uri="{FF2B5EF4-FFF2-40B4-BE49-F238E27FC236}">
                <a16:creationId xmlns:a16="http://schemas.microsoft.com/office/drawing/2014/main" id="{C334DA91-5F01-4B22-8EA9-40E7CBCC81B7}"/>
              </a:ext>
            </a:extLst>
          </p:cNvPr>
          <p:cNvSpPr>
            <a:spLocks xmlns:a="http://schemas.openxmlformats.org/drawingml/2006/main" noGrp="1"/>
          </p:cNvSpPr>
          <p:nvPr/>
        </p:nvSpPr>
        <p:spPr>
          <a:xfrm xmlns:a="http://schemas.openxmlformats.org/drawingml/2006/main">
            <a:off x="533400" y="5667375"/>
            <a:ext cx="52482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14251D"/>
                </a:solidFill>
                <a:latin typeface="Arial"/>
                <a:ea typeface="Arial"/>
                <a:cs typeface="Arial"/>
              </a:defRPr>
            </a:pPr>
            <a:r>
              <a:rPr sz="1800" b="1">
                <a:solidFill>
                  <a:srgbClr val="14251D"/>
                </a:solidFill>
                <a:latin typeface="Arial"/>
                <a:ea typeface="Arial"/>
                <a:cs typeface="Arial"/>
              </a:rPr>
              <a:t>Observe → flag → human review</a:t>
            </a:r>
          </a:p>
        </p:txBody>
      </p:sp>
      <p:sp>
        <p:nvSpPr>
          <p:cNvPr id="12" name="text-22">
            <a:extLst xmlns:a="http://schemas.openxmlformats.org/drawingml/2006/main">
              <a:ext uri="{FF2B5EF4-FFF2-40B4-BE49-F238E27FC236}">
                <a16:creationId xmlns:a16="http://schemas.microsoft.com/office/drawing/2014/main" id="{A1D808C4-4D50-4814-B435-43FB74AB3280}"/>
              </a:ext>
            </a:extLst>
          </p:cNvPr>
          <p:cNvSpPr>
            <a:spLocks xmlns:a="http://schemas.openxmlformats.org/drawingml/2006/main" noGrp="1"/>
          </p:cNvSpPr>
          <p:nvPr/>
        </p:nvSpPr>
        <p:spPr>
          <a:xfrm xmlns:a="http://schemas.openxmlformats.org/drawingml/2006/main">
            <a:off x="6400800" y="5667375"/>
            <a:ext cx="5257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14251D"/>
                </a:solidFill>
                <a:latin typeface="Arial"/>
                <a:ea typeface="Arial"/>
                <a:cs typeface="Arial"/>
              </a:defRPr>
            </a:pPr>
            <a:r>
              <a:rPr sz="1800" b="1">
                <a:solidFill>
                  <a:srgbClr val="14251D"/>
                </a:solidFill>
                <a:latin typeface="Arial"/>
                <a:ea typeface="Arial"/>
                <a:cs typeface="Arial"/>
              </a:rPr>
              <a:t>Decide → dispatch → acknowledge</a:t>
            </a:r>
          </a:p>
        </p:txBody>
      </p:sp>
    </p:spTree>
    <p:extLst>
      <p:ext uri="{BB962C8B-B14F-4D97-AF65-F5344CB8AC3E}">
        <p14:creationId xmlns:p14="http://schemas.microsoft.com/office/powerpoint/2010/main" val="1131444855"/>
      </p:ext>
    </p:extLst>
  </p:cSld>
</p:sld>
</file>

<file path=ppt/slides/slide3.xml><?xml version="1.0" encoding="utf-8"?>
<p:sld xmlns:p="http://schemas.openxmlformats.org/presentationml/2006/main">
  <p:cSld>
    <p:bg>
      <p:bgPr>
        <a:solidFill xmlns:a="http://schemas.openxmlformats.org/drawingml/2006/main">
          <a:srgbClr val="F7FAF5"/>
        </a:solidFill>
      </p:bgPr>
    </p:bg>
    <p:spTree>
      <p:nvGrpSpPr>
        <p:cNvPr id="1" name=""/>
        <p:cNvGrpSpPr/>
        <p:nvPr/>
      </p:nvGrpSpPr>
      <p:grpSpPr>
        <a:xfrm xmlns:a="http://schemas.openxmlformats.org/drawingml/2006/main"/>
      </p:grpSpPr>
      <p:sp>
        <p:nvSpPr>
          <p:cNvPr id="29" name="text-23">
            <a:extLst xmlns:a="http://schemas.openxmlformats.org/drawingml/2006/main">
              <a:ext uri="{FF2B5EF4-FFF2-40B4-BE49-F238E27FC236}">
                <a16:creationId xmlns:a16="http://schemas.microsoft.com/office/drawing/2014/main" id="{4E0266E0-EAD2-4A1E-B9F3-5914E7921B4B}"/>
              </a:ext>
            </a:extLst>
          </p:cNvPr>
          <p:cNvSpPr>
            <a:spLocks xmlns:a="http://schemas.openxmlformats.org/drawingml/2006/main" noGrp="1"/>
          </p:cNvSpPr>
          <p:nvPr/>
        </p:nvSpPr>
        <p:spPr>
          <a:xfrm xmlns:a="http://schemas.openxmlformats.org/drawingml/2006/main">
            <a:off x="533400" y="447675"/>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600" b="1">
                <a:solidFill>
                  <a:srgbClr val="14251D"/>
                </a:solidFill>
                <a:latin typeface="Arial"/>
                <a:ea typeface="Arial"/>
                <a:cs typeface="Arial"/>
              </a:defRPr>
            </a:pPr>
            <a:r>
              <a:rPr sz="3600" b="1">
                <a:solidFill>
                  <a:srgbClr val="14251D"/>
                </a:solidFill>
                <a:latin typeface="Arial"/>
                <a:ea typeface="Arial"/>
                <a:cs typeface="Arial"/>
              </a:rPr>
              <a:t>Technical Approach</a:t>
            </a:r>
          </a:p>
        </p:txBody>
      </p:sp>
      <p:sp>
        <p:nvSpPr>
          <p:cNvPr id="2" name="text-24">
            <a:extLst xmlns:a="http://schemas.openxmlformats.org/drawingml/2006/main">
              <a:ext uri="{FF2B5EF4-FFF2-40B4-BE49-F238E27FC236}">
                <a16:creationId xmlns:a16="http://schemas.microsoft.com/office/drawing/2014/main" id="{EE86BD9F-3C85-4C37-A57B-27038FC5FC65}"/>
              </a:ext>
            </a:extLst>
          </p:cNvPr>
          <p:cNvSpPr>
            <a:spLocks xmlns:a="http://schemas.openxmlformats.org/drawingml/2006/main" noGrp="1"/>
          </p:cNvSpPr>
          <p:nvPr/>
        </p:nvSpPr>
        <p:spPr>
          <a:xfrm xmlns:a="http://schemas.openxmlformats.org/drawingml/2006/main">
            <a:off x="533400" y="6457950"/>
            <a:ext cx="981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75" b="0">
                <a:solidFill>
                  <a:srgbClr val="506056"/>
                </a:solidFill>
                <a:latin typeface="Arial"/>
                <a:ea typeface="Arial"/>
                <a:cs typeface="Arial"/>
              </a:defRPr>
            </a:pPr>
            <a:r>
              <a:rPr sz="975" b="0">
                <a:solidFill>
                  <a:srgbClr val="506056"/>
                </a:solidFill>
                <a:latin typeface="Arial"/>
                <a:ea typeface="Arial"/>
                <a:cs typeface="Arial"/>
              </a:rPr>
              <a:t>NIVRA / BAL BHARATI HACKATHON 3.0</a:t>
            </a:r>
          </a:p>
        </p:txBody>
      </p:sp>
      <p:sp>
        <p:nvSpPr>
          <p:cNvPr id="3" name="text-25">
            <a:extLst xmlns:a="http://schemas.openxmlformats.org/drawingml/2006/main">
              <a:ext uri="{FF2B5EF4-FFF2-40B4-BE49-F238E27FC236}">
                <a16:creationId xmlns:a16="http://schemas.microsoft.com/office/drawing/2014/main" id="{0821B219-3238-49AD-8F9D-909C4F0CC330}"/>
              </a:ext>
            </a:extLst>
          </p:cNvPr>
          <p:cNvSpPr>
            <a:spLocks xmlns:a="http://schemas.openxmlformats.org/drawingml/2006/main" noGrp="1"/>
          </p:cNvSpPr>
          <p:nvPr/>
        </p:nvSpPr>
        <p:spPr>
          <a:xfrm xmlns:a="http://schemas.openxmlformats.org/drawingml/2006/main">
            <a:off x="11239500" y="6419850"/>
            <a:ext cx="419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14251D"/>
                </a:solidFill>
                <a:latin typeface="Arial"/>
                <a:ea typeface="Arial"/>
                <a:cs typeface="Arial"/>
              </a:defRPr>
            </a:pPr>
            <a:r>
              <a:rPr sz="1200" b="0">
                <a:solidFill>
                  <a:srgbClr val="14251D"/>
                </a:solidFill>
                <a:latin typeface="Arial"/>
                <a:ea typeface="Arial"/>
                <a:cs typeface="Arial"/>
              </a:rPr>
              <a:t>03</a:t>
            </a:r>
          </a:p>
        </p:txBody>
      </p:sp>
      <p:sp>
        <p:nvSpPr>
          <p:cNvPr id="4" name="text-26">
            <a:extLst xmlns:a="http://schemas.openxmlformats.org/drawingml/2006/main">
              <a:ext uri="{FF2B5EF4-FFF2-40B4-BE49-F238E27FC236}">
                <a16:creationId xmlns:a16="http://schemas.microsoft.com/office/drawing/2014/main" id="{8D591208-498C-4849-9B36-482065CEF558}"/>
              </a:ext>
            </a:extLst>
          </p:cNvPr>
          <p:cNvSpPr>
            <a:spLocks xmlns:a="http://schemas.openxmlformats.org/drawingml/2006/main" noGrp="1"/>
          </p:cNvSpPr>
          <p:nvPr/>
        </p:nvSpPr>
        <p:spPr>
          <a:xfrm xmlns:a="http://schemas.openxmlformats.org/drawingml/2006/main">
            <a:off x="552450" y="1200150"/>
            <a:ext cx="1104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506056"/>
                </a:solidFill>
                <a:latin typeface="Arial"/>
                <a:ea typeface="Arial"/>
                <a:cs typeface="Arial"/>
              </a:defRPr>
            </a:pPr>
            <a:r>
              <a:rPr sz="1950" b="0">
                <a:solidFill>
                  <a:srgbClr val="506056"/>
                </a:solidFill>
                <a:latin typeface="Arial"/>
                <a:ea typeface="Arial"/>
                <a:cs typeface="Arial"/>
              </a:rPr>
              <a:t>Proposed architecture / one supervised demo</a:t>
            </a:r>
          </a:p>
        </p:txBody>
      </p:sp>
      <p:sp>
        <p:nvSpPr>
          <p:cNvPr id="5" name="">
            <a:extLst xmlns:a="http://schemas.openxmlformats.org/drawingml/2006/main">
              <a:ext uri="{FF2B5EF4-FFF2-40B4-BE49-F238E27FC236}">
                <a16:creationId xmlns:a16="http://schemas.microsoft.com/office/drawing/2014/main" id="{E84FCCCA-D3EE-4321-97E3-37F0CA65AAA2}"/>
              </a:ext>
            </a:extLst>
          </p:cNvPr>
          <p:cNvSpPr>
            <a:spLocks xmlns:a="http://schemas.openxmlformats.org/drawingml/2006/main" noGrp="1"/>
          </p:cNvSpPr>
          <p:nvPr/>
        </p:nvSpPr>
        <p:spPr>
          <a:xfrm xmlns:a="http://schemas.openxmlformats.org/drawingml/2006/main">
            <a:off x="533400" y="1990725"/>
            <a:ext cx="2581275" cy="2143125"/>
          </a:xfrm>
          <a:prstGeom xmlns:a="http://schemas.openxmlformats.org/drawingml/2006/main" prst="rect">
            <a:avLst/>
          </a:prstGeom>
          <a:solidFill xmlns:a="http://schemas.openxmlformats.org/drawingml/2006/main">
            <a:srgbClr val="14251D"/>
          </a:solidFill>
          <a:ln xmlns:a="http://schemas.openxmlformats.org/drawingml/2006/main" w="0">
            <a:noFill/>
          </a:ln>
        </p:spPr>
      </p:sp>
      <p:sp>
        <p:nvSpPr>
          <p:cNvPr id="6" name="text-27">
            <a:extLst xmlns:a="http://schemas.openxmlformats.org/drawingml/2006/main">
              <a:ext uri="{FF2B5EF4-FFF2-40B4-BE49-F238E27FC236}">
                <a16:creationId xmlns:a16="http://schemas.microsoft.com/office/drawing/2014/main" id="{162F37C9-6D42-4C3D-A2D0-CFACB21D0A9E}"/>
              </a:ext>
            </a:extLst>
          </p:cNvPr>
          <p:cNvSpPr>
            <a:spLocks xmlns:a="http://schemas.openxmlformats.org/drawingml/2006/main" noGrp="1"/>
          </p:cNvSpPr>
          <p:nvPr/>
        </p:nvSpPr>
        <p:spPr>
          <a:xfrm xmlns:a="http://schemas.openxmlformats.org/drawingml/2006/main">
            <a:off x="714375" y="2181225"/>
            <a:ext cx="22383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1">
                <a:solidFill>
                  <a:srgbClr val="D2F56A"/>
                </a:solidFill>
                <a:latin typeface="Arial"/>
                <a:ea typeface="Arial"/>
                <a:cs typeface="Arial"/>
              </a:defRPr>
            </a:pPr>
            <a:r>
              <a:rPr sz="1200" b="1">
                <a:solidFill>
                  <a:srgbClr val="D2F56A"/>
                </a:solidFill>
                <a:latin typeface="Arial"/>
                <a:ea typeface="Arial"/>
                <a:cs typeface="Arial"/>
              </a:rPr>
              <a:t>01 / CAPTURE</a:t>
            </a:r>
          </a:p>
        </p:txBody>
      </p:sp>
      <p:sp>
        <p:nvSpPr>
          <p:cNvPr id="7" name="text-28">
            <a:extLst xmlns:a="http://schemas.openxmlformats.org/drawingml/2006/main">
              <a:ext uri="{FF2B5EF4-FFF2-40B4-BE49-F238E27FC236}">
                <a16:creationId xmlns:a16="http://schemas.microsoft.com/office/drawing/2014/main" id="{8D78C209-1633-40E1-B2A9-C05AFA70F8B8}"/>
              </a:ext>
            </a:extLst>
          </p:cNvPr>
          <p:cNvSpPr>
            <a:spLocks xmlns:a="http://schemas.openxmlformats.org/drawingml/2006/main" noGrp="1"/>
          </p:cNvSpPr>
          <p:nvPr/>
        </p:nvSpPr>
        <p:spPr>
          <a:xfrm xmlns:a="http://schemas.openxmlformats.org/drawingml/2006/main">
            <a:off x="714375" y="2667000"/>
            <a:ext cx="22574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F7FAF5"/>
                </a:solidFill>
                <a:latin typeface="Arial"/>
                <a:ea typeface="Arial"/>
                <a:cs typeface="Arial"/>
              </a:defRPr>
            </a:pPr>
            <a:r>
              <a:rPr sz="1875" b="1">
                <a:solidFill>
                  <a:srgbClr val="F7FAF5"/>
                </a:solidFill>
                <a:latin typeface="Arial"/>
                <a:ea typeface="Arial"/>
                <a:cs typeface="Arial"/>
              </a:rPr>
              <a:t>Approved camera</a:t>
            </a:r>
          </a:p>
        </p:txBody>
      </p:sp>
      <p:sp>
        <p:nvSpPr>
          <p:cNvPr id="8" name="text-29">
            <a:extLst xmlns:a="http://schemas.openxmlformats.org/drawingml/2006/main">
              <a:ext uri="{FF2B5EF4-FFF2-40B4-BE49-F238E27FC236}">
                <a16:creationId xmlns:a16="http://schemas.microsoft.com/office/drawing/2014/main" id="{E4920E31-6A6A-496C-997E-63CAB898360F}"/>
              </a:ext>
            </a:extLst>
          </p:cNvPr>
          <p:cNvSpPr>
            <a:spLocks xmlns:a="http://schemas.openxmlformats.org/drawingml/2006/main" noGrp="1"/>
          </p:cNvSpPr>
          <p:nvPr/>
        </p:nvSpPr>
        <p:spPr>
          <a:xfrm xmlns:a="http://schemas.openxmlformats.org/drawingml/2006/main">
            <a:off x="714375" y="3248025"/>
            <a:ext cx="22574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F7FAF5"/>
                </a:solidFill>
                <a:latin typeface="Arial"/>
                <a:ea typeface="Arial"/>
                <a:cs typeface="Arial"/>
              </a:defRPr>
            </a:pPr>
            <a:r>
              <a:rPr sz="1575" b="0">
                <a:solidFill>
                  <a:srgbClr val="F7FAF5"/>
                </a:solidFill>
                <a:latin typeface="Arial"/>
                <a:ea typeface="Arial"/>
                <a:cs typeface="Arial"/>
              </a:rPr>
              <a:t>Phone browser captures</a:t>
            </a:r>
          </a:p>
          <a:p xmlns:a="http://schemas.openxmlformats.org/drawingml/2006/main">
            <a:pPr>
              <a:defRPr sz="1575" b="0">
                <a:solidFill>
                  <a:srgbClr val="F7FAF5"/>
                </a:solidFill>
                <a:latin typeface="Arial"/>
                <a:ea typeface="Arial"/>
                <a:cs typeface="Arial"/>
              </a:defRPr>
            </a:pPr>
            <a:r>
              <a:rPr sz="1575" b="0">
                <a:solidFill>
                  <a:srgbClr val="F7FAF5"/>
                </a:solidFill>
                <a:latin typeface="Arial"/>
                <a:ea typeface="Arial"/>
                <a:cs typeface="Arial"/>
              </a:rPr>
              <a:t>a permitted scene.</a:t>
            </a:r>
          </a:p>
        </p:txBody>
      </p:sp>
      <p:sp>
        <p:nvSpPr>
          <p:cNvPr id="9" name="text-30">
            <a:extLst xmlns:a="http://schemas.openxmlformats.org/drawingml/2006/main">
              <a:ext uri="{FF2B5EF4-FFF2-40B4-BE49-F238E27FC236}">
                <a16:creationId xmlns:a16="http://schemas.microsoft.com/office/drawing/2014/main" id="{9DB787CE-EAAB-40FB-B084-0E481FA4FE18}"/>
              </a:ext>
            </a:extLst>
          </p:cNvPr>
          <p:cNvSpPr>
            <a:spLocks xmlns:a="http://schemas.openxmlformats.org/drawingml/2006/main" noGrp="1"/>
          </p:cNvSpPr>
          <p:nvPr/>
        </p:nvSpPr>
        <p:spPr>
          <a:xfrm xmlns:a="http://schemas.openxmlformats.org/drawingml/2006/main">
            <a:off x="3143250" y="2743200"/>
            <a:ext cx="2571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14251D"/>
                </a:solidFill>
                <a:latin typeface="Arial"/>
                <a:ea typeface="Arial"/>
                <a:cs typeface="Arial"/>
              </a:defRPr>
            </a:pPr>
            <a:r>
              <a:rPr sz="2025" b="1">
                <a:solidFill>
                  <a:srgbClr val="14251D"/>
                </a:solidFill>
                <a:latin typeface="Arial"/>
                <a:ea typeface="Arial"/>
                <a:cs typeface="Arial"/>
              </a:rPr>
              <a:t>→</a:t>
            </a:r>
          </a:p>
        </p:txBody>
      </p:sp>
      <p:sp>
        <p:nvSpPr>
          <p:cNvPr id="10" name="">
            <a:extLst xmlns:a="http://schemas.openxmlformats.org/drawingml/2006/main">
              <a:ext uri="{FF2B5EF4-FFF2-40B4-BE49-F238E27FC236}">
                <a16:creationId xmlns:a16="http://schemas.microsoft.com/office/drawing/2014/main" id="{ED37A10B-AEBE-48B3-BAF5-F0A25C34156D}"/>
              </a:ext>
            </a:extLst>
          </p:cNvPr>
          <p:cNvSpPr>
            <a:spLocks xmlns:a="http://schemas.openxmlformats.org/drawingml/2006/main" noGrp="1"/>
          </p:cNvSpPr>
          <p:nvPr/>
        </p:nvSpPr>
        <p:spPr>
          <a:xfrm xmlns:a="http://schemas.openxmlformats.org/drawingml/2006/main">
            <a:off x="3381375" y="1990725"/>
            <a:ext cx="2581275" cy="2143125"/>
          </a:xfrm>
          <a:prstGeom xmlns:a="http://schemas.openxmlformats.org/drawingml/2006/main" prst="rect">
            <a:avLst/>
          </a:prstGeom>
          <a:solidFill xmlns:a="http://schemas.openxmlformats.org/drawingml/2006/main">
            <a:srgbClr val="14251D"/>
          </a:solidFill>
          <a:ln xmlns:a="http://schemas.openxmlformats.org/drawingml/2006/main" w="0">
            <a:noFill/>
          </a:ln>
        </p:spPr>
      </p:sp>
      <p:sp>
        <p:nvSpPr>
          <p:cNvPr id="11" name="text-31">
            <a:extLst xmlns:a="http://schemas.openxmlformats.org/drawingml/2006/main">
              <a:ext uri="{FF2B5EF4-FFF2-40B4-BE49-F238E27FC236}">
                <a16:creationId xmlns:a16="http://schemas.microsoft.com/office/drawing/2014/main" id="{C80B4EAB-0F40-4179-80B6-9BBA4D83551E}"/>
              </a:ext>
            </a:extLst>
          </p:cNvPr>
          <p:cNvSpPr>
            <a:spLocks xmlns:a="http://schemas.openxmlformats.org/drawingml/2006/main" noGrp="1"/>
          </p:cNvSpPr>
          <p:nvPr/>
        </p:nvSpPr>
        <p:spPr>
          <a:xfrm xmlns:a="http://schemas.openxmlformats.org/drawingml/2006/main">
            <a:off x="3562350" y="2181225"/>
            <a:ext cx="22383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1">
                <a:solidFill>
                  <a:srgbClr val="D2F56A"/>
                </a:solidFill>
                <a:latin typeface="Arial"/>
                <a:ea typeface="Arial"/>
                <a:cs typeface="Arial"/>
              </a:defRPr>
            </a:pPr>
            <a:r>
              <a:rPr sz="1200" b="1">
                <a:solidFill>
                  <a:srgbClr val="D2F56A"/>
                </a:solidFill>
                <a:latin typeface="Arial"/>
                <a:ea typeface="Arial"/>
                <a:cs typeface="Arial"/>
              </a:rPr>
              <a:t>02 / ANALYSE</a:t>
            </a:r>
          </a:p>
        </p:txBody>
      </p:sp>
      <p:sp>
        <p:nvSpPr>
          <p:cNvPr id="12" name="text-32">
            <a:extLst xmlns:a="http://schemas.openxmlformats.org/drawingml/2006/main">
              <a:ext uri="{FF2B5EF4-FFF2-40B4-BE49-F238E27FC236}">
                <a16:creationId xmlns:a16="http://schemas.microsoft.com/office/drawing/2014/main" id="{54C05D46-9800-4AB5-B59A-BED05AEE303D}"/>
              </a:ext>
            </a:extLst>
          </p:cNvPr>
          <p:cNvSpPr>
            <a:spLocks xmlns:a="http://schemas.openxmlformats.org/drawingml/2006/main" noGrp="1"/>
          </p:cNvSpPr>
          <p:nvPr/>
        </p:nvSpPr>
        <p:spPr>
          <a:xfrm xmlns:a="http://schemas.openxmlformats.org/drawingml/2006/main">
            <a:off x="3562350" y="2667000"/>
            <a:ext cx="22574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F7FAF5"/>
                </a:solidFill>
                <a:latin typeface="Arial"/>
                <a:ea typeface="Arial"/>
                <a:cs typeface="Arial"/>
              </a:defRPr>
            </a:pPr>
            <a:r>
              <a:rPr sz="1875" b="1">
                <a:solidFill>
                  <a:srgbClr val="F7FAF5"/>
                </a:solidFill>
                <a:latin typeface="Arial"/>
                <a:ea typeface="Arial"/>
                <a:cs typeface="Arial"/>
              </a:rPr>
              <a:t>Pose + time rules</a:t>
            </a:r>
          </a:p>
        </p:txBody>
      </p:sp>
      <p:sp>
        <p:nvSpPr>
          <p:cNvPr id="13" name="text-33">
            <a:extLst xmlns:a="http://schemas.openxmlformats.org/drawingml/2006/main">
              <a:ext uri="{FF2B5EF4-FFF2-40B4-BE49-F238E27FC236}">
                <a16:creationId xmlns:a16="http://schemas.microsoft.com/office/drawing/2014/main" id="{FA2D5146-7054-4EB0-865F-3C184E288F9C}"/>
              </a:ext>
            </a:extLst>
          </p:cNvPr>
          <p:cNvSpPr>
            <a:spLocks xmlns:a="http://schemas.openxmlformats.org/drawingml/2006/main" noGrp="1"/>
          </p:cNvSpPr>
          <p:nvPr/>
        </p:nvSpPr>
        <p:spPr>
          <a:xfrm xmlns:a="http://schemas.openxmlformats.org/drawingml/2006/main">
            <a:off x="3562350" y="3248025"/>
            <a:ext cx="22574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F7FAF5"/>
                </a:solidFill>
                <a:latin typeface="Arial"/>
                <a:ea typeface="Arial"/>
                <a:cs typeface="Arial"/>
              </a:defRPr>
            </a:pPr>
            <a:r>
              <a:rPr sz="1575" b="0">
                <a:solidFill>
                  <a:srgbClr val="F7FAF5"/>
                </a:solidFill>
                <a:latin typeface="Arial"/>
                <a:ea typeface="Arial"/>
                <a:cs typeface="Arial"/>
              </a:rPr>
              <a:t>Local landmarks and</a:t>
            </a:r>
          </a:p>
          <a:p xmlns:a="http://schemas.openxmlformats.org/drawingml/2006/main">
            <a:pPr>
              <a:defRPr sz="1575" b="0">
                <a:solidFill>
                  <a:srgbClr val="F7FAF5"/>
                </a:solidFill>
                <a:latin typeface="Arial"/>
                <a:ea typeface="Arial"/>
                <a:cs typeface="Arial"/>
              </a:defRPr>
            </a:pPr>
            <a:r>
              <a:rPr sz="1575" b="0">
                <a:solidFill>
                  <a:srgbClr val="F7FAF5"/>
                </a:solidFill>
                <a:latin typeface="Arial"/>
                <a:ea typeface="Arial"/>
                <a:cs typeface="Arial"/>
              </a:rPr>
              <a:t>repeated motion cues.</a:t>
            </a:r>
          </a:p>
        </p:txBody>
      </p:sp>
      <p:sp>
        <p:nvSpPr>
          <p:cNvPr id="14" name="text-34">
            <a:extLst xmlns:a="http://schemas.openxmlformats.org/drawingml/2006/main">
              <a:ext uri="{FF2B5EF4-FFF2-40B4-BE49-F238E27FC236}">
                <a16:creationId xmlns:a16="http://schemas.microsoft.com/office/drawing/2014/main" id="{DBA39130-7E2C-4F0B-9388-612C1191621C}"/>
              </a:ext>
            </a:extLst>
          </p:cNvPr>
          <p:cNvSpPr>
            <a:spLocks xmlns:a="http://schemas.openxmlformats.org/drawingml/2006/main" noGrp="1"/>
          </p:cNvSpPr>
          <p:nvPr/>
        </p:nvSpPr>
        <p:spPr>
          <a:xfrm xmlns:a="http://schemas.openxmlformats.org/drawingml/2006/main">
            <a:off x="5991225" y="2743200"/>
            <a:ext cx="2571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14251D"/>
                </a:solidFill>
                <a:latin typeface="Arial"/>
                <a:ea typeface="Arial"/>
                <a:cs typeface="Arial"/>
              </a:defRPr>
            </a:pPr>
            <a:r>
              <a:rPr sz="2025" b="1">
                <a:solidFill>
                  <a:srgbClr val="14251D"/>
                </a:solidFill>
                <a:latin typeface="Arial"/>
                <a:ea typeface="Arial"/>
                <a:cs typeface="Arial"/>
              </a:rPr>
              <a:t>→</a:t>
            </a:r>
          </a:p>
        </p:txBody>
      </p:sp>
      <p:sp>
        <p:nvSpPr>
          <p:cNvPr id="15" name="">
            <a:extLst xmlns:a="http://schemas.openxmlformats.org/drawingml/2006/main">
              <a:ext uri="{FF2B5EF4-FFF2-40B4-BE49-F238E27FC236}">
                <a16:creationId xmlns:a16="http://schemas.microsoft.com/office/drawing/2014/main" id="{9F39E2D4-22A3-4334-8506-DF9C45B93530}"/>
              </a:ext>
            </a:extLst>
          </p:cNvPr>
          <p:cNvSpPr>
            <a:spLocks xmlns:a="http://schemas.openxmlformats.org/drawingml/2006/main" noGrp="1"/>
          </p:cNvSpPr>
          <p:nvPr/>
        </p:nvSpPr>
        <p:spPr>
          <a:xfrm xmlns:a="http://schemas.openxmlformats.org/drawingml/2006/main">
            <a:off x="6229350" y="1990725"/>
            <a:ext cx="2581275" cy="2143125"/>
          </a:xfrm>
          <a:prstGeom xmlns:a="http://schemas.openxmlformats.org/drawingml/2006/main" prst="rect">
            <a:avLst/>
          </a:prstGeom>
          <a:solidFill xmlns:a="http://schemas.openxmlformats.org/drawingml/2006/main">
            <a:srgbClr val="D2F56A"/>
          </a:solidFill>
          <a:ln xmlns:a="http://schemas.openxmlformats.org/drawingml/2006/main" w="0">
            <a:noFill/>
          </a:ln>
        </p:spPr>
      </p:sp>
      <p:sp>
        <p:nvSpPr>
          <p:cNvPr id="16" name="text-35">
            <a:extLst xmlns:a="http://schemas.openxmlformats.org/drawingml/2006/main">
              <a:ext uri="{FF2B5EF4-FFF2-40B4-BE49-F238E27FC236}">
                <a16:creationId xmlns:a16="http://schemas.microsoft.com/office/drawing/2014/main" id="{92B1A5EE-15B7-44A7-92E4-EBC986681F75}"/>
              </a:ext>
            </a:extLst>
          </p:cNvPr>
          <p:cNvSpPr>
            <a:spLocks xmlns:a="http://schemas.openxmlformats.org/drawingml/2006/main" noGrp="1"/>
          </p:cNvSpPr>
          <p:nvPr/>
        </p:nvSpPr>
        <p:spPr>
          <a:xfrm xmlns:a="http://schemas.openxmlformats.org/drawingml/2006/main">
            <a:off x="6410325" y="2181225"/>
            <a:ext cx="22383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1">
                <a:solidFill>
                  <a:srgbClr val="14251D"/>
                </a:solidFill>
                <a:latin typeface="Arial"/>
                <a:ea typeface="Arial"/>
                <a:cs typeface="Arial"/>
              </a:defRPr>
            </a:pPr>
            <a:r>
              <a:rPr sz="1200" b="1">
                <a:solidFill>
                  <a:srgbClr val="14251D"/>
                </a:solidFill>
                <a:latin typeface="Arial"/>
                <a:ea typeface="Arial"/>
                <a:cs typeface="Arial"/>
              </a:rPr>
              <a:t>03 / REVIEW</a:t>
            </a:r>
          </a:p>
        </p:txBody>
      </p:sp>
      <p:sp>
        <p:nvSpPr>
          <p:cNvPr id="17" name="text-36">
            <a:extLst xmlns:a="http://schemas.openxmlformats.org/drawingml/2006/main">
              <a:ext uri="{FF2B5EF4-FFF2-40B4-BE49-F238E27FC236}">
                <a16:creationId xmlns:a16="http://schemas.microsoft.com/office/drawing/2014/main" id="{20AD2AA2-92EE-43D2-9B58-C562DCA44FCC}"/>
              </a:ext>
            </a:extLst>
          </p:cNvPr>
          <p:cNvSpPr>
            <a:spLocks xmlns:a="http://schemas.openxmlformats.org/drawingml/2006/main" noGrp="1"/>
          </p:cNvSpPr>
          <p:nvPr/>
        </p:nvSpPr>
        <p:spPr>
          <a:xfrm xmlns:a="http://schemas.openxmlformats.org/drawingml/2006/main">
            <a:off x="6410325" y="2667000"/>
            <a:ext cx="22574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14251D"/>
                </a:solidFill>
                <a:latin typeface="Arial"/>
                <a:ea typeface="Arial"/>
                <a:cs typeface="Arial"/>
              </a:defRPr>
            </a:pPr>
            <a:r>
              <a:rPr sz="1875" b="1">
                <a:solidFill>
                  <a:srgbClr val="14251D"/>
                </a:solidFill>
                <a:latin typeface="Arial"/>
                <a:ea typeface="Arial"/>
                <a:cs typeface="Arial"/>
              </a:rPr>
              <a:t>Operator screen</a:t>
            </a:r>
          </a:p>
        </p:txBody>
      </p:sp>
      <p:sp>
        <p:nvSpPr>
          <p:cNvPr id="18" name="text-37">
            <a:extLst xmlns:a="http://schemas.openxmlformats.org/drawingml/2006/main">
              <a:ext uri="{FF2B5EF4-FFF2-40B4-BE49-F238E27FC236}">
                <a16:creationId xmlns:a16="http://schemas.microsoft.com/office/drawing/2014/main" id="{1DEEA11A-71AB-42A7-9186-D3C5673C0294}"/>
              </a:ext>
            </a:extLst>
          </p:cNvPr>
          <p:cNvSpPr>
            <a:spLocks xmlns:a="http://schemas.openxmlformats.org/drawingml/2006/main" noGrp="1"/>
          </p:cNvSpPr>
          <p:nvPr/>
        </p:nvSpPr>
        <p:spPr>
          <a:xfrm xmlns:a="http://schemas.openxmlformats.org/drawingml/2006/main">
            <a:off x="6410325" y="3248025"/>
            <a:ext cx="22574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14251D"/>
                </a:solidFill>
                <a:latin typeface="Arial"/>
                <a:ea typeface="Arial"/>
                <a:cs typeface="Arial"/>
              </a:defRPr>
            </a:pPr>
            <a:r>
              <a:rPr sz="1575" b="0">
                <a:solidFill>
                  <a:srgbClr val="14251D"/>
                </a:solidFill>
                <a:latin typeface="Arial"/>
                <a:ea typeface="Arial"/>
                <a:cs typeface="Arial"/>
              </a:rPr>
              <a:t>Replay, location and</a:t>
            </a:r>
          </a:p>
          <a:p xmlns:a="http://schemas.openxmlformats.org/drawingml/2006/main">
            <a:pPr>
              <a:defRPr sz="1575" b="0">
                <a:solidFill>
                  <a:srgbClr val="14251D"/>
                </a:solidFill>
                <a:latin typeface="Arial"/>
                <a:ea typeface="Arial"/>
                <a:cs typeface="Arial"/>
              </a:defRPr>
            </a:pPr>
            <a:r>
              <a:rPr sz="1575" b="0">
                <a:solidFill>
                  <a:srgbClr val="14251D"/>
                </a:solidFill>
                <a:latin typeface="Arial"/>
                <a:ea typeface="Arial"/>
                <a:cs typeface="Arial"/>
              </a:rPr>
              <a:t>dismiss / send options.</a:t>
            </a:r>
          </a:p>
        </p:txBody>
      </p:sp>
      <p:sp>
        <p:nvSpPr>
          <p:cNvPr id="19" name="text-38">
            <a:extLst xmlns:a="http://schemas.openxmlformats.org/drawingml/2006/main">
              <a:ext uri="{FF2B5EF4-FFF2-40B4-BE49-F238E27FC236}">
                <a16:creationId xmlns:a16="http://schemas.microsoft.com/office/drawing/2014/main" id="{E59545B6-5519-485F-837A-020434D22F5C}"/>
              </a:ext>
            </a:extLst>
          </p:cNvPr>
          <p:cNvSpPr>
            <a:spLocks xmlns:a="http://schemas.openxmlformats.org/drawingml/2006/main" noGrp="1"/>
          </p:cNvSpPr>
          <p:nvPr/>
        </p:nvSpPr>
        <p:spPr>
          <a:xfrm xmlns:a="http://schemas.openxmlformats.org/drawingml/2006/main">
            <a:off x="8839200" y="2743200"/>
            <a:ext cx="2571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14251D"/>
                </a:solidFill>
                <a:latin typeface="Arial"/>
                <a:ea typeface="Arial"/>
                <a:cs typeface="Arial"/>
              </a:defRPr>
            </a:pPr>
            <a:r>
              <a:rPr sz="2025" b="1">
                <a:solidFill>
                  <a:srgbClr val="14251D"/>
                </a:solidFill>
                <a:latin typeface="Arial"/>
                <a:ea typeface="Arial"/>
                <a:cs typeface="Arial"/>
              </a:rPr>
              <a:t>→</a:t>
            </a:r>
          </a:p>
        </p:txBody>
      </p:sp>
      <p:sp>
        <p:nvSpPr>
          <p:cNvPr id="20" name="">
            <a:extLst xmlns:a="http://schemas.openxmlformats.org/drawingml/2006/main">
              <a:ext uri="{FF2B5EF4-FFF2-40B4-BE49-F238E27FC236}">
                <a16:creationId xmlns:a16="http://schemas.microsoft.com/office/drawing/2014/main" id="{6A7539B4-8945-42F2-8BE1-F642514607DB}"/>
              </a:ext>
            </a:extLst>
          </p:cNvPr>
          <p:cNvSpPr>
            <a:spLocks xmlns:a="http://schemas.openxmlformats.org/drawingml/2006/main" noGrp="1"/>
          </p:cNvSpPr>
          <p:nvPr/>
        </p:nvSpPr>
        <p:spPr>
          <a:xfrm xmlns:a="http://schemas.openxmlformats.org/drawingml/2006/main">
            <a:off x="9077325" y="1990725"/>
            <a:ext cx="2581275" cy="2143125"/>
          </a:xfrm>
          <a:prstGeom xmlns:a="http://schemas.openxmlformats.org/drawingml/2006/main" prst="rect">
            <a:avLst/>
          </a:prstGeom>
          <a:solidFill xmlns:a="http://schemas.openxmlformats.org/drawingml/2006/main">
            <a:srgbClr val="14251D"/>
          </a:solidFill>
          <a:ln xmlns:a="http://schemas.openxmlformats.org/drawingml/2006/main" w="0">
            <a:noFill/>
          </a:ln>
        </p:spPr>
      </p:sp>
      <p:sp>
        <p:nvSpPr>
          <p:cNvPr id="21" name="text-39">
            <a:extLst xmlns:a="http://schemas.openxmlformats.org/drawingml/2006/main">
              <a:ext uri="{FF2B5EF4-FFF2-40B4-BE49-F238E27FC236}">
                <a16:creationId xmlns:a16="http://schemas.microsoft.com/office/drawing/2014/main" id="{407B73F0-03C1-4B70-96E3-174582F31D64}"/>
              </a:ext>
            </a:extLst>
          </p:cNvPr>
          <p:cNvSpPr>
            <a:spLocks xmlns:a="http://schemas.openxmlformats.org/drawingml/2006/main" noGrp="1"/>
          </p:cNvSpPr>
          <p:nvPr/>
        </p:nvSpPr>
        <p:spPr>
          <a:xfrm xmlns:a="http://schemas.openxmlformats.org/drawingml/2006/main">
            <a:off x="9258300" y="2181225"/>
            <a:ext cx="22383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1">
                <a:solidFill>
                  <a:srgbClr val="D2F56A"/>
                </a:solidFill>
                <a:latin typeface="Arial"/>
                <a:ea typeface="Arial"/>
                <a:cs typeface="Arial"/>
              </a:defRPr>
            </a:pPr>
            <a:r>
              <a:rPr sz="1200" b="1">
                <a:solidFill>
                  <a:srgbClr val="D2F56A"/>
                </a:solidFill>
                <a:latin typeface="Arial"/>
                <a:ea typeface="Arial"/>
                <a:cs typeface="Arial"/>
              </a:rPr>
              <a:t>04 / RESPOND</a:t>
            </a:r>
          </a:p>
        </p:txBody>
      </p:sp>
      <p:sp>
        <p:nvSpPr>
          <p:cNvPr id="22" name="text-40">
            <a:extLst xmlns:a="http://schemas.openxmlformats.org/drawingml/2006/main">
              <a:ext uri="{FF2B5EF4-FFF2-40B4-BE49-F238E27FC236}">
                <a16:creationId xmlns:a16="http://schemas.microsoft.com/office/drawing/2014/main" id="{E76018E6-734D-4101-89E9-1319700B5526}"/>
              </a:ext>
            </a:extLst>
          </p:cNvPr>
          <p:cNvSpPr>
            <a:spLocks xmlns:a="http://schemas.openxmlformats.org/drawingml/2006/main" noGrp="1"/>
          </p:cNvSpPr>
          <p:nvPr/>
        </p:nvSpPr>
        <p:spPr>
          <a:xfrm xmlns:a="http://schemas.openxmlformats.org/drawingml/2006/main">
            <a:off x="9258300" y="2667000"/>
            <a:ext cx="22574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F7FAF5"/>
                </a:solidFill>
                <a:latin typeface="Arial"/>
                <a:ea typeface="Arial"/>
                <a:cs typeface="Arial"/>
              </a:defRPr>
            </a:pPr>
            <a:r>
              <a:rPr sz="1875" b="1">
                <a:solidFill>
                  <a:srgbClr val="F7FAF5"/>
                </a:solidFill>
                <a:latin typeface="Arial"/>
                <a:ea typeface="Arial"/>
                <a:cs typeface="Arial"/>
              </a:rPr>
              <a:t>Responder phone</a:t>
            </a:r>
          </a:p>
        </p:txBody>
      </p:sp>
      <p:sp>
        <p:nvSpPr>
          <p:cNvPr id="23" name="text-41">
            <a:extLst xmlns:a="http://schemas.openxmlformats.org/drawingml/2006/main">
              <a:ext uri="{FF2B5EF4-FFF2-40B4-BE49-F238E27FC236}">
                <a16:creationId xmlns:a16="http://schemas.microsoft.com/office/drawing/2014/main" id="{9617EAAB-4E19-48F6-9899-7E17AA8FB75F}"/>
              </a:ext>
            </a:extLst>
          </p:cNvPr>
          <p:cNvSpPr>
            <a:spLocks xmlns:a="http://schemas.openxmlformats.org/drawingml/2006/main" noGrp="1"/>
          </p:cNvSpPr>
          <p:nvPr/>
        </p:nvSpPr>
        <p:spPr>
          <a:xfrm xmlns:a="http://schemas.openxmlformats.org/drawingml/2006/main">
            <a:off x="9258300" y="3248025"/>
            <a:ext cx="22574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F7FAF5"/>
                </a:solidFill>
                <a:latin typeface="Arial"/>
                <a:ea typeface="Arial"/>
                <a:cs typeface="Arial"/>
              </a:defRPr>
            </a:pPr>
            <a:r>
              <a:rPr sz="1575" b="0">
                <a:solidFill>
                  <a:srgbClr val="F7FAF5"/>
                </a:solidFill>
                <a:latin typeface="Arial"/>
                <a:ea typeface="Arial"/>
                <a:cs typeface="Arial"/>
              </a:rPr>
              <a:t>Human-approved alert;</a:t>
            </a:r>
          </a:p>
          <a:p xmlns:a="http://schemas.openxmlformats.org/drawingml/2006/main">
            <a:pPr>
              <a:defRPr sz="1575" b="0">
                <a:solidFill>
                  <a:srgbClr val="F7FAF5"/>
                </a:solidFill>
                <a:latin typeface="Arial"/>
                <a:ea typeface="Arial"/>
                <a:cs typeface="Arial"/>
              </a:defRPr>
            </a:pPr>
            <a:r>
              <a:rPr sz="1575" b="0">
                <a:solidFill>
                  <a:srgbClr val="F7FAF5"/>
                </a:solidFill>
                <a:latin typeface="Arial"/>
                <a:ea typeface="Arial"/>
                <a:cs typeface="Arial"/>
              </a:rPr>
              <a:t>acknowledge and close.</a:t>
            </a:r>
          </a:p>
        </p:txBody>
      </p:sp>
      <p:sp>
        <p:nvSpPr>
          <p:cNvPr id="24" name="text-42">
            <a:extLst xmlns:a="http://schemas.openxmlformats.org/drawingml/2006/main">
              <a:ext uri="{FF2B5EF4-FFF2-40B4-BE49-F238E27FC236}">
                <a16:creationId xmlns:a16="http://schemas.microsoft.com/office/drawing/2014/main" id="{3344696F-9AE9-45A5-A014-20A64CEF39B8}"/>
              </a:ext>
            </a:extLst>
          </p:cNvPr>
          <p:cNvSpPr>
            <a:spLocks xmlns:a="http://schemas.openxmlformats.org/drawingml/2006/main" noGrp="1"/>
          </p:cNvSpPr>
          <p:nvPr/>
        </p:nvSpPr>
        <p:spPr>
          <a:xfrm xmlns:a="http://schemas.openxmlformats.org/drawingml/2006/main">
            <a:off x="533400" y="4581525"/>
            <a:ext cx="52482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14251D"/>
                </a:solidFill>
                <a:latin typeface="Arial"/>
                <a:ea typeface="Arial"/>
                <a:cs typeface="Arial"/>
              </a:defRPr>
            </a:pPr>
            <a:r>
              <a:rPr sz="1875" b="1">
                <a:solidFill>
                  <a:srgbClr val="14251D"/>
                </a:solidFill>
                <a:latin typeface="Arial"/>
                <a:ea typeface="Arial"/>
                <a:cs typeface="Arial"/>
              </a:rPr>
              <a:t>Frontend / browser</a:t>
            </a:r>
          </a:p>
        </p:txBody>
      </p:sp>
      <p:sp>
        <p:nvSpPr>
          <p:cNvPr id="25" name="text-43">
            <a:extLst xmlns:a="http://schemas.openxmlformats.org/drawingml/2006/main">
              <a:ext uri="{FF2B5EF4-FFF2-40B4-BE49-F238E27FC236}">
                <a16:creationId xmlns:a16="http://schemas.microsoft.com/office/drawing/2014/main" id="{E9434D23-88DC-4B34-9C1C-EDBA17BCCA9F}"/>
              </a:ext>
            </a:extLst>
          </p:cNvPr>
          <p:cNvSpPr>
            <a:spLocks xmlns:a="http://schemas.openxmlformats.org/drawingml/2006/main" noGrp="1"/>
          </p:cNvSpPr>
          <p:nvPr/>
        </p:nvSpPr>
        <p:spPr>
          <a:xfrm xmlns:a="http://schemas.openxmlformats.org/drawingml/2006/main">
            <a:off x="533400" y="4991100"/>
            <a:ext cx="52482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506056"/>
                </a:solidFill>
                <a:latin typeface="Arial"/>
                <a:ea typeface="Arial"/>
                <a:cs typeface="Arial"/>
              </a:defRPr>
            </a:pPr>
            <a:r>
              <a:rPr sz="1725" b="0">
                <a:solidFill>
                  <a:srgbClr val="506056"/>
                </a:solidFill>
                <a:latin typeface="Arial"/>
                <a:ea typeface="Arial"/>
                <a:cs typeface="Arial"/>
              </a:rPr>
              <a:t>React views for camera, operator and responder. Run pose inference in a worker.</a:t>
            </a:r>
          </a:p>
        </p:txBody>
      </p:sp>
      <p:sp>
        <p:nvSpPr>
          <p:cNvPr id="26" name="text-44">
            <a:extLst xmlns:a="http://schemas.openxmlformats.org/drawingml/2006/main">
              <a:ext uri="{FF2B5EF4-FFF2-40B4-BE49-F238E27FC236}">
                <a16:creationId xmlns:a16="http://schemas.microsoft.com/office/drawing/2014/main" id="{D6D07350-A6BC-4CE3-9B4C-B48F0F16F0BF}"/>
              </a:ext>
            </a:extLst>
          </p:cNvPr>
          <p:cNvSpPr>
            <a:spLocks xmlns:a="http://schemas.openxmlformats.org/drawingml/2006/main" noGrp="1"/>
          </p:cNvSpPr>
          <p:nvPr/>
        </p:nvSpPr>
        <p:spPr>
          <a:xfrm xmlns:a="http://schemas.openxmlformats.org/drawingml/2006/main">
            <a:off x="6400800" y="4581525"/>
            <a:ext cx="5257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14251D"/>
                </a:solidFill>
                <a:latin typeface="Arial"/>
                <a:ea typeface="Arial"/>
                <a:cs typeface="Arial"/>
              </a:defRPr>
            </a:pPr>
            <a:r>
              <a:rPr sz="1875" b="1">
                <a:solidFill>
                  <a:srgbClr val="14251D"/>
                </a:solidFill>
                <a:latin typeface="Arial"/>
                <a:ea typeface="Arial"/>
                <a:cs typeface="Arial"/>
              </a:rPr>
              <a:t>Backend / event workflow</a:t>
            </a:r>
          </a:p>
        </p:txBody>
      </p:sp>
      <p:sp>
        <p:nvSpPr>
          <p:cNvPr id="27" name="text-45">
            <a:extLst xmlns:a="http://schemas.openxmlformats.org/drawingml/2006/main">
              <a:ext uri="{FF2B5EF4-FFF2-40B4-BE49-F238E27FC236}">
                <a16:creationId xmlns:a16="http://schemas.microsoft.com/office/drawing/2014/main" id="{7310701D-0A6E-4BFC-A1F0-E58E8BD7260F}"/>
              </a:ext>
            </a:extLst>
          </p:cNvPr>
          <p:cNvSpPr>
            <a:spLocks xmlns:a="http://schemas.openxmlformats.org/drawingml/2006/main" noGrp="1"/>
          </p:cNvSpPr>
          <p:nvPr/>
        </p:nvSpPr>
        <p:spPr>
          <a:xfrm xmlns:a="http://schemas.openxmlformats.org/drawingml/2006/main">
            <a:off x="6400800" y="4991100"/>
            <a:ext cx="5257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506056"/>
                </a:solidFill>
                <a:latin typeface="Arial"/>
                <a:ea typeface="Arial"/>
                <a:cs typeface="Arial"/>
              </a:defRPr>
            </a:pPr>
            <a:r>
              <a:rPr sz="1725" b="0">
                <a:solidFill>
                  <a:srgbClr val="506056"/>
                </a:solidFill>
                <a:latin typeface="Arial"/>
                <a:ea typeface="Arial"/>
                <a:cs typeface="Arial"/>
              </a:rPr>
              <a:t>FastAPI + WebSockets for alerts and acknowledgements; local demo, no cloud required.</a:t>
            </a:r>
          </a:p>
        </p:txBody>
      </p:sp>
      <p:sp>
        <p:nvSpPr>
          <p:cNvPr id="28" name="text-46">
            <a:extLst xmlns:a="http://schemas.openxmlformats.org/drawingml/2006/main">
              <a:ext uri="{FF2B5EF4-FFF2-40B4-BE49-F238E27FC236}">
                <a16:creationId xmlns:a16="http://schemas.microsoft.com/office/drawing/2014/main" id="{68F50D34-CE14-4196-BF20-3849A8398B32}"/>
              </a:ext>
            </a:extLst>
          </p:cNvPr>
          <p:cNvSpPr>
            <a:spLocks xmlns:a="http://schemas.openxmlformats.org/drawingml/2006/main" noGrp="1"/>
          </p:cNvSpPr>
          <p:nvPr/>
        </p:nvSpPr>
        <p:spPr>
          <a:xfrm xmlns:a="http://schemas.openxmlformats.org/drawingml/2006/main">
            <a:off x="552450" y="5953125"/>
            <a:ext cx="111252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506056"/>
                </a:solidFill>
                <a:latin typeface="Arial"/>
                <a:ea typeface="Arial"/>
                <a:cs typeface="Arial"/>
              </a:defRPr>
            </a:pPr>
            <a:r>
              <a:rPr sz="1575" b="0">
                <a:solidFill>
                  <a:srgbClr val="506056"/>
                </a:solidFill>
                <a:latin typeface="Arial"/>
                <a:ea typeface="Arial"/>
                <a:cs typeface="Arial"/>
              </a:rPr>
              <a:t>AI prioritises review. It does not infer identity, intent or guilt.</a:t>
            </a:r>
          </a:p>
        </p:txBody>
      </p:sp>
    </p:spTree>
    <p:extLst>
      <p:ext uri="{BB962C8B-B14F-4D97-AF65-F5344CB8AC3E}">
        <p14:creationId xmlns:p14="http://schemas.microsoft.com/office/powerpoint/2010/main" val="1321217993"/>
      </p:ext>
    </p:extLst>
  </p:cSld>
</p:sld>
</file>

<file path=ppt/slides/slide4.xml><?xml version="1.0" encoding="utf-8"?>
<p:sld xmlns:p="http://schemas.openxmlformats.org/presentationml/2006/main">
  <p:cSld>
    <p:bg>
      <p:bgPr>
        <a:solidFill xmlns:a="http://schemas.openxmlformats.org/drawingml/2006/main">
          <a:srgbClr val="F7FAF5"/>
        </a:solidFill>
      </p:bgPr>
    </p:bg>
    <p:spTree>
      <p:nvGrpSpPr>
        <p:cNvPr id="1" name=""/>
        <p:cNvGrpSpPr/>
        <p:nvPr/>
      </p:nvGrpSpPr>
      <p:grpSpPr>
        <a:xfrm xmlns:a="http://schemas.openxmlformats.org/drawingml/2006/main"/>
      </p:grpSpPr>
      <p:sp>
        <p:nvSpPr>
          <p:cNvPr id="13" name="text-47">
            <a:extLst xmlns:a="http://schemas.openxmlformats.org/drawingml/2006/main">
              <a:ext uri="{FF2B5EF4-FFF2-40B4-BE49-F238E27FC236}">
                <a16:creationId xmlns:a16="http://schemas.microsoft.com/office/drawing/2014/main" id="{4124C519-A13E-405A-967B-F56222C36CCE}"/>
              </a:ext>
            </a:extLst>
          </p:cNvPr>
          <p:cNvSpPr>
            <a:spLocks xmlns:a="http://schemas.openxmlformats.org/drawingml/2006/main" noGrp="1"/>
          </p:cNvSpPr>
          <p:nvPr/>
        </p:nvSpPr>
        <p:spPr>
          <a:xfrm xmlns:a="http://schemas.openxmlformats.org/drawingml/2006/main">
            <a:off x="533400" y="447675"/>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600" b="1">
                <a:solidFill>
                  <a:srgbClr val="14251D"/>
                </a:solidFill>
                <a:latin typeface="Arial"/>
                <a:ea typeface="Arial"/>
                <a:cs typeface="Arial"/>
              </a:defRPr>
            </a:pPr>
            <a:r>
              <a:rPr sz="3600" b="1">
                <a:solidFill>
                  <a:srgbClr val="14251D"/>
                </a:solidFill>
                <a:latin typeface="Arial"/>
                <a:ea typeface="Arial"/>
                <a:cs typeface="Arial"/>
              </a:rPr>
              <a:t>Feasibility and Viability</a:t>
            </a:r>
          </a:p>
        </p:txBody>
      </p:sp>
      <p:sp>
        <p:nvSpPr>
          <p:cNvPr id="2" name="text-48">
            <a:extLst xmlns:a="http://schemas.openxmlformats.org/drawingml/2006/main">
              <a:ext uri="{FF2B5EF4-FFF2-40B4-BE49-F238E27FC236}">
                <a16:creationId xmlns:a16="http://schemas.microsoft.com/office/drawing/2014/main" id="{CFC75ABB-58F1-4D38-933E-E8741C65EB2D}"/>
              </a:ext>
            </a:extLst>
          </p:cNvPr>
          <p:cNvSpPr>
            <a:spLocks xmlns:a="http://schemas.openxmlformats.org/drawingml/2006/main" noGrp="1"/>
          </p:cNvSpPr>
          <p:nvPr/>
        </p:nvSpPr>
        <p:spPr>
          <a:xfrm xmlns:a="http://schemas.openxmlformats.org/drawingml/2006/main">
            <a:off x="533400" y="6457950"/>
            <a:ext cx="981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75" b="0">
                <a:solidFill>
                  <a:srgbClr val="506056"/>
                </a:solidFill>
                <a:latin typeface="Arial"/>
                <a:ea typeface="Arial"/>
                <a:cs typeface="Arial"/>
              </a:defRPr>
            </a:pPr>
            <a:r>
              <a:rPr sz="975" b="0">
                <a:solidFill>
                  <a:srgbClr val="506056"/>
                </a:solidFill>
                <a:latin typeface="Arial"/>
                <a:ea typeface="Arial"/>
                <a:cs typeface="Arial"/>
              </a:rPr>
              <a:t>NIVRA / BAL BHARATI HACKATHON 3.0</a:t>
            </a:r>
          </a:p>
        </p:txBody>
      </p:sp>
      <p:sp>
        <p:nvSpPr>
          <p:cNvPr id="3" name="text-49">
            <a:extLst xmlns:a="http://schemas.openxmlformats.org/drawingml/2006/main">
              <a:ext uri="{FF2B5EF4-FFF2-40B4-BE49-F238E27FC236}">
                <a16:creationId xmlns:a16="http://schemas.microsoft.com/office/drawing/2014/main" id="{C3146AC1-00A6-4262-BBF8-F91377615A52}"/>
              </a:ext>
            </a:extLst>
          </p:cNvPr>
          <p:cNvSpPr>
            <a:spLocks xmlns:a="http://schemas.openxmlformats.org/drawingml/2006/main" noGrp="1"/>
          </p:cNvSpPr>
          <p:nvPr/>
        </p:nvSpPr>
        <p:spPr>
          <a:xfrm xmlns:a="http://schemas.openxmlformats.org/drawingml/2006/main">
            <a:off x="11239500" y="6419850"/>
            <a:ext cx="419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14251D"/>
                </a:solidFill>
                <a:latin typeface="Arial"/>
                <a:ea typeface="Arial"/>
                <a:cs typeface="Arial"/>
              </a:defRPr>
            </a:pPr>
            <a:r>
              <a:rPr sz="1200" b="0">
                <a:solidFill>
                  <a:srgbClr val="14251D"/>
                </a:solidFill>
                <a:latin typeface="Arial"/>
                <a:ea typeface="Arial"/>
                <a:cs typeface="Arial"/>
              </a:rPr>
              <a:t>04</a:t>
            </a:r>
          </a:p>
        </p:txBody>
      </p:sp>
      <p:sp>
        <p:nvSpPr>
          <p:cNvPr id="4" name="text-50">
            <a:extLst xmlns:a="http://schemas.openxmlformats.org/drawingml/2006/main">
              <a:ext uri="{FF2B5EF4-FFF2-40B4-BE49-F238E27FC236}">
                <a16:creationId xmlns:a16="http://schemas.microsoft.com/office/drawing/2014/main" id="{3F4552A6-71CB-4163-9589-EF361C01A2F4}"/>
              </a:ext>
            </a:extLst>
          </p:cNvPr>
          <p:cNvSpPr>
            <a:spLocks xmlns:a="http://schemas.openxmlformats.org/drawingml/2006/main" noGrp="1"/>
          </p:cNvSpPr>
          <p:nvPr/>
        </p:nvSpPr>
        <p:spPr>
          <a:xfrm xmlns:a="http://schemas.openxmlformats.org/drawingml/2006/main">
            <a:off x="533400" y="1381125"/>
            <a:ext cx="52482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14251D"/>
                </a:solidFill>
                <a:latin typeface="Arial"/>
                <a:ea typeface="Arial"/>
                <a:cs typeface="Arial"/>
              </a:defRPr>
            </a:pPr>
            <a:r>
              <a:rPr sz="1875" b="1">
                <a:solidFill>
                  <a:srgbClr val="14251D"/>
                </a:solidFill>
                <a:latin typeface="Arial"/>
                <a:ea typeface="Arial"/>
                <a:cs typeface="Arial"/>
              </a:rPr>
              <a:t>Technical</a:t>
            </a:r>
          </a:p>
        </p:txBody>
      </p:sp>
      <p:sp>
        <p:nvSpPr>
          <p:cNvPr id="5" name="text-51">
            <a:extLst xmlns:a="http://schemas.openxmlformats.org/drawingml/2006/main">
              <a:ext uri="{FF2B5EF4-FFF2-40B4-BE49-F238E27FC236}">
                <a16:creationId xmlns:a16="http://schemas.microsoft.com/office/drawing/2014/main" id="{5B1544C7-B884-4FB4-9C70-073C6848E3A9}"/>
              </a:ext>
            </a:extLst>
          </p:cNvPr>
          <p:cNvSpPr>
            <a:spLocks xmlns:a="http://schemas.openxmlformats.org/drawingml/2006/main" noGrp="1"/>
          </p:cNvSpPr>
          <p:nvPr/>
        </p:nvSpPr>
        <p:spPr>
          <a:xfrm xmlns:a="http://schemas.openxmlformats.org/drawingml/2006/main">
            <a:off x="533400" y="1790700"/>
            <a:ext cx="52482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506056"/>
                </a:solidFill>
                <a:latin typeface="Arial"/>
                <a:ea typeface="Arial"/>
                <a:cs typeface="Arial"/>
              </a:defRPr>
            </a:pPr>
            <a:r>
              <a:rPr sz="1725" b="0">
                <a:solidFill>
                  <a:srgbClr val="506056"/>
                </a:solidFill>
                <a:latin typeface="Arial"/>
                <a:ea typeface="Arial"/>
                <a:cs typeface="Arial"/>
              </a:rPr>
              <a:t>Existing pose models are available. Reliable escalation cues remain unproven.</a:t>
            </a:r>
          </a:p>
        </p:txBody>
      </p:sp>
      <p:sp>
        <p:nvSpPr>
          <p:cNvPr id="6" name="text-52">
            <a:extLst xmlns:a="http://schemas.openxmlformats.org/drawingml/2006/main">
              <a:ext uri="{FF2B5EF4-FFF2-40B4-BE49-F238E27FC236}">
                <a16:creationId xmlns:a16="http://schemas.microsoft.com/office/drawing/2014/main" id="{79089322-800E-4685-A2C4-F73E153FDC25}"/>
              </a:ext>
            </a:extLst>
          </p:cNvPr>
          <p:cNvSpPr>
            <a:spLocks xmlns:a="http://schemas.openxmlformats.org/drawingml/2006/main" noGrp="1"/>
          </p:cNvSpPr>
          <p:nvPr/>
        </p:nvSpPr>
        <p:spPr>
          <a:xfrm xmlns:a="http://schemas.openxmlformats.org/drawingml/2006/main">
            <a:off x="6400800" y="1381125"/>
            <a:ext cx="5257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14251D"/>
                </a:solidFill>
                <a:latin typeface="Arial"/>
                <a:ea typeface="Arial"/>
                <a:cs typeface="Arial"/>
              </a:defRPr>
            </a:pPr>
            <a:r>
              <a:rPr sz="1875" b="1">
                <a:solidFill>
                  <a:srgbClr val="14251D"/>
                </a:solidFill>
                <a:latin typeface="Arial"/>
                <a:ea typeface="Arial"/>
                <a:cs typeface="Arial"/>
              </a:rPr>
              <a:t>Operational</a:t>
            </a:r>
          </a:p>
        </p:txBody>
      </p:sp>
      <p:sp>
        <p:nvSpPr>
          <p:cNvPr id="7" name="text-53">
            <a:extLst xmlns:a="http://schemas.openxmlformats.org/drawingml/2006/main">
              <a:ext uri="{FF2B5EF4-FFF2-40B4-BE49-F238E27FC236}">
                <a16:creationId xmlns:a16="http://schemas.microsoft.com/office/drawing/2014/main" id="{223B00AF-462A-4F5F-9952-FBB8241FE745}"/>
              </a:ext>
            </a:extLst>
          </p:cNvPr>
          <p:cNvSpPr>
            <a:spLocks xmlns:a="http://schemas.openxmlformats.org/drawingml/2006/main" noGrp="1"/>
          </p:cNvSpPr>
          <p:nvPr/>
        </p:nvSpPr>
        <p:spPr>
          <a:xfrm xmlns:a="http://schemas.openxmlformats.org/drawingml/2006/main">
            <a:off x="6400800" y="1790700"/>
            <a:ext cx="5257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506056"/>
                </a:solidFill>
                <a:latin typeface="Arial"/>
                <a:ea typeface="Arial"/>
                <a:cs typeface="Arial"/>
              </a:defRPr>
            </a:pPr>
            <a:r>
              <a:rPr sz="1725" b="0">
                <a:solidFill>
                  <a:srgbClr val="506056"/>
                </a:solidFill>
                <a:latin typeface="Arial"/>
                <a:ea typeface="Arial"/>
                <a:cs typeface="Arial"/>
              </a:rPr>
              <a:t>One camera, one operator, one responder. Trial the workflow with school staff.</a:t>
            </a:r>
          </a:p>
        </p:txBody>
      </p:sp>
      <p:sp>
        <p:nvSpPr>
          <p:cNvPr id="8" name="text-54">
            <a:extLst xmlns:a="http://schemas.openxmlformats.org/drawingml/2006/main">
              <a:ext uri="{FF2B5EF4-FFF2-40B4-BE49-F238E27FC236}">
                <a16:creationId xmlns:a16="http://schemas.microsoft.com/office/drawing/2014/main" id="{95A064CE-5CA5-43EA-8E6B-40F6B814582A}"/>
              </a:ext>
            </a:extLst>
          </p:cNvPr>
          <p:cNvSpPr>
            <a:spLocks xmlns:a="http://schemas.openxmlformats.org/drawingml/2006/main" noGrp="1"/>
          </p:cNvSpPr>
          <p:nvPr/>
        </p:nvSpPr>
        <p:spPr>
          <a:xfrm xmlns:a="http://schemas.openxmlformats.org/drawingml/2006/main">
            <a:off x="533400" y="2790825"/>
            <a:ext cx="52482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14251D"/>
                </a:solidFill>
                <a:latin typeface="Arial"/>
                <a:ea typeface="Arial"/>
                <a:cs typeface="Arial"/>
              </a:defRPr>
            </a:pPr>
            <a:r>
              <a:rPr sz="1875" b="1">
                <a:solidFill>
                  <a:srgbClr val="14251D"/>
                </a:solidFill>
                <a:latin typeface="Arial"/>
                <a:ea typeface="Arial"/>
                <a:cs typeface="Arial"/>
              </a:rPr>
              <a:t>Resources needed</a:t>
            </a:r>
          </a:p>
        </p:txBody>
      </p:sp>
      <p:sp>
        <p:nvSpPr>
          <p:cNvPr id="9" name="text-55">
            <a:extLst xmlns:a="http://schemas.openxmlformats.org/drawingml/2006/main">
              <a:ext uri="{FF2B5EF4-FFF2-40B4-BE49-F238E27FC236}">
                <a16:creationId xmlns:a16="http://schemas.microsoft.com/office/drawing/2014/main" id="{109551ED-5688-40A0-87DF-0D0C53CE5C90}"/>
              </a:ext>
            </a:extLst>
          </p:cNvPr>
          <p:cNvSpPr>
            <a:spLocks xmlns:a="http://schemas.openxmlformats.org/drawingml/2006/main" noGrp="1"/>
          </p:cNvSpPr>
          <p:nvPr/>
        </p:nvSpPr>
        <p:spPr>
          <a:xfrm xmlns:a="http://schemas.openxmlformats.org/drawingml/2006/main">
            <a:off x="533400" y="3200400"/>
            <a:ext cx="52482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506056"/>
                </a:solidFill>
                <a:latin typeface="Arial"/>
                <a:ea typeface="Arial"/>
                <a:cs typeface="Arial"/>
              </a:defRPr>
            </a:pPr>
            <a:r>
              <a:rPr sz="1725" b="0">
                <a:solidFill>
                  <a:srgbClr val="506056"/>
                </a:solidFill>
                <a:latin typeface="Arial"/>
                <a:ea typeface="Arial"/>
                <a:cs typeface="Arial"/>
              </a:rPr>
              <a:t>Two phones, a laptop, network, web/ML skills and mentor support. Build in small stages.</a:t>
            </a:r>
          </a:p>
        </p:txBody>
      </p:sp>
      <p:sp>
        <p:nvSpPr>
          <p:cNvPr id="10" name="text-56">
            <a:extLst xmlns:a="http://schemas.openxmlformats.org/drawingml/2006/main">
              <a:ext uri="{FF2B5EF4-FFF2-40B4-BE49-F238E27FC236}">
                <a16:creationId xmlns:a16="http://schemas.microsoft.com/office/drawing/2014/main" id="{4814910A-170A-41E3-A489-36596EC94F21}"/>
              </a:ext>
            </a:extLst>
          </p:cNvPr>
          <p:cNvSpPr>
            <a:spLocks xmlns:a="http://schemas.openxmlformats.org/drawingml/2006/main" noGrp="1"/>
          </p:cNvSpPr>
          <p:nvPr/>
        </p:nvSpPr>
        <p:spPr>
          <a:xfrm xmlns:a="http://schemas.openxmlformats.org/drawingml/2006/main">
            <a:off x="6400800" y="2790825"/>
            <a:ext cx="5257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14251D"/>
                </a:solidFill>
                <a:latin typeface="Arial"/>
                <a:ea typeface="Arial"/>
                <a:cs typeface="Arial"/>
              </a:defRPr>
            </a:pPr>
            <a:r>
              <a:rPr sz="1875" b="1">
                <a:solidFill>
                  <a:srgbClr val="14251D"/>
                </a:solidFill>
                <a:latin typeface="Arial"/>
                <a:ea typeface="Arial"/>
                <a:cs typeface="Arial"/>
              </a:rPr>
              <a:t>Data &amp; build plan</a:t>
            </a:r>
          </a:p>
        </p:txBody>
      </p:sp>
      <p:sp>
        <p:nvSpPr>
          <p:cNvPr id="11" name="text-57">
            <a:extLst xmlns:a="http://schemas.openxmlformats.org/drawingml/2006/main">
              <a:ext uri="{FF2B5EF4-FFF2-40B4-BE49-F238E27FC236}">
                <a16:creationId xmlns:a16="http://schemas.microsoft.com/office/drawing/2014/main" id="{C6BB5E76-A9A5-4F7A-9E37-0E85D351B046}"/>
              </a:ext>
            </a:extLst>
          </p:cNvPr>
          <p:cNvSpPr>
            <a:spLocks xmlns:a="http://schemas.openxmlformats.org/drawingml/2006/main" noGrp="1"/>
          </p:cNvSpPr>
          <p:nvPr/>
        </p:nvSpPr>
        <p:spPr>
          <a:xfrm xmlns:a="http://schemas.openxmlformats.org/drawingml/2006/main">
            <a:off x="6400800" y="3200400"/>
            <a:ext cx="5257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506056"/>
                </a:solidFill>
                <a:latin typeface="Arial"/>
                <a:ea typeface="Arial"/>
                <a:cs typeface="Arial"/>
              </a:defRPr>
            </a:pPr>
            <a:r>
              <a:rPr sz="1725" b="0">
                <a:solidFill>
                  <a:srgbClr val="506056"/>
                </a:solidFill>
                <a:latin typeface="Arial"/>
                <a:ea typeface="Arial"/>
                <a:cs typeface="Arial"/>
              </a:rPr>
              <a:t>Permissioned staged clips; none collected yet. Connect → flag → review → acknowledge.</a:t>
            </a:r>
          </a:p>
        </p:txBody>
      </p:sp>
      <p:graphicFrame>
        <p:nvGraphicFramePr>
          <p:cNvPr id="24" name=""/>
          <p:cNvGraphicFramePr/>
          <p:nvPr/>
        </p:nvGraphicFramePr>
        <p:xfrm>
          <a:off xmlns:a="http://schemas.openxmlformats.org/drawingml/2006/main" x="533400" y="4295775"/>
          <a:ext xmlns:a="http://schemas.openxmlformats.org/drawingml/2006/main" cx="11125200" cy="1924050"/>
        </p:xfrm>
        <a:graphic xmlns:a="http://schemas.openxmlformats.org/drawingml/2006/main">
          <a:graphicData uri="http://schemas.openxmlformats.org/drawingml/2006/table">
            <a:tbl>
              <a:tblPr/>
              <a:tblGrid>
                <a:gridCol w="4048125"/>
                <a:gridCol w="7077075"/>
              </a:tblGrid>
              <a:tr h="381000">
                <a:tc>
                  <a:txBody>
                    <a:bodyPr/>
                    <a:lstStyle/>
                    <a:p>
                      <a:r>
                        <a:rPr sz="1350" b="1">
                          <a:solidFill>
                            <a:srgbClr val="F7FAF5"/>
                          </a:solidFill>
                          <a:latin typeface="Arial"/>
                          <a:ea typeface="Arial"/>
                          <a:cs typeface="Arial"/>
                        </a:rPr>
                        <a:t>Challenge / risk</a:t>
                      </a:r>
                    </a:p>
                  </a:txBody>
                  <a:tcPr marL="91440" marR="91440" marT="45720" marB="45720">
                    <a:solidFill>
                      <a:srgbClr val="14251D"/>
                    </a:solidFill>
                  </a:tcPr>
                </a:tc>
                <a:tc>
                  <a:txBody>
                    <a:bodyPr/>
                    <a:lstStyle/>
                    <a:p>
                      <a:r>
                        <a:rPr sz="1350" b="1">
                          <a:solidFill>
                            <a:srgbClr val="F7FAF5"/>
                          </a:solidFill>
                          <a:latin typeface="Arial"/>
                          <a:ea typeface="Arial"/>
                          <a:cs typeface="Arial"/>
                        </a:rPr>
                        <a:t>Proposed mitigation</a:t>
                      </a:r>
                    </a:p>
                  </a:txBody>
                  <a:tcPr marL="91440" marR="91440" marT="45720" marB="45720">
                    <a:solidFill>
                      <a:srgbClr val="14251D"/>
                    </a:solidFill>
                  </a:tcPr>
                </a:tc>
              </a:tr>
              <a:tr h="466725">
                <a:tc>
                  <a:txBody>
                    <a:bodyPr/>
                    <a:lstStyle/>
                    <a:p>
                      <a:r>
                        <a:rPr sz="1350" b="0">
                          <a:solidFill>
                            <a:srgbClr val="14251D"/>
                          </a:solidFill>
                          <a:latin typeface="Arial"/>
                          <a:ea typeface="Arial"/>
                          <a:cs typeface="Arial"/>
                        </a:rPr>
                        <a:t>Ordinary play creates false alerts</a:t>
                      </a:r>
                    </a:p>
                  </a:txBody>
                  <a:tcPr marL="91440" marR="91440" marT="45720" marB="45720">
                    <a:solidFill>
                      <a:srgbClr val="F7FAF5"/>
                    </a:solidFill>
                  </a:tcPr>
                </a:tc>
                <a:tc>
                  <a:txBody>
                    <a:bodyPr/>
                    <a:lstStyle/>
                    <a:p>
                      <a:r>
                        <a:rPr sz="1350" b="0">
                          <a:solidFill>
                            <a:srgbClr val="14251D"/>
                          </a:solidFill>
                          <a:latin typeface="Arial"/>
                          <a:ea typeface="Arial"/>
                          <a:cs typeface="Arial"/>
                        </a:rPr>
                        <a:t>Use temporal rules; require human review before dispatch.</a:t>
                      </a:r>
                    </a:p>
                  </a:txBody>
                  <a:tcPr marL="91440" marR="91440" marT="45720" marB="45720">
                    <a:solidFill>
                      <a:srgbClr val="F7FAF5"/>
                    </a:solidFill>
                  </a:tcPr>
                </a:tc>
              </a:tr>
              <a:tr h="466725">
                <a:tc>
                  <a:txBody>
                    <a:bodyPr/>
                    <a:lstStyle/>
                    <a:p>
                      <a:r>
                        <a:rPr sz="1350" b="0">
                          <a:solidFill>
                            <a:srgbClr val="14251D"/>
                          </a:solidFill>
                          <a:latin typeface="Arial"/>
                          <a:ea typeface="Arial"/>
                          <a:cs typeface="Arial"/>
                        </a:rPr>
                        <a:t>Occlusion, poor light or network loss</a:t>
                      </a:r>
                    </a:p>
                  </a:txBody>
                  <a:tcPr marL="91440" marR="91440" marT="45720" marB="45720">
                    <a:solidFill>
                      <a:srgbClr val="F7FAF5"/>
                    </a:solidFill>
                  </a:tcPr>
                </a:tc>
                <a:tc>
                  <a:txBody>
                    <a:bodyPr/>
                    <a:lstStyle/>
                    <a:p>
                      <a:r>
                        <a:rPr sz="1350" b="0">
                          <a:solidFill>
                            <a:srgbClr val="14251D"/>
                          </a:solidFill>
                          <a:latin typeface="Arial"/>
                          <a:ea typeface="Arial"/>
                          <a:cs typeface="Arial"/>
                        </a:rPr>
                        <a:t>Show confidence / offline state; test varied scenes.</a:t>
                      </a:r>
                    </a:p>
                  </a:txBody>
                  <a:tcPr marL="91440" marR="91440" marT="45720" marB="45720">
                    <a:solidFill>
                      <a:srgbClr val="F7FAF5"/>
                    </a:solidFill>
                  </a:tcPr>
                </a:tc>
              </a:tr>
              <a:tr h="609600">
                <a:tc>
                  <a:txBody>
                    <a:bodyPr/>
                    <a:lstStyle/>
                    <a:p>
                      <a:r>
                        <a:rPr sz="1350" b="0">
                          <a:solidFill>
                            <a:srgbClr val="14251D"/>
                          </a:solidFill>
                          <a:latin typeface="Arial"/>
                          <a:ea typeface="Arial"/>
                          <a:cs typeface="Arial"/>
                        </a:rPr>
                        <a:t>Video privacy and child data</a:t>
                      </a:r>
                    </a:p>
                  </a:txBody>
                  <a:tcPr marL="91440" marR="91440" marT="45720" marB="45720">
                    <a:solidFill>
                      <a:srgbClr val="F7FAF5"/>
                    </a:solidFill>
                  </a:tcPr>
                </a:tc>
                <a:tc>
                  <a:txBody>
                    <a:bodyPr/>
                    <a:lstStyle/>
                    <a:p>
                      <a:r>
                        <a:rPr sz="1350" b="0">
                          <a:solidFill>
                            <a:srgbClr val="14251D"/>
                          </a:solidFill>
                          <a:latin typeface="Arial"/>
                          <a:ea typeface="Arial"/>
                          <a:cs typeface="Arial"/>
                        </a:rPr>
                        <a:t>Minimise retention and access; obtain school approval and review applicable rules.</a:t>
                      </a:r>
                    </a:p>
                  </a:txBody>
                  <a:tcPr marL="91440" marR="91440" marT="45720" marB="45720">
                    <a:solidFill>
                      <a:srgbClr val="F7FAF5"/>
                    </a:solidFill>
                  </a:tcPr>
                </a:tc>
              </a:tr>
            </a:tbl>
          </a:graphicData>
        </a:graphic>
      </p:graphicFrame>
    </p:spTree>
    <p:extLst>
      <p:ext uri="{BB962C8B-B14F-4D97-AF65-F5344CB8AC3E}">
        <p14:creationId xmlns:p14="http://schemas.microsoft.com/office/powerpoint/2010/main" val="1912874750"/>
      </p:ext>
    </p:extLst>
  </p:cSld>
</p:sld>
</file>

<file path=ppt/slides/slide5.xml><?xml version="1.0" encoding="utf-8"?>
<p:sld xmlns:p="http://schemas.openxmlformats.org/presentationml/2006/main">
  <p:cSld>
    <p:bg>
      <p:bgPr>
        <a:solidFill xmlns:a="http://schemas.openxmlformats.org/drawingml/2006/main">
          <a:srgbClr val="14251D"/>
        </a:solidFill>
      </p:bgPr>
    </p:bg>
    <p:spTree>
      <p:nvGrpSpPr>
        <p:cNvPr id="1" name=""/>
        <p:cNvGrpSpPr/>
        <p:nvPr/>
      </p:nvGrpSpPr>
      <p:grpSpPr>
        <a:xfrm xmlns:a="http://schemas.openxmlformats.org/drawingml/2006/main"/>
      </p:grpSpPr>
      <p:sp>
        <p:nvSpPr>
          <p:cNvPr id="17" name="text-58">
            <a:extLst xmlns:a="http://schemas.openxmlformats.org/drawingml/2006/main">
              <a:ext uri="{FF2B5EF4-FFF2-40B4-BE49-F238E27FC236}">
                <a16:creationId xmlns:a16="http://schemas.microsoft.com/office/drawing/2014/main" id="{6848F6AF-9164-40FA-A386-32FEA79CC09C}"/>
              </a:ext>
            </a:extLst>
          </p:cNvPr>
          <p:cNvSpPr>
            <a:spLocks xmlns:a="http://schemas.openxmlformats.org/drawingml/2006/main" noGrp="1"/>
          </p:cNvSpPr>
          <p:nvPr/>
        </p:nvSpPr>
        <p:spPr>
          <a:xfrm xmlns:a="http://schemas.openxmlformats.org/drawingml/2006/main">
            <a:off x="533400" y="447675"/>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600" b="1">
                <a:solidFill>
                  <a:srgbClr val="F7FAF5"/>
                </a:solidFill>
                <a:latin typeface="Arial"/>
                <a:ea typeface="Arial"/>
                <a:cs typeface="Arial"/>
              </a:defRPr>
            </a:pPr>
            <a:r>
              <a:rPr sz="3600" b="1">
                <a:solidFill>
                  <a:srgbClr val="F7FAF5"/>
                </a:solidFill>
                <a:latin typeface="Arial"/>
                <a:ea typeface="Arial"/>
                <a:cs typeface="Arial"/>
              </a:rPr>
              <a:t>Impact and Benefits</a:t>
            </a:r>
          </a:p>
        </p:txBody>
      </p:sp>
      <p:sp>
        <p:nvSpPr>
          <p:cNvPr id="2" name="text-59">
            <a:extLst xmlns:a="http://schemas.openxmlformats.org/drawingml/2006/main">
              <a:ext uri="{FF2B5EF4-FFF2-40B4-BE49-F238E27FC236}">
                <a16:creationId xmlns:a16="http://schemas.microsoft.com/office/drawing/2014/main" id="{DFF0EE96-4E0D-4177-AF9B-CC1169E19B23}"/>
              </a:ext>
            </a:extLst>
          </p:cNvPr>
          <p:cNvSpPr>
            <a:spLocks xmlns:a="http://schemas.openxmlformats.org/drawingml/2006/main" noGrp="1"/>
          </p:cNvSpPr>
          <p:nvPr/>
        </p:nvSpPr>
        <p:spPr>
          <a:xfrm xmlns:a="http://schemas.openxmlformats.org/drawingml/2006/main">
            <a:off x="533400" y="6457950"/>
            <a:ext cx="981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75" b="0">
                <a:solidFill>
                  <a:srgbClr val="F7FAF5"/>
                </a:solidFill>
                <a:latin typeface="Arial"/>
                <a:ea typeface="Arial"/>
                <a:cs typeface="Arial"/>
              </a:defRPr>
            </a:pPr>
            <a:r>
              <a:rPr sz="975" b="0">
                <a:solidFill>
                  <a:srgbClr val="F7FAF5"/>
                </a:solidFill>
                <a:latin typeface="Arial"/>
                <a:ea typeface="Arial"/>
                <a:cs typeface="Arial"/>
              </a:rPr>
              <a:t>NIVRA / BAL BHARATI HACKATHON 3.0</a:t>
            </a:r>
          </a:p>
        </p:txBody>
      </p:sp>
      <p:sp>
        <p:nvSpPr>
          <p:cNvPr id="3" name="text-60">
            <a:extLst xmlns:a="http://schemas.openxmlformats.org/drawingml/2006/main">
              <a:ext uri="{FF2B5EF4-FFF2-40B4-BE49-F238E27FC236}">
                <a16:creationId xmlns:a16="http://schemas.microsoft.com/office/drawing/2014/main" id="{9596A5AC-F20F-4C7A-8EF9-AF96FB9E68A2}"/>
              </a:ext>
            </a:extLst>
          </p:cNvPr>
          <p:cNvSpPr>
            <a:spLocks xmlns:a="http://schemas.openxmlformats.org/drawingml/2006/main" noGrp="1"/>
          </p:cNvSpPr>
          <p:nvPr/>
        </p:nvSpPr>
        <p:spPr>
          <a:xfrm xmlns:a="http://schemas.openxmlformats.org/drawingml/2006/main">
            <a:off x="11239500" y="6419850"/>
            <a:ext cx="419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D2F56A"/>
                </a:solidFill>
                <a:latin typeface="Arial"/>
                <a:ea typeface="Arial"/>
                <a:cs typeface="Arial"/>
              </a:defRPr>
            </a:pPr>
            <a:r>
              <a:rPr sz="1200" b="0">
                <a:solidFill>
                  <a:srgbClr val="D2F56A"/>
                </a:solidFill>
                <a:latin typeface="Arial"/>
                <a:ea typeface="Arial"/>
                <a:cs typeface="Arial"/>
              </a:rPr>
              <a:t>05</a:t>
            </a:r>
          </a:p>
        </p:txBody>
      </p:sp>
      <p:sp>
        <p:nvSpPr>
          <p:cNvPr id="4" name="text-61">
            <a:extLst xmlns:a="http://schemas.openxmlformats.org/drawingml/2006/main">
              <a:ext uri="{FF2B5EF4-FFF2-40B4-BE49-F238E27FC236}">
                <a16:creationId xmlns:a16="http://schemas.microsoft.com/office/drawing/2014/main" id="{137CDE97-1E1A-481B-9179-64878FBCE2D3}"/>
              </a:ext>
            </a:extLst>
          </p:cNvPr>
          <p:cNvSpPr>
            <a:spLocks xmlns:a="http://schemas.openxmlformats.org/drawingml/2006/main" noGrp="1"/>
          </p:cNvSpPr>
          <p:nvPr/>
        </p:nvSpPr>
        <p:spPr>
          <a:xfrm xmlns:a="http://schemas.openxmlformats.org/drawingml/2006/main">
            <a:off x="533400" y="1285875"/>
            <a:ext cx="11125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4725" b="1">
                <a:solidFill>
                  <a:srgbClr val="D2F56A"/>
                </a:solidFill>
                <a:latin typeface="Arial"/>
                <a:ea typeface="Arial"/>
                <a:cs typeface="Arial"/>
              </a:defRPr>
            </a:pPr>
            <a:r>
              <a:rPr sz="4725" b="1">
                <a:solidFill>
                  <a:srgbClr val="D2F56A"/>
                </a:solidFill>
                <a:latin typeface="Arial"/>
                <a:ea typeface="Arial"/>
                <a:cs typeface="Arial"/>
              </a:rPr>
              <a:t>More time to respond.</a:t>
            </a:r>
          </a:p>
        </p:txBody>
      </p:sp>
      <p:sp>
        <p:nvSpPr>
          <p:cNvPr id="5" name="text-62">
            <a:extLst xmlns:a="http://schemas.openxmlformats.org/drawingml/2006/main">
              <a:ext uri="{FF2B5EF4-FFF2-40B4-BE49-F238E27FC236}">
                <a16:creationId xmlns:a16="http://schemas.microsoft.com/office/drawing/2014/main" id="{C70A2CA9-F810-4067-941F-7B0EB82E874C}"/>
              </a:ext>
            </a:extLst>
          </p:cNvPr>
          <p:cNvSpPr>
            <a:spLocks xmlns:a="http://schemas.openxmlformats.org/drawingml/2006/main" noGrp="1"/>
          </p:cNvSpPr>
          <p:nvPr/>
        </p:nvSpPr>
        <p:spPr>
          <a:xfrm xmlns:a="http://schemas.openxmlformats.org/drawingml/2006/main">
            <a:off x="533400" y="2409825"/>
            <a:ext cx="5257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D2F56A"/>
                </a:solidFill>
                <a:latin typeface="Arial"/>
                <a:ea typeface="Arial"/>
                <a:cs typeface="Arial"/>
              </a:defRPr>
            </a:pPr>
            <a:r>
              <a:rPr sz="1875" b="1">
                <a:solidFill>
                  <a:srgbClr val="D2F56A"/>
                </a:solidFill>
                <a:latin typeface="Arial"/>
                <a:ea typeface="Arial"/>
                <a:cs typeface="Arial"/>
              </a:rPr>
              <a:t>Social</a:t>
            </a:r>
          </a:p>
        </p:txBody>
      </p:sp>
      <p:sp>
        <p:nvSpPr>
          <p:cNvPr id="6" name="text-63">
            <a:extLst xmlns:a="http://schemas.openxmlformats.org/drawingml/2006/main">
              <a:ext uri="{FF2B5EF4-FFF2-40B4-BE49-F238E27FC236}">
                <a16:creationId xmlns:a16="http://schemas.microsoft.com/office/drawing/2014/main" id="{8059F33E-844F-4CB8-A9D6-EE564C3DBA54}"/>
              </a:ext>
            </a:extLst>
          </p:cNvPr>
          <p:cNvSpPr>
            <a:spLocks xmlns:a="http://schemas.openxmlformats.org/drawingml/2006/main" noGrp="1"/>
          </p:cNvSpPr>
          <p:nvPr/>
        </p:nvSpPr>
        <p:spPr>
          <a:xfrm xmlns:a="http://schemas.openxmlformats.org/drawingml/2006/main">
            <a:off x="533400" y="2819400"/>
            <a:ext cx="5257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F7FAF5"/>
                </a:solidFill>
                <a:latin typeface="Arial"/>
                <a:ea typeface="Arial"/>
                <a:cs typeface="Arial"/>
              </a:defRPr>
            </a:pPr>
            <a:r>
              <a:rPr sz="1725" b="0">
                <a:solidFill>
                  <a:srgbClr val="F7FAF5"/>
                </a:solidFill>
                <a:latin typeface="Arial"/>
                <a:ea typeface="Arial"/>
                <a:cs typeface="Arial"/>
              </a:rPr>
              <a:t>Aim: earlier human attention to developing incidents.</a:t>
            </a:r>
          </a:p>
        </p:txBody>
      </p:sp>
      <p:sp>
        <p:nvSpPr>
          <p:cNvPr id="7" name="text-64">
            <a:extLst xmlns:a="http://schemas.openxmlformats.org/drawingml/2006/main">
              <a:ext uri="{FF2B5EF4-FFF2-40B4-BE49-F238E27FC236}">
                <a16:creationId xmlns:a16="http://schemas.microsoft.com/office/drawing/2014/main" id="{56E9DA0C-4919-4266-8B1B-B7504E217E92}"/>
              </a:ext>
            </a:extLst>
          </p:cNvPr>
          <p:cNvSpPr>
            <a:spLocks xmlns:a="http://schemas.openxmlformats.org/drawingml/2006/main" noGrp="1"/>
          </p:cNvSpPr>
          <p:nvPr/>
        </p:nvSpPr>
        <p:spPr>
          <a:xfrm xmlns:a="http://schemas.openxmlformats.org/drawingml/2006/main">
            <a:off x="6400800" y="2409825"/>
            <a:ext cx="5257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D2F56A"/>
                </a:solidFill>
                <a:latin typeface="Arial"/>
                <a:ea typeface="Arial"/>
                <a:cs typeface="Arial"/>
              </a:defRPr>
            </a:pPr>
            <a:r>
              <a:rPr sz="1875" b="1">
                <a:solidFill>
                  <a:srgbClr val="D2F56A"/>
                </a:solidFill>
                <a:latin typeface="Arial"/>
                <a:ea typeface="Arial"/>
                <a:cs typeface="Arial"/>
              </a:rPr>
              <a:t>Economic</a:t>
            </a:r>
          </a:p>
        </p:txBody>
      </p:sp>
      <p:sp>
        <p:nvSpPr>
          <p:cNvPr id="8" name="text-65">
            <a:extLst xmlns:a="http://schemas.openxmlformats.org/drawingml/2006/main">
              <a:ext uri="{FF2B5EF4-FFF2-40B4-BE49-F238E27FC236}">
                <a16:creationId xmlns:a16="http://schemas.microsoft.com/office/drawing/2014/main" id="{CC543DDA-69F8-4E84-92AE-4178055139B5}"/>
              </a:ext>
            </a:extLst>
          </p:cNvPr>
          <p:cNvSpPr>
            <a:spLocks xmlns:a="http://schemas.openxmlformats.org/drawingml/2006/main" noGrp="1"/>
          </p:cNvSpPr>
          <p:nvPr/>
        </p:nvSpPr>
        <p:spPr>
          <a:xfrm xmlns:a="http://schemas.openxmlformats.org/drawingml/2006/main">
            <a:off x="6400800" y="2819400"/>
            <a:ext cx="5257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F7FAF5"/>
                </a:solidFill>
                <a:latin typeface="Arial"/>
                <a:ea typeface="Arial"/>
                <a:cs typeface="Arial"/>
              </a:defRPr>
            </a:pPr>
            <a:r>
              <a:rPr sz="1725" b="0">
                <a:solidFill>
                  <a:srgbClr val="F7FAF5"/>
                </a:solidFill>
                <a:latin typeface="Arial"/>
                <a:ea typeface="Arial"/>
                <a:cs typeface="Arial"/>
              </a:rPr>
              <a:t>Explore reuse of existing devices; costs and savings are unvalidated.</a:t>
            </a:r>
          </a:p>
        </p:txBody>
      </p:sp>
      <p:sp>
        <p:nvSpPr>
          <p:cNvPr id="9" name="text-66">
            <a:extLst xmlns:a="http://schemas.openxmlformats.org/drawingml/2006/main">
              <a:ext uri="{FF2B5EF4-FFF2-40B4-BE49-F238E27FC236}">
                <a16:creationId xmlns:a16="http://schemas.microsoft.com/office/drawing/2014/main" id="{F8AE64A7-2771-432D-8AD3-8453B55920E8}"/>
              </a:ext>
            </a:extLst>
          </p:cNvPr>
          <p:cNvSpPr>
            <a:spLocks xmlns:a="http://schemas.openxmlformats.org/drawingml/2006/main" noGrp="1"/>
          </p:cNvSpPr>
          <p:nvPr/>
        </p:nvSpPr>
        <p:spPr>
          <a:xfrm xmlns:a="http://schemas.openxmlformats.org/drawingml/2006/main">
            <a:off x="533400" y="3657600"/>
            <a:ext cx="5257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D2F56A"/>
                </a:solidFill>
                <a:latin typeface="Arial"/>
                <a:ea typeface="Arial"/>
                <a:cs typeface="Arial"/>
              </a:defRPr>
            </a:pPr>
            <a:r>
              <a:rPr sz="1875" b="1">
                <a:solidFill>
                  <a:srgbClr val="D2F56A"/>
                </a:solidFill>
                <a:latin typeface="Arial"/>
                <a:ea typeface="Arial"/>
                <a:cs typeface="Arial"/>
              </a:rPr>
              <a:t>Environmental</a:t>
            </a:r>
          </a:p>
        </p:txBody>
      </p:sp>
      <p:sp>
        <p:nvSpPr>
          <p:cNvPr id="10" name="text-67">
            <a:extLst xmlns:a="http://schemas.openxmlformats.org/drawingml/2006/main">
              <a:ext uri="{FF2B5EF4-FFF2-40B4-BE49-F238E27FC236}">
                <a16:creationId xmlns:a16="http://schemas.microsoft.com/office/drawing/2014/main" id="{2308719A-0598-44B3-AF64-B22A4580C370}"/>
              </a:ext>
            </a:extLst>
          </p:cNvPr>
          <p:cNvSpPr>
            <a:spLocks xmlns:a="http://schemas.openxmlformats.org/drawingml/2006/main" noGrp="1"/>
          </p:cNvSpPr>
          <p:nvPr/>
        </p:nvSpPr>
        <p:spPr>
          <a:xfrm xmlns:a="http://schemas.openxmlformats.org/drawingml/2006/main">
            <a:off x="533400" y="4067175"/>
            <a:ext cx="5257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F7FAF5"/>
                </a:solidFill>
                <a:latin typeface="Arial"/>
                <a:ea typeface="Arial"/>
                <a:cs typeface="Arial"/>
              </a:defRPr>
            </a:pPr>
            <a:r>
              <a:rPr sz="1725" b="0">
                <a:solidFill>
                  <a:srgbClr val="F7FAF5"/>
                </a:solidFill>
                <a:latin typeface="Arial"/>
                <a:ea typeface="Arial"/>
                <a:cs typeface="Arial"/>
              </a:rPr>
              <a:t>Possible device reuse; no measured environmental benefit claimed.</a:t>
            </a:r>
          </a:p>
        </p:txBody>
      </p:sp>
      <p:sp>
        <p:nvSpPr>
          <p:cNvPr id="11" name="text-68">
            <a:extLst xmlns:a="http://schemas.openxmlformats.org/drawingml/2006/main">
              <a:ext uri="{FF2B5EF4-FFF2-40B4-BE49-F238E27FC236}">
                <a16:creationId xmlns:a16="http://schemas.microsoft.com/office/drawing/2014/main" id="{75EDE59B-7A04-41FC-A757-74A97CD414A6}"/>
              </a:ext>
            </a:extLst>
          </p:cNvPr>
          <p:cNvSpPr>
            <a:spLocks xmlns:a="http://schemas.openxmlformats.org/drawingml/2006/main" noGrp="1"/>
          </p:cNvSpPr>
          <p:nvPr/>
        </p:nvSpPr>
        <p:spPr>
          <a:xfrm xmlns:a="http://schemas.openxmlformats.org/drawingml/2006/main">
            <a:off x="6400800" y="3657600"/>
            <a:ext cx="5257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D2F56A"/>
                </a:solidFill>
                <a:latin typeface="Arial"/>
                <a:ea typeface="Arial"/>
                <a:cs typeface="Arial"/>
              </a:defRPr>
            </a:pPr>
            <a:r>
              <a:rPr sz="1875" b="1">
                <a:solidFill>
                  <a:srgbClr val="D2F56A"/>
                </a:solidFill>
                <a:latin typeface="Arial"/>
                <a:ea typeface="Arial"/>
                <a:cs typeface="Arial"/>
              </a:rPr>
              <a:t>End users</a:t>
            </a:r>
          </a:p>
        </p:txBody>
      </p:sp>
      <p:sp>
        <p:nvSpPr>
          <p:cNvPr id="12" name="text-69">
            <a:extLst xmlns:a="http://schemas.openxmlformats.org/drawingml/2006/main">
              <a:ext uri="{FF2B5EF4-FFF2-40B4-BE49-F238E27FC236}">
                <a16:creationId xmlns:a16="http://schemas.microsoft.com/office/drawing/2014/main" id="{74FC4269-15E1-4BEA-A270-51CEBA287A9C}"/>
              </a:ext>
            </a:extLst>
          </p:cNvPr>
          <p:cNvSpPr>
            <a:spLocks xmlns:a="http://schemas.openxmlformats.org/drawingml/2006/main" noGrp="1"/>
          </p:cNvSpPr>
          <p:nvPr/>
        </p:nvSpPr>
        <p:spPr>
          <a:xfrm xmlns:a="http://schemas.openxmlformats.org/drawingml/2006/main">
            <a:off x="6400800" y="4067175"/>
            <a:ext cx="5257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F7FAF5"/>
                </a:solidFill>
                <a:latin typeface="Arial"/>
                <a:ea typeface="Arial"/>
                <a:cs typeface="Arial"/>
              </a:defRPr>
            </a:pPr>
            <a:r>
              <a:rPr sz="1725" b="0">
                <a:solidFill>
                  <a:srgbClr val="F7FAF5"/>
                </a:solidFill>
                <a:latin typeface="Arial"/>
                <a:ea typeface="Arial"/>
                <a:cs typeface="Arial"/>
              </a:rPr>
              <a:t>Staff receive context, location and a clear response action.</a:t>
            </a:r>
          </a:p>
        </p:txBody>
      </p:sp>
      <p:sp>
        <p:nvSpPr>
          <p:cNvPr id="13" name="text-70">
            <a:extLst xmlns:a="http://schemas.openxmlformats.org/drawingml/2006/main">
              <a:ext uri="{FF2B5EF4-FFF2-40B4-BE49-F238E27FC236}">
                <a16:creationId xmlns:a16="http://schemas.microsoft.com/office/drawing/2014/main" id="{154D9466-8A95-40D4-99A3-8D6F93829B6C}"/>
              </a:ext>
            </a:extLst>
          </p:cNvPr>
          <p:cNvSpPr>
            <a:spLocks xmlns:a="http://schemas.openxmlformats.org/drawingml/2006/main" noGrp="1"/>
          </p:cNvSpPr>
          <p:nvPr/>
        </p:nvSpPr>
        <p:spPr>
          <a:xfrm xmlns:a="http://schemas.openxmlformats.org/drawingml/2006/main">
            <a:off x="533400" y="4905375"/>
            <a:ext cx="5257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D2F56A"/>
                </a:solidFill>
                <a:latin typeface="Arial"/>
                <a:ea typeface="Arial"/>
                <a:cs typeface="Arial"/>
              </a:defRPr>
            </a:pPr>
            <a:r>
              <a:rPr sz="1875" b="1">
                <a:solidFill>
                  <a:srgbClr val="D2F56A"/>
                </a:solidFill>
                <a:latin typeface="Arial"/>
                <a:ea typeface="Arial"/>
                <a:cs typeface="Arial"/>
              </a:rPr>
              <a:t>Institutions / industry</a:t>
            </a:r>
          </a:p>
        </p:txBody>
      </p:sp>
      <p:sp>
        <p:nvSpPr>
          <p:cNvPr id="14" name="text-71">
            <a:extLst xmlns:a="http://schemas.openxmlformats.org/drawingml/2006/main">
              <a:ext uri="{FF2B5EF4-FFF2-40B4-BE49-F238E27FC236}">
                <a16:creationId xmlns:a16="http://schemas.microsoft.com/office/drawing/2014/main" id="{637B7C13-0B07-4B62-B6DA-F4D1B5B4C994}"/>
              </a:ext>
            </a:extLst>
          </p:cNvPr>
          <p:cNvSpPr>
            <a:spLocks xmlns:a="http://schemas.openxmlformats.org/drawingml/2006/main" noGrp="1"/>
          </p:cNvSpPr>
          <p:nvPr/>
        </p:nvSpPr>
        <p:spPr>
          <a:xfrm xmlns:a="http://schemas.openxmlformats.org/drawingml/2006/main">
            <a:off x="533400" y="5314950"/>
            <a:ext cx="5257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F7FAF5"/>
                </a:solidFill>
                <a:latin typeface="Arial"/>
                <a:ea typeface="Arial"/>
                <a:cs typeface="Arial"/>
              </a:defRPr>
            </a:pPr>
            <a:r>
              <a:rPr sz="1725" b="0">
                <a:solidFill>
                  <a:srgbClr val="F7FAF5"/>
                </a:solidFill>
                <a:latin typeface="Arial"/>
                <a:ea typeface="Arial"/>
                <a:cs typeface="Arial"/>
              </a:rPr>
              <a:t>A proposed alert-to-acknowledgement record for safety teams.</a:t>
            </a:r>
          </a:p>
        </p:txBody>
      </p:sp>
      <p:sp>
        <p:nvSpPr>
          <p:cNvPr id="15" name="text-72">
            <a:extLst xmlns:a="http://schemas.openxmlformats.org/drawingml/2006/main">
              <a:ext uri="{FF2B5EF4-FFF2-40B4-BE49-F238E27FC236}">
                <a16:creationId xmlns:a16="http://schemas.microsoft.com/office/drawing/2014/main" id="{E1402AE1-0371-4216-8B2E-DB92834153AE}"/>
              </a:ext>
            </a:extLst>
          </p:cNvPr>
          <p:cNvSpPr>
            <a:spLocks xmlns:a="http://schemas.openxmlformats.org/drawingml/2006/main" noGrp="1"/>
          </p:cNvSpPr>
          <p:nvPr/>
        </p:nvSpPr>
        <p:spPr>
          <a:xfrm xmlns:a="http://schemas.openxmlformats.org/drawingml/2006/main">
            <a:off x="6400800" y="4905375"/>
            <a:ext cx="5257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D2F56A"/>
                </a:solidFill>
                <a:latin typeface="Arial"/>
                <a:ea typeface="Arial"/>
                <a:cs typeface="Arial"/>
              </a:defRPr>
            </a:pPr>
            <a:r>
              <a:rPr sz="1875" b="1">
                <a:solidFill>
                  <a:srgbClr val="D2F56A"/>
                </a:solidFill>
                <a:latin typeface="Arial"/>
                <a:ea typeface="Arial"/>
                <a:cs typeface="Arial"/>
              </a:rPr>
              <a:t>Scalability</a:t>
            </a:r>
          </a:p>
        </p:txBody>
      </p:sp>
      <p:sp>
        <p:nvSpPr>
          <p:cNvPr id="16" name="text-73">
            <a:extLst xmlns:a="http://schemas.openxmlformats.org/drawingml/2006/main">
              <a:ext uri="{FF2B5EF4-FFF2-40B4-BE49-F238E27FC236}">
                <a16:creationId xmlns:a16="http://schemas.microsoft.com/office/drawing/2014/main" id="{474292D1-6D6B-4872-9DC6-2EBE8E826041}"/>
              </a:ext>
            </a:extLst>
          </p:cNvPr>
          <p:cNvSpPr>
            <a:spLocks xmlns:a="http://schemas.openxmlformats.org/drawingml/2006/main" noGrp="1"/>
          </p:cNvSpPr>
          <p:nvPr/>
        </p:nvSpPr>
        <p:spPr>
          <a:xfrm xmlns:a="http://schemas.openxmlformats.org/drawingml/2006/main">
            <a:off x="6400800" y="5314950"/>
            <a:ext cx="5257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F7FAF5"/>
                </a:solidFill>
                <a:latin typeface="Arial"/>
                <a:ea typeface="Arial"/>
                <a:cs typeface="Arial"/>
              </a:defRPr>
            </a:pPr>
            <a:r>
              <a:rPr sz="1725" b="0">
                <a:solidFill>
                  <a:srgbClr val="F7FAF5"/>
                </a:solidFill>
                <a:latin typeface="Arial"/>
                <a:ea typeface="Arial"/>
                <a:cs typeface="Arial"/>
              </a:rPr>
              <a:t>Start with one campus; expand only after controlled testing.</a:t>
            </a:r>
          </a:p>
        </p:txBody>
      </p:sp>
    </p:spTree>
    <p:extLst>
      <p:ext uri="{BB962C8B-B14F-4D97-AF65-F5344CB8AC3E}">
        <p14:creationId xmlns:p14="http://schemas.microsoft.com/office/powerpoint/2010/main" val="956912651"/>
      </p:ext>
    </p:extLst>
  </p:cSld>
</p:sld>
</file>

<file path=ppt/slides/slide6.xml><?xml version="1.0" encoding="utf-8"?>
<p:sld xmlns:p="http://schemas.openxmlformats.org/presentationml/2006/main">
  <p:cSld>
    <p:bg>
      <p:bgPr>
        <a:solidFill xmlns:a="http://schemas.openxmlformats.org/drawingml/2006/main">
          <a:srgbClr val="F7FAF5"/>
        </a:solidFill>
      </p:bgPr>
    </p:bg>
    <p:spTree>
      <p:nvGrpSpPr>
        <p:cNvPr id="1" name=""/>
        <p:cNvGrpSpPr/>
        <p:nvPr/>
      </p:nvGrpSpPr>
      <p:grpSpPr>
        <a:xfrm xmlns:a="http://schemas.openxmlformats.org/drawingml/2006/main"/>
      </p:grpSpPr>
      <p:sp>
        <p:nvSpPr>
          <p:cNvPr id="23" name="text-74">
            <a:extLst xmlns:a="http://schemas.openxmlformats.org/drawingml/2006/main">
              <a:ext uri="{FF2B5EF4-FFF2-40B4-BE49-F238E27FC236}">
                <a16:creationId xmlns:a16="http://schemas.microsoft.com/office/drawing/2014/main" id="{1D2C01E1-CD09-4860-A217-EDF5F2A40C8E}"/>
              </a:ext>
            </a:extLst>
          </p:cNvPr>
          <p:cNvSpPr>
            <a:spLocks xmlns:a="http://schemas.openxmlformats.org/drawingml/2006/main" noGrp="1"/>
          </p:cNvSpPr>
          <p:nvPr/>
        </p:nvSpPr>
        <p:spPr>
          <a:xfrm xmlns:a="http://schemas.openxmlformats.org/drawingml/2006/main">
            <a:off x="533400" y="447675"/>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600" b="1">
                <a:solidFill>
                  <a:srgbClr val="14251D"/>
                </a:solidFill>
                <a:latin typeface="Arial"/>
                <a:ea typeface="Arial"/>
                <a:cs typeface="Arial"/>
              </a:defRPr>
            </a:pPr>
            <a:r>
              <a:rPr sz="3600" b="1">
                <a:solidFill>
                  <a:srgbClr val="14251D"/>
                </a:solidFill>
                <a:latin typeface="Arial"/>
                <a:ea typeface="Arial"/>
                <a:cs typeface="Arial"/>
              </a:rPr>
              <a:t>Research and References</a:t>
            </a:r>
          </a:p>
        </p:txBody>
      </p:sp>
      <p:sp>
        <p:nvSpPr>
          <p:cNvPr id="2" name="text-75">
            <a:extLst xmlns:a="http://schemas.openxmlformats.org/drawingml/2006/main">
              <a:ext uri="{FF2B5EF4-FFF2-40B4-BE49-F238E27FC236}">
                <a16:creationId xmlns:a16="http://schemas.microsoft.com/office/drawing/2014/main" id="{7CF065F8-0DE0-416D-8C85-B96B7D88B114}"/>
              </a:ext>
            </a:extLst>
          </p:cNvPr>
          <p:cNvSpPr>
            <a:spLocks xmlns:a="http://schemas.openxmlformats.org/drawingml/2006/main" noGrp="1"/>
          </p:cNvSpPr>
          <p:nvPr/>
        </p:nvSpPr>
        <p:spPr>
          <a:xfrm xmlns:a="http://schemas.openxmlformats.org/drawingml/2006/main">
            <a:off x="533400" y="6457950"/>
            <a:ext cx="981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75" b="0">
                <a:solidFill>
                  <a:srgbClr val="506056"/>
                </a:solidFill>
                <a:latin typeface="Arial"/>
                <a:ea typeface="Arial"/>
                <a:cs typeface="Arial"/>
              </a:defRPr>
            </a:pPr>
            <a:r>
              <a:rPr sz="975" b="0">
                <a:solidFill>
                  <a:srgbClr val="506056"/>
                </a:solidFill>
                <a:latin typeface="Arial"/>
                <a:ea typeface="Arial"/>
                <a:cs typeface="Arial"/>
              </a:rPr>
              <a:t>NIVRA / BAL BHARATI HACKATHON 3.0</a:t>
            </a:r>
          </a:p>
        </p:txBody>
      </p:sp>
      <p:sp>
        <p:nvSpPr>
          <p:cNvPr id="3" name="text-76">
            <a:extLst xmlns:a="http://schemas.openxmlformats.org/drawingml/2006/main">
              <a:ext uri="{FF2B5EF4-FFF2-40B4-BE49-F238E27FC236}">
                <a16:creationId xmlns:a16="http://schemas.microsoft.com/office/drawing/2014/main" id="{BE87965C-37B7-4629-9EF6-8C99E890D427}"/>
              </a:ext>
            </a:extLst>
          </p:cNvPr>
          <p:cNvSpPr>
            <a:spLocks xmlns:a="http://schemas.openxmlformats.org/drawingml/2006/main" noGrp="1"/>
          </p:cNvSpPr>
          <p:nvPr/>
        </p:nvSpPr>
        <p:spPr>
          <a:xfrm xmlns:a="http://schemas.openxmlformats.org/drawingml/2006/main">
            <a:off x="11239500" y="6419850"/>
            <a:ext cx="419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14251D"/>
                </a:solidFill>
                <a:latin typeface="Arial"/>
                <a:ea typeface="Arial"/>
                <a:cs typeface="Arial"/>
              </a:defRPr>
            </a:pPr>
            <a:r>
              <a:rPr sz="1200" b="0">
                <a:solidFill>
                  <a:srgbClr val="14251D"/>
                </a:solidFill>
                <a:latin typeface="Arial"/>
                <a:ea typeface="Arial"/>
                <a:cs typeface="Arial"/>
              </a:rPr>
              <a:t>06</a:t>
            </a:r>
          </a:p>
        </p:txBody>
      </p:sp>
      <p:sp>
        <p:nvSpPr>
          <p:cNvPr id="4" name="text-77">
            <a:extLst xmlns:a="http://schemas.openxmlformats.org/drawingml/2006/main">
              <a:ext uri="{FF2B5EF4-FFF2-40B4-BE49-F238E27FC236}">
                <a16:creationId xmlns:a16="http://schemas.microsoft.com/office/drawing/2014/main" id="{E30783F3-B80D-4190-A737-242FD3F6A9F3}"/>
              </a:ext>
            </a:extLst>
          </p:cNvPr>
          <p:cNvSpPr>
            <a:spLocks xmlns:a="http://schemas.openxmlformats.org/drawingml/2006/main" noGrp="1"/>
          </p:cNvSpPr>
          <p:nvPr/>
        </p:nvSpPr>
        <p:spPr>
          <a:xfrm xmlns:a="http://schemas.openxmlformats.org/drawingml/2006/main">
            <a:off x="552450" y="1171575"/>
            <a:ext cx="11087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506056"/>
                </a:solidFill>
                <a:latin typeface="Arial"/>
                <a:ea typeface="Arial"/>
                <a:cs typeface="Arial"/>
              </a:defRPr>
            </a:pPr>
            <a:r>
              <a:rPr sz="1875" b="0">
                <a:solidFill>
                  <a:srgbClr val="506056"/>
                </a:solidFill>
                <a:latin typeface="Arial"/>
                <a:ea typeface="Arial"/>
                <a:cs typeface="Arial"/>
              </a:rPr>
              <a:t>Evidence informs the idea; it does not validate NIVRA.</a:t>
            </a:r>
          </a:p>
        </p:txBody>
      </p:sp>
      <p:sp>
        <p:nvSpPr>
          <p:cNvPr id="5" name="text-78">
            <a:extLst xmlns:a="http://schemas.openxmlformats.org/drawingml/2006/main">
              <a:ext uri="{FF2B5EF4-FFF2-40B4-BE49-F238E27FC236}">
                <a16:creationId xmlns:a16="http://schemas.microsoft.com/office/drawing/2014/main" id="{1E612D1C-F1C1-43F2-96A1-104FC9F760E6}"/>
              </a:ext>
            </a:extLst>
          </p:cNvPr>
          <p:cNvSpPr>
            <a:spLocks xmlns:a="http://schemas.openxmlformats.org/drawingml/2006/main" noGrp="1"/>
          </p:cNvSpPr>
          <p:nvPr/>
        </p:nvSpPr>
        <p:spPr>
          <a:xfrm xmlns:a="http://schemas.openxmlformats.org/drawingml/2006/main">
            <a:off x="533400" y="1857375"/>
            <a:ext cx="65436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1">
                <a:solidFill>
                  <a:srgbClr val="14251D"/>
                </a:solidFill>
                <a:latin typeface="Arial"/>
                <a:ea typeface="Arial"/>
                <a:cs typeface="Arial"/>
              </a:defRPr>
            </a:pPr>
            <a:r>
              <a:rPr sz="1200" b="1">
                <a:solidFill>
                  <a:srgbClr val="14251D"/>
                </a:solidFill>
                <a:latin typeface="Arial"/>
                <a:ea typeface="Arial"/>
                <a:cs typeface="Arial"/>
              </a:rPr>
              <a:t>01 / SCHOOL SAFETY</a:t>
            </a:r>
          </a:p>
        </p:txBody>
      </p:sp>
      <p:sp>
        <p:nvSpPr>
          <p:cNvPr id="6" name="text-79">
            <a:extLst xmlns:a="http://schemas.openxmlformats.org/drawingml/2006/main">
              <a:ext uri="{FF2B5EF4-FFF2-40B4-BE49-F238E27FC236}">
                <a16:creationId xmlns:a16="http://schemas.microsoft.com/office/drawing/2014/main" id="{7C80AAA4-51A0-423F-949C-193AEFECBD51}"/>
              </a:ext>
            </a:extLst>
          </p:cNvPr>
          <p:cNvSpPr>
            <a:spLocks xmlns:a="http://schemas.openxmlformats.org/drawingml/2006/main" noGrp="1"/>
          </p:cNvSpPr>
          <p:nvPr/>
        </p:nvSpPr>
        <p:spPr>
          <a:xfrm xmlns:a="http://schemas.openxmlformats.org/drawingml/2006/main">
            <a:off x="533400" y="2152650"/>
            <a:ext cx="65436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506056"/>
                </a:solidFill>
                <a:latin typeface="Arial"/>
                <a:ea typeface="Arial"/>
                <a:cs typeface="Arial"/>
              </a:defRPr>
            </a:pPr>
            <a:r>
              <a:rPr sz="1500" b="0">
                <a:solidFill>
                  <a:srgbClr val="506056"/>
                </a:solidFill>
                <a:latin typeface="Arial"/>
                <a:ea typeface="Arial"/>
                <a:cs typeface="Arial"/>
              </a:rPr>
              <a:t>MoE, School Safety &amp; Security Guidelines (2021).</a:t>
            </a:r>
          </a:p>
          <a:p xmlns:a="http://schemas.openxmlformats.org/drawingml/2006/main">
            <a:pPr>
              <a:defRPr sz="1500" b="0">
                <a:solidFill>
                  <a:srgbClr val="506056"/>
                </a:solidFill>
                <a:latin typeface="Arial"/>
                <a:ea typeface="Arial"/>
                <a:cs typeface="Arial"/>
              </a:defRPr>
            </a:pPr>
            <a:r>
              <a:rPr sz="1500" b="0">
                <a:solidFill>
                  <a:srgbClr val="506056"/>
                </a:solidFill>
                <a:latin typeface="Arial"/>
                <a:ea typeface="Arial"/>
                <a:cs typeface="Arial"/>
              </a:rPr>
              <a:t>Establishes institutional safety responsibilities.</a:t>
            </a:r>
          </a:p>
        </p:txBody>
      </p:sp>
      <p:sp>
        <p:nvSpPr>
          <p:cNvPr id="7" name="text-80">
            <a:extLst xmlns:a="http://schemas.openxmlformats.org/drawingml/2006/main">
              <a:ext uri="{FF2B5EF4-FFF2-40B4-BE49-F238E27FC236}">
                <a16:creationId xmlns:a16="http://schemas.microsoft.com/office/drawing/2014/main" id="{FA316BEE-F41D-4DAE-BCD7-7AFCB42E8BC0}"/>
              </a:ext>
            </a:extLst>
          </p:cNvPr>
          <p:cNvSpPr>
            <a:spLocks xmlns:a="http://schemas.openxmlformats.org/drawingml/2006/main" noGrp="1"/>
          </p:cNvSpPr>
          <p:nvPr/>
        </p:nvSpPr>
        <p:spPr>
          <a:xfrm xmlns:a="http://schemas.openxmlformats.org/drawingml/2006/main">
            <a:off x="533400" y="2876550"/>
            <a:ext cx="65436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1">
                <a:solidFill>
                  <a:srgbClr val="14251D"/>
                </a:solidFill>
                <a:latin typeface="Arial"/>
                <a:ea typeface="Arial"/>
                <a:cs typeface="Arial"/>
              </a:defRPr>
            </a:pPr>
            <a:r>
              <a:rPr sz="1200" b="1">
                <a:solidFill>
                  <a:srgbClr val="14251D"/>
                </a:solidFill>
                <a:latin typeface="Arial"/>
                <a:ea typeface="Arial"/>
                <a:cs typeface="Arial"/>
              </a:rPr>
              <a:t>02 / TECHNICAL BASIS</a:t>
            </a:r>
          </a:p>
        </p:txBody>
      </p:sp>
      <p:sp>
        <p:nvSpPr>
          <p:cNvPr id="8" name="text-81">
            <a:extLst xmlns:a="http://schemas.openxmlformats.org/drawingml/2006/main">
              <a:ext uri="{FF2B5EF4-FFF2-40B4-BE49-F238E27FC236}">
                <a16:creationId xmlns:a16="http://schemas.microsoft.com/office/drawing/2014/main" id="{5D227FEA-8654-4F79-9934-9B7615269271}"/>
              </a:ext>
            </a:extLst>
          </p:cNvPr>
          <p:cNvSpPr>
            <a:spLocks xmlns:a="http://schemas.openxmlformats.org/drawingml/2006/main" noGrp="1"/>
          </p:cNvSpPr>
          <p:nvPr/>
        </p:nvSpPr>
        <p:spPr>
          <a:xfrm xmlns:a="http://schemas.openxmlformats.org/drawingml/2006/main">
            <a:off x="533400" y="3171825"/>
            <a:ext cx="65436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506056"/>
                </a:solidFill>
                <a:latin typeface="Arial"/>
                <a:ea typeface="Arial"/>
                <a:cs typeface="Arial"/>
              </a:defRPr>
            </a:pPr>
            <a:r>
              <a:rPr sz="1500" b="0">
                <a:solidFill>
                  <a:srgbClr val="506056"/>
                </a:solidFill>
                <a:latin typeface="Arial"/>
                <a:ea typeface="Arial"/>
                <a:cs typeface="Arial"/>
              </a:rPr>
              <a:t>Google Research, BlazePose (2020), and MediaPipe docs.</a:t>
            </a:r>
          </a:p>
          <a:p xmlns:a="http://schemas.openxmlformats.org/drawingml/2006/main">
            <a:pPr>
              <a:defRPr sz="1500" b="0">
                <a:solidFill>
                  <a:srgbClr val="506056"/>
                </a:solidFill>
                <a:latin typeface="Arial"/>
                <a:ea typeface="Arial"/>
                <a:cs typeface="Arial"/>
              </a:defRPr>
            </a:pPr>
            <a:r>
              <a:rPr sz="1500" b="0">
                <a:solidFill>
                  <a:srgbClr val="506056"/>
                </a:solidFill>
                <a:latin typeface="Arial"/>
                <a:ea typeface="Arial"/>
                <a:cs typeface="Arial"/>
              </a:rPr>
              <a:t>Support pose estimation—not prediction of violence.</a:t>
            </a:r>
          </a:p>
        </p:txBody>
      </p:sp>
      <p:sp>
        <p:nvSpPr>
          <p:cNvPr id="9" name="text-82">
            <a:extLst xmlns:a="http://schemas.openxmlformats.org/drawingml/2006/main">
              <a:ext uri="{FF2B5EF4-FFF2-40B4-BE49-F238E27FC236}">
                <a16:creationId xmlns:a16="http://schemas.microsoft.com/office/drawing/2014/main" id="{91F86200-5345-4527-8A60-2B04A581B1E0}"/>
              </a:ext>
            </a:extLst>
          </p:cNvPr>
          <p:cNvSpPr>
            <a:spLocks xmlns:a="http://schemas.openxmlformats.org/drawingml/2006/main" noGrp="1"/>
          </p:cNvSpPr>
          <p:nvPr/>
        </p:nvSpPr>
        <p:spPr>
          <a:xfrm xmlns:a="http://schemas.openxmlformats.org/drawingml/2006/main">
            <a:off x="533400" y="3895725"/>
            <a:ext cx="65436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1">
                <a:solidFill>
                  <a:srgbClr val="14251D"/>
                </a:solidFill>
                <a:latin typeface="Arial"/>
                <a:ea typeface="Arial"/>
                <a:cs typeface="Arial"/>
              </a:defRPr>
            </a:pPr>
            <a:r>
              <a:rPr sz="1200" b="1">
                <a:solidFill>
                  <a:srgbClr val="14251D"/>
                </a:solidFill>
                <a:latin typeface="Arial"/>
                <a:ea typeface="Arial"/>
                <a:cs typeface="Arial"/>
              </a:rPr>
              <a:t>03 / EXISTING SOLUTION</a:t>
            </a:r>
          </a:p>
        </p:txBody>
      </p:sp>
      <p:sp>
        <p:nvSpPr>
          <p:cNvPr id="10" name="text-83">
            <a:extLst xmlns:a="http://schemas.openxmlformats.org/drawingml/2006/main">
              <a:ext uri="{FF2B5EF4-FFF2-40B4-BE49-F238E27FC236}">
                <a16:creationId xmlns:a16="http://schemas.microsoft.com/office/drawing/2014/main" id="{89DCAFDB-B071-4B33-81D9-BB3D357FDA5E}"/>
              </a:ext>
            </a:extLst>
          </p:cNvPr>
          <p:cNvSpPr>
            <a:spLocks xmlns:a="http://schemas.openxmlformats.org/drawingml/2006/main" noGrp="1"/>
          </p:cNvSpPr>
          <p:nvPr/>
        </p:nvSpPr>
        <p:spPr>
          <a:xfrm xmlns:a="http://schemas.openxmlformats.org/drawingml/2006/main">
            <a:off x="533400" y="4191000"/>
            <a:ext cx="65436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506056"/>
                </a:solidFill>
                <a:latin typeface="Arial"/>
                <a:ea typeface="Arial"/>
                <a:cs typeface="Arial"/>
              </a:defRPr>
            </a:pPr>
            <a:r>
              <a:rPr sz="1500" b="0">
                <a:solidFill>
                  <a:srgbClr val="506056"/>
                </a:solidFill>
                <a:latin typeface="Arial"/>
                <a:ea typeface="Arial"/>
                <a:cs typeface="Arial"/>
              </a:rPr>
              <a:t>Axis Object Analytics: object tracking and event triggers.</a:t>
            </a:r>
          </a:p>
          <a:p xmlns:a="http://schemas.openxmlformats.org/drawingml/2006/main">
            <a:pPr>
              <a:defRPr sz="1500" b="0">
                <a:solidFill>
                  <a:srgbClr val="506056"/>
                </a:solidFill>
                <a:latin typeface="Arial"/>
                <a:ea typeface="Arial"/>
                <a:cs typeface="Arial"/>
              </a:defRPr>
            </a:pPr>
            <a:r>
              <a:rPr sz="1500" b="0">
                <a:solidFill>
                  <a:srgbClr val="506056"/>
                </a:solidFill>
                <a:latin typeface="Arial"/>
                <a:ea typeface="Arial"/>
                <a:cs typeface="Arial"/>
              </a:rPr>
              <a:t>NIVRA proposes human review plus response acknowledgement.</a:t>
            </a:r>
          </a:p>
        </p:txBody>
      </p:sp>
      <p:sp>
        <p:nvSpPr>
          <p:cNvPr id="11" name="text-84">
            <a:extLst xmlns:a="http://schemas.openxmlformats.org/drawingml/2006/main">
              <a:ext uri="{FF2B5EF4-FFF2-40B4-BE49-F238E27FC236}">
                <a16:creationId xmlns:a16="http://schemas.microsoft.com/office/drawing/2014/main" id="{F5FD8366-C3C1-428D-99B0-B659C8D67D4B}"/>
              </a:ext>
            </a:extLst>
          </p:cNvPr>
          <p:cNvSpPr>
            <a:spLocks xmlns:a="http://schemas.openxmlformats.org/drawingml/2006/main" noGrp="1"/>
          </p:cNvSpPr>
          <p:nvPr/>
        </p:nvSpPr>
        <p:spPr>
          <a:xfrm xmlns:a="http://schemas.openxmlformats.org/drawingml/2006/main">
            <a:off x="533400" y="4914900"/>
            <a:ext cx="65436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1">
                <a:solidFill>
                  <a:srgbClr val="14251D"/>
                </a:solidFill>
                <a:latin typeface="Arial"/>
                <a:ea typeface="Arial"/>
                <a:cs typeface="Arial"/>
              </a:defRPr>
            </a:pPr>
            <a:r>
              <a:rPr sz="1200" b="1">
                <a:solidFill>
                  <a:srgbClr val="14251D"/>
                </a:solidFill>
                <a:latin typeface="Arial"/>
                <a:ea typeface="Arial"/>
                <a:cs typeface="Arial"/>
              </a:rPr>
              <a:t>04 / DATA &amp; PRIVACY</a:t>
            </a:r>
          </a:p>
        </p:txBody>
      </p:sp>
      <p:sp>
        <p:nvSpPr>
          <p:cNvPr id="12" name="text-85">
            <a:extLst xmlns:a="http://schemas.openxmlformats.org/drawingml/2006/main">
              <a:ext uri="{FF2B5EF4-FFF2-40B4-BE49-F238E27FC236}">
                <a16:creationId xmlns:a16="http://schemas.microsoft.com/office/drawing/2014/main" id="{83F46228-6A75-4FFE-9C52-6DC88A635E12}"/>
              </a:ext>
            </a:extLst>
          </p:cNvPr>
          <p:cNvSpPr>
            <a:spLocks xmlns:a="http://schemas.openxmlformats.org/drawingml/2006/main" noGrp="1"/>
          </p:cNvSpPr>
          <p:nvPr/>
        </p:nvSpPr>
        <p:spPr>
          <a:xfrm xmlns:a="http://schemas.openxmlformats.org/drawingml/2006/main">
            <a:off x="533400" y="5210175"/>
            <a:ext cx="65436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506056"/>
                </a:solidFill>
                <a:latin typeface="Arial"/>
                <a:ea typeface="Arial"/>
                <a:cs typeface="Arial"/>
              </a:defRPr>
            </a:pPr>
            <a:r>
              <a:rPr sz="1500" b="0">
                <a:solidFill>
                  <a:srgbClr val="506056"/>
                </a:solidFill>
                <a:latin typeface="Arial"/>
                <a:ea typeface="Arial"/>
                <a:cs typeface="Arial"/>
              </a:rPr>
              <a:t>Planned data: permissioned staged volunteer videos; none yet.</a:t>
            </a:r>
          </a:p>
          <a:p xmlns:a="http://schemas.openxmlformats.org/drawingml/2006/main">
            <a:pPr>
              <a:defRPr sz="1500" b="0">
                <a:solidFill>
                  <a:srgbClr val="506056"/>
                </a:solidFill>
                <a:latin typeface="Arial"/>
                <a:ea typeface="Arial"/>
                <a:cs typeface="Arial"/>
              </a:defRPr>
            </a:pPr>
            <a:r>
              <a:rPr sz="1500" b="0">
                <a:solidFill>
                  <a:srgbClr val="506056"/>
                </a:solidFill>
                <a:latin typeface="Arial"/>
                <a:ea typeface="Arial"/>
                <a:cs typeface="Arial"/>
              </a:rPr>
              <a:t>DPDP Act (2023): assess applicable privacy rules before a pilot.</a:t>
            </a:r>
          </a:p>
        </p:txBody>
      </p:sp>
      <p:sp>
        <p:nvSpPr>
          <p:cNvPr id="13" name="">
            <a:extLst xmlns:a="http://schemas.openxmlformats.org/drawingml/2006/main">
              <a:ext uri="{FF2B5EF4-FFF2-40B4-BE49-F238E27FC236}">
                <a16:creationId xmlns:a16="http://schemas.microsoft.com/office/drawing/2014/main" id="{CD5C2839-3FF8-46F4-8D4A-C92C2450AC23}"/>
              </a:ext>
            </a:extLst>
          </p:cNvPr>
          <p:cNvSpPr>
            <a:spLocks xmlns:a="http://schemas.openxmlformats.org/drawingml/2006/main" noGrp="1"/>
          </p:cNvSpPr>
          <p:nvPr/>
        </p:nvSpPr>
        <p:spPr>
          <a:xfrm xmlns:a="http://schemas.openxmlformats.org/drawingml/2006/main">
            <a:off x="7543800" y="1752600"/>
            <a:ext cx="4114800" cy="4276725"/>
          </a:xfrm>
          <a:prstGeom xmlns:a="http://schemas.openxmlformats.org/drawingml/2006/main" prst="rect">
            <a:avLst/>
          </a:prstGeom>
          <a:solidFill xmlns:a="http://schemas.openxmlformats.org/drawingml/2006/main">
            <a:srgbClr val="D2F56A"/>
          </a:solidFill>
          <a:ln xmlns:a="http://schemas.openxmlformats.org/drawingml/2006/main" w="0">
            <a:noFill/>
          </a:ln>
        </p:spPr>
      </p:sp>
      <p:sp>
        <p:nvSpPr>
          <p:cNvPr id="14" name="text-86">
            <a:extLst xmlns:a="http://schemas.openxmlformats.org/drawingml/2006/main">
              <a:ext uri="{FF2B5EF4-FFF2-40B4-BE49-F238E27FC236}">
                <a16:creationId xmlns:a16="http://schemas.microsoft.com/office/drawing/2014/main" id="{F55316DF-4C52-4948-9E65-799A44EAD1D8}"/>
              </a:ext>
            </a:extLst>
          </p:cNvPr>
          <p:cNvSpPr>
            <a:spLocks xmlns:a="http://schemas.openxmlformats.org/drawingml/2006/main" noGrp="1"/>
          </p:cNvSpPr>
          <p:nvPr/>
        </p:nvSpPr>
        <p:spPr>
          <a:xfrm xmlns:a="http://schemas.openxmlformats.org/drawingml/2006/main">
            <a:off x="7772400" y="1971675"/>
            <a:ext cx="36385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14251D"/>
                </a:solidFill>
                <a:latin typeface="Arial"/>
                <a:ea typeface="Arial"/>
                <a:cs typeface="Arial"/>
              </a:defRPr>
            </a:pPr>
            <a:r>
              <a:rPr sz="2175" b="1">
                <a:solidFill>
                  <a:srgbClr val="14251D"/>
                </a:solidFill>
                <a:latin typeface="Arial"/>
                <a:ea typeface="Arial"/>
                <a:cs typeface="Arial"/>
              </a:rPr>
              <a:t>Proposed stack</a:t>
            </a:r>
          </a:p>
        </p:txBody>
      </p:sp>
      <p:sp>
        <p:nvSpPr>
          <p:cNvPr id="15" name="text-87">
            <a:extLst xmlns:a="http://schemas.openxmlformats.org/drawingml/2006/main">
              <a:ext uri="{FF2B5EF4-FFF2-40B4-BE49-F238E27FC236}">
                <a16:creationId xmlns:a16="http://schemas.microsoft.com/office/drawing/2014/main" id="{7D363FD3-2F99-44A3-98C9-5C579275DB11}"/>
              </a:ext>
            </a:extLst>
          </p:cNvPr>
          <p:cNvSpPr>
            <a:spLocks xmlns:a="http://schemas.openxmlformats.org/drawingml/2006/main" noGrp="1"/>
          </p:cNvSpPr>
          <p:nvPr/>
        </p:nvSpPr>
        <p:spPr>
          <a:xfrm xmlns:a="http://schemas.openxmlformats.org/drawingml/2006/main">
            <a:off x="7772400" y="2571750"/>
            <a:ext cx="36099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1">
                <a:solidFill>
                  <a:srgbClr val="14251D"/>
                </a:solidFill>
                <a:latin typeface="Arial"/>
                <a:ea typeface="Arial"/>
                <a:cs typeface="Arial"/>
              </a:defRPr>
            </a:pPr>
            <a:r>
              <a:rPr sz="1650" b="1">
                <a:solidFill>
                  <a:srgbClr val="14251D"/>
                </a:solidFill>
                <a:latin typeface="Arial"/>
                <a:ea typeface="Arial"/>
                <a:cs typeface="Arial"/>
              </a:rPr>
              <a:t>React + browser camera</a:t>
            </a:r>
          </a:p>
        </p:txBody>
      </p:sp>
      <p:sp>
        <p:nvSpPr>
          <p:cNvPr id="16" name="text-88">
            <a:extLst xmlns:a="http://schemas.openxmlformats.org/drawingml/2006/main">
              <a:ext uri="{FF2B5EF4-FFF2-40B4-BE49-F238E27FC236}">
                <a16:creationId xmlns:a16="http://schemas.microsoft.com/office/drawing/2014/main" id="{D81ACCEE-1FFA-48FD-AA0D-C2E599EC9932}"/>
              </a:ext>
            </a:extLst>
          </p:cNvPr>
          <p:cNvSpPr>
            <a:spLocks xmlns:a="http://schemas.openxmlformats.org/drawingml/2006/main" noGrp="1"/>
          </p:cNvSpPr>
          <p:nvPr/>
        </p:nvSpPr>
        <p:spPr>
          <a:xfrm xmlns:a="http://schemas.openxmlformats.org/drawingml/2006/main">
            <a:off x="7772400" y="2914650"/>
            <a:ext cx="36099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0">
                <a:solidFill>
                  <a:srgbClr val="14251D"/>
                </a:solidFill>
                <a:latin typeface="Arial"/>
                <a:ea typeface="Arial"/>
                <a:cs typeface="Arial"/>
              </a:defRPr>
            </a:pPr>
            <a:r>
              <a:rPr sz="1425" b="0">
                <a:solidFill>
                  <a:srgbClr val="14251D"/>
                </a:solidFill>
                <a:latin typeface="Arial"/>
                <a:ea typeface="Arial"/>
                <a:cs typeface="Arial"/>
              </a:rPr>
              <a:t>Three device roles and scene capture.</a:t>
            </a:r>
          </a:p>
        </p:txBody>
      </p:sp>
      <p:sp>
        <p:nvSpPr>
          <p:cNvPr id="17" name="text-89">
            <a:extLst xmlns:a="http://schemas.openxmlformats.org/drawingml/2006/main">
              <a:ext uri="{FF2B5EF4-FFF2-40B4-BE49-F238E27FC236}">
                <a16:creationId xmlns:a16="http://schemas.microsoft.com/office/drawing/2014/main" id="{EE6D4C8A-8727-417B-B7D5-2585E76EEA8F}"/>
              </a:ext>
            </a:extLst>
          </p:cNvPr>
          <p:cNvSpPr>
            <a:spLocks xmlns:a="http://schemas.openxmlformats.org/drawingml/2006/main" noGrp="1"/>
          </p:cNvSpPr>
          <p:nvPr/>
        </p:nvSpPr>
        <p:spPr>
          <a:xfrm xmlns:a="http://schemas.openxmlformats.org/drawingml/2006/main">
            <a:off x="7772400" y="3371850"/>
            <a:ext cx="36099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1">
                <a:solidFill>
                  <a:srgbClr val="14251D"/>
                </a:solidFill>
                <a:latin typeface="Arial"/>
                <a:ea typeface="Arial"/>
                <a:cs typeface="Arial"/>
              </a:defRPr>
            </a:pPr>
            <a:r>
              <a:rPr sz="1650" b="1">
                <a:solidFill>
                  <a:srgbClr val="14251D"/>
                </a:solidFill>
                <a:latin typeface="Arial"/>
                <a:ea typeface="Arial"/>
                <a:cs typeface="Arial"/>
              </a:rPr>
              <a:t>MediaPipe Pose</a:t>
            </a:r>
          </a:p>
        </p:txBody>
      </p:sp>
      <p:sp>
        <p:nvSpPr>
          <p:cNvPr id="18" name="text-90">
            <a:extLst xmlns:a="http://schemas.openxmlformats.org/drawingml/2006/main">
              <a:ext uri="{FF2B5EF4-FFF2-40B4-BE49-F238E27FC236}">
                <a16:creationId xmlns:a16="http://schemas.microsoft.com/office/drawing/2014/main" id="{022D14EE-9FCC-4CB1-98A0-34292671E842}"/>
              </a:ext>
            </a:extLst>
          </p:cNvPr>
          <p:cNvSpPr>
            <a:spLocks xmlns:a="http://schemas.openxmlformats.org/drawingml/2006/main" noGrp="1"/>
          </p:cNvSpPr>
          <p:nvPr/>
        </p:nvSpPr>
        <p:spPr>
          <a:xfrm xmlns:a="http://schemas.openxmlformats.org/drawingml/2006/main">
            <a:off x="7772400" y="3714750"/>
            <a:ext cx="36099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0">
                <a:solidFill>
                  <a:srgbClr val="14251D"/>
                </a:solidFill>
                <a:latin typeface="Arial"/>
                <a:ea typeface="Arial"/>
                <a:cs typeface="Arial"/>
              </a:defRPr>
            </a:pPr>
            <a:r>
              <a:rPr sz="1425" b="0">
                <a:solidFill>
                  <a:srgbClr val="14251D"/>
                </a:solidFill>
                <a:latin typeface="Arial"/>
                <a:ea typeface="Arial"/>
                <a:cs typeface="Arial"/>
              </a:rPr>
              <a:t>Body landmarks in a browser worker.</a:t>
            </a:r>
          </a:p>
        </p:txBody>
      </p:sp>
      <p:sp>
        <p:nvSpPr>
          <p:cNvPr id="19" name="text-91">
            <a:extLst xmlns:a="http://schemas.openxmlformats.org/drawingml/2006/main">
              <a:ext uri="{FF2B5EF4-FFF2-40B4-BE49-F238E27FC236}">
                <a16:creationId xmlns:a16="http://schemas.microsoft.com/office/drawing/2014/main" id="{9A946495-32CD-472D-82F4-895555690486}"/>
              </a:ext>
            </a:extLst>
          </p:cNvPr>
          <p:cNvSpPr>
            <a:spLocks xmlns:a="http://schemas.openxmlformats.org/drawingml/2006/main" noGrp="1"/>
          </p:cNvSpPr>
          <p:nvPr/>
        </p:nvSpPr>
        <p:spPr>
          <a:xfrm xmlns:a="http://schemas.openxmlformats.org/drawingml/2006/main">
            <a:off x="7772400" y="4171950"/>
            <a:ext cx="36099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1">
                <a:solidFill>
                  <a:srgbClr val="14251D"/>
                </a:solidFill>
                <a:latin typeface="Arial"/>
                <a:ea typeface="Arial"/>
                <a:cs typeface="Arial"/>
              </a:defRPr>
            </a:pPr>
            <a:r>
              <a:rPr sz="1650" b="1">
                <a:solidFill>
                  <a:srgbClr val="14251D"/>
                </a:solidFill>
                <a:latin typeface="Arial"/>
                <a:ea typeface="Arial"/>
                <a:cs typeface="Arial"/>
              </a:rPr>
              <a:t>Temporal rules</a:t>
            </a:r>
          </a:p>
        </p:txBody>
      </p:sp>
      <p:sp>
        <p:nvSpPr>
          <p:cNvPr id="20" name="text-92">
            <a:extLst xmlns:a="http://schemas.openxmlformats.org/drawingml/2006/main">
              <a:ext uri="{FF2B5EF4-FFF2-40B4-BE49-F238E27FC236}">
                <a16:creationId xmlns:a16="http://schemas.microsoft.com/office/drawing/2014/main" id="{8E1ECF83-B5EA-4984-8040-9BA20A072998}"/>
              </a:ext>
            </a:extLst>
          </p:cNvPr>
          <p:cNvSpPr>
            <a:spLocks xmlns:a="http://schemas.openxmlformats.org/drawingml/2006/main" noGrp="1"/>
          </p:cNvSpPr>
          <p:nvPr/>
        </p:nvSpPr>
        <p:spPr>
          <a:xfrm xmlns:a="http://schemas.openxmlformats.org/drawingml/2006/main">
            <a:off x="7772400" y="4514850"/>
            <a:ext cx="36099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0">
                <a:solidFill>
                  <a:srgbClr val="14251D"/>
                </a:solidFill>
                <a:latin typeface="Arial"/>
                <a:ea typeface="Arial"/>
                <a:cs typeface="Arial"/>
              </a:defRPr>
            </a:pPr>
            <a:r>
              <a:rPr sz="1425" b="0">
                <a:solidFill>
                  <a:srgbClr val="14251D"/>
                </a:solidFill>
                <a:latin typeface="Arial"/>
                <a:ea typeface="Arial"/>
                <a:cs typeface="Arial"/>
              </a:rPr>
              <a:t>Repeated visible changes trigger review.</a:t>
            </a:r>
          </a:p>
        </p:txBody>
      </p:sp>
      <p:sp>
        <p:nvSpPr>
          <p:cNvPr id="21" name="text-93">
            <a:extLst xmlns:a="http://schemas.openxmlformats.org/drawingml/2006/main">
              <a:ext uri="{FF2B5EF4-FFF2-40B4-BE49-F238E27FC236}">
                <a16:creationId xmlns:a16="http://schemas.microsoft.com/office/drawing/2014/main" id="{FCA23423-A2FF-429E-84D7-EFF9E6AD4436}"/>
              </a:ext>
            </a:extLst>
          </p:cNvPr>
          <p:cNvSpPr>
            <a:spLocks xmlns:a="http://schemas.openxmlformats.org/drawingml/2006/main" noGrp="1"/>
          </p:cNvSpPr>
          <p:nvPr/>
        </p:nvSpPr>
        <p:spPr>
          <a:xfrm xmlns:a="http://schemas.openxmlformats.org/drawingml/2006/main">
            <a:off x="7772400" y="4972050"/>
            <a:ext cx="36099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1">
                <a:solidFill>
                  <a:srgbClr val="14251D"/>
                </a:solidFill>
                <a:latin typeface="Arial"/>
                <a:ea typeface="Arial"/>
                <a:cs typeface="Arial"/>
              </a:defRPr>
            </a:pPr>
            <a:r>
              <a:rPr sz="1650" b="1">
                <a:solidFill>
                  <a:srgbClr val="14251D"/>
                </a:solidFill>
                <a:latin typeface="Arial"/>
                <a:ea typeface="Arial"/>
                <a:cs typeface="Arial"/>
              </a:rPr>
              <a:t>FastAPI + WebSockets</a:t>
            </a:r>
          </a:p>
        </p:txBody>
      </p:sp>
      <p:sp>
        <p:nvSpPr>
          <p:cNvPr id="22" name="text-94">
            <a:extLst xmlns:a="http://schemas.openxmlformats.org/drawingml/2006/main">
              <a:ext uri="{FF2B5EF4-FFF2-40B4-BE49-F238E27FC236}">
                <a16:creationId xmlns:a16="http://schemas.microsoft.com/office/drawing/2014/main" id="{11732F2D-BF74-4424-9BFD-97AF692363DA}"/>
              </a:ext>
            </a:extLst>
          </p:cNvPr>
          <p:cNvSpPr>
            <a:spLocks xmlns:a="http://schemas.openxmlformats.org/drawingml/2006/main" noGrp="1"/>
          </p:cNvSpPr>
          <p:nvPr/>
        </p:nvSpPr>
        <p:spPr>
          <a:xfrm xmlns:a="http://schemas.openxmlformats.org/drawingml/2006/main">
            <a:off x="7772400" y="5314950"/>
            <a:ext cx="36099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0">
                <a:solidFill>
                  <a:srgbClr val="14251D"/>
                </a:solidFill>
                <a:latin typeface="Arial"/>
                <a:ea typeface="Arial"/>
                <a:cs typeface="Arial"/>
              </a:defRPr>
            </a:pPr>
            <a:r>
              <a:rPr sz="1425" b="0">
                <a:solidFill>
                  <a:srgbClr val="14251D"/>
                </a:solidFill>
                <a:latin typeface="Arial"/>
                <a:ea typeface="Arial"/>
                <a:cs typeface="Arial"/>
              </a:rPr>
              <a:t>Alert delivery and acknowledgement.</a:t>
            </a:r>
          </a:p>
        </p:txBody>
      </p:sp>
    </p:spTree>
    <p:extLst>
      <p:ext uri="{BB962C8B-B14F-4D97-AF65-F5344CB8AC3E}">
        <p14:creationId xmlns:p14="http://schemas.microsoft.com/office/powerpoint/2010/main" val="1436251196"/>
      </p:ext>
    </p:extLst>
  </p:cSld>
</p:sld>
</file>

<file path=ppt/slides/slide7.xml><?xml version="1.0" encoding="utf-8"?>
<p:sld xmlns:p="http://schemas.openxmlformats.org/presentationml/2006/main">
  <p:cSld>
    <p:bg>
      <p:bgPr>
        <a:solidFill xmlns:a="http://schemas.openxmlformats.org/drawingml/2006/main">
          <a:srgbClr val="F7FAF5"/>
        </a:solidFill>
      </p:bgPr>
    </p:bg>
    <p:spTree>
      <p:nvGrpSpPr>
        <p:cNvPr id="1" name=""/>
        <p:cNvGrpSpPr/>
        <p:nvPr/>
      </p:nvGrpSpPr>
      <p:grpSpPr>
        <a:xfrm xmlns:a="http://schemas.openxmlformats.org/drawingml/2006/main"/>
      </p:grpSpPr>
      <p:sp>
        <p:nvSpPr>
          <p:cNvPr id="9" name="text-95">
            <a:extLst xmlns:a="http://schemas.openxmlformats.org/drawingml/2006/main">
              <a:ext uri="{FF2B5EF4-FFF2-40B4-BE49-F238E27FC236}">
                <a16:creationId xmlns:a16="http://schemas.microsoft.com/office/drawing/2014/main" id="{442A0C59-7D1E-42AC-8C9F-F90666E7FB34}"/>
              </a:ext>
            </a:extLst>
          </p:cNvPr>
          <p:cNvSpPr>
            <a:spLocks xmlns:a="http://schemas.openxmlformats.org/drawingml/2006/main" noGrp="1"/>
          </p:cNvSpPr>
          <p:nvPr/>
        </p:nvSpPr>
        <p:spPr>
          <a:xfrm xmlns:a="http://schemas.openxmlformats.org/drawingml/2006/main">
            <a:off x="533400" y="447675"/>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600" b="1">
                <a:solidFill>
                  <a:srgbClr val="14251D"/>
                </a:solidFill>
                <a:latin typeface="Arial"/>
                <a:ea typeface="Arial"/>
                <a:cs typeface="Arial"/>
              </a:defRPr>
            </a:pPr>
            <a:r>
              <a:rPr sz="3600" b="1">
                <a:solidFill>
                  <a:srgbClr val="14251D"/>
                </a:solidFill>
                <a:latin typeface="Arial"/>
                <a:ea typeface="Arial"/>
                <a:cs typeface="Arial"/>
              </a:rPr>
              <a:t>Team Member Details</a:t>
            </a:r>
          </a:p>
        </p:txBody>
      </p:sp>
      <p:sp>
        <p:nvSpPr>
          <p:cNvPr id="2" name="text-96">
            <a:extLst xmlns:a="http://schemas.openxmlformats.org/drawingml/2006/main">
              <a:ext uri="{FF2B5EF4-FFF2-40B4-BE49-F238E27FC236}">
                <a16:creationId xmlns:a16="http://schemas.microsoft.com/office/drawing/2014/main" id="{5DC1AA98-BC67-43D6-A244-4091951554B4}"/>
              </a:ext>
            </a:extLst>
          </p:cNvPr>
          <p:cNvSpPr>
            <a:spLocks xmlns:a="http://schemas.openxmlformats.org/drawingml/2006/main" noGrp="1"/>
          </p:cNvSpPr>
          <p:nvPr/>
        </p:nvSpPr>
        <p:spPr>
          <a:xfrm xmlns:a="http://schemas.openxmlformats.org/drawingml/2006/main">
            <a:off x="533400" y="6457950"/>
            <a:ext cx="981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75" b="0">
                <a:solidFill>
                  <a:srgbClr val="506056"/>
                </a:solidFill>
                <a:latin typeface="Arial"/>
                <a:ea typeface="Arial"/>
                <a:cs typeface="Arial"/>
              </a:defRPr>
            </a:pPr>
            <a:r>
              <a:rPr sz="975" b="0">
                <a:solidFill>
                  <a:srgbClr val="506056"/>
                </a:solidFill>
                <a:latin typeface="Arial"/>
                <a:ea typeface="Arial"/>
                <a:cs typeface="Arial"/>
              </a:rPr>
              <a:t>NIVRA / BAL BHARATI HACKATHON 3.0</a:t>
            </a:r>
          </a:p>
        </p:txBody>
      </p:sp>
      <p:sp>
        <p:nvSpPr>
          <p:cNvPr id="3" name="text-97">
            <a:extLst xmlns:a="http://schemas.openxmlformats.org/drawingml/2006/main">
              <a:ext uri="{FF2B5EF4-FFF2-40B4-BE49-F238E27FC236}">
                <a16:creationId xmlns:a16="http://schemas.microsoft.com/office/drawing/2014/main" id="{D7463030-14E4-4FEC-9F90-649A470EB73E}"/>
              </a:ext>
            </a:extLst>
          </p:cNvPr>
          <p:cNvSpPr>
            <a:spLocks xmlns:a="http://schemas.openxmlformats.org/drawingml/2006/main" noGrp="1"/>
          </p:cNvSpPr>
          <p:nvPr/>
        </p:nvSpPr>
        <p:spPr>
          <a:xfrm xmlns:a="http://schemas.openxmlformats.org/drawingml/2006/main">
            <a:off x="11239500" y="6419850"/>
            <a:ext cx="419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14251D"/>
                </a:solidFill>
                <a:latin typeface="Arial"/>
                <a:ea typeface="Arial"/>
                <a:cs typeface="Arial"/>
              </a:defRPr>
            </a:pPr>
            <a:r>
              <a:rPr sz="1200" b="0">
                <a:solidFill>
                  <a:srgbClr val="14251D"/>
                </a:solidFill>
                <a:latin typeface="Arial"/>
                <a:ea typeface="Arial"/>
                <a:cs typeface="Arial"/>
              </a:rPr>
              <a:t>07</a:t>
            </a:r>
          </a:p>
        </p:txBody>
      </p:sp>
      <p:sp>
        <p:nvSpPr>
          <p:cNvPr id="4" name="text-98">
            <a:extLst xmlns:a="http://schemas.openxmlformats.org/drawingml/2006/main">
              <a:ext uri="{FF2B5EF4-FFF2-40B4-BE49-F238E27FC236}">
                <a16:creationId xmlns:a16="http://schemas.microsoft.com/office/drawing/2014/main" id="{0C3113FB-79E2-4C3E-A256-67ECB320A8C0}"/>
              </a:ext>
            </a:extLst>
          </p:cNvPr>
          <p:cNvSpPr>
            <a:spLocks xmlns:a="http://schemas.openxmlformats.org/drawingml/2006/main" noGrp="1"/>
          </p:cNvSpPr>
          <p:nvPr/>
        </p:nvSpPr>
        <p:spPr>
          <a:xfrm xmlns:a="http://schemas.openxmlformats.org/drawingml/2006/main">
            <a:off x="552450" y="1181100"/>
            <a:ext cx="110871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506056"/>
                </a:solidFill>
                <a:latin typeface="Arial"/>
                <a:ea typeface="Arial"/>
                <a:cs typeface="Arial"/>
              </a:defRPr>
            </a:pPr>
            <a:r>
              <a:rPr sz="1950" b="0">
                <a:solidFill>
                  <a:srgbClr val="506056"/>
                </a:solidFill>
                <a:latin typeface="Arial"/>
                <a:ea typeface="Arial"/>
                <a:cs typeface="Arial"/>
              </a:rPr>
              <a:t>Bal Bharati Public School, Pitampura</a:t>
            </a:r>
          </a:p>
        </p:txBody>
      </p:sp>
      <p:sp>
        <p:nvSpPr>
          <p:cNvPr id="5" name="text-99">
            <a:extLst xmlns:a="http://schemas.openxmlformats.org/drawingml/2006/main">
              <a:ext uri="{FF2B5EF4-FFF2-40B4-BE49-F238E27FC236}">
                <a16:creationId xmlns:a16="http://schemas.microsoft.com/office/drawing/2014/main" id="{250F81D6-1F4E-4501-BF43-6807DA66C91D}"/>
              </a:ext>
            </a:extLst>
          </p:cNvPr>
          <p:cNvSpPr>
            <a:spLocks xmlns:a="http://schemas.openxmlformats.org/drawingml/2006/main" noGrp="1"/>
          </p:cNvSpPr>
          <p:nvPr/>
        </p:nvSpPr>
        <p:spPr>
          <a:xfrm xmlns:a="http://schemas.openxmlformats.org/drawingml/2006/main">
            <a:off x="533400" y="1809750"/>
            <a:ext cx="11125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14251D"/>
                </a:solidFill>
                <a:latin typeface="Arial"/>
                <a:ea typeface="Arial"/>
                <a:cs typeface="Arial"/>
              </a:defRPr>
            </a:pPr>
            <a:r>
              <a:rPr sz="2025" b="1">
                <a:solidFill>
                  <a:srgbClr val="14251D"/>
                </a:solidFill>
                <a:latin typeface="Arial"/>
                <a:ea typeface="Arial"/>
                <a:cs typeface="Arial"/>
              </a:rPr>
              <a:t>Students</a:t>
            </a:r>
          </a:p>
        </p:txBody>
      </p:sp>
      <p:graphicFrame>
        <p:nvGraphicFramePr>
          <p:cNvPr id="14" name=""/>
          <p:cNvGraphicFramePr/>
          <p:nvPr/>
        </p:nvGraphicFramePr>
        <p:xfrm>
          <a:off xmlns:a="http://schemas.openxmlformats.org/drawingml/2006/main" x="533400" y="2295525"/>
          <a:ext xmlns:a="http://schemas.openxmlformats.org/drawingml/2006/main" cx="11125200" cy="2352675"/>
        </p:xfrm>
        <a:graphic xmlns:a="http://schemas.openxmlformats.org/drawingml/2006/main">
          <a:graphicData uri="http://schemas.openxmlformats.org/drawingml/2006/table">
            <a:tbl>
              <a:tblPr/>
              <a:tblGrid>
                <a:gridCol w="466725"/>
                <a:gridCol w="1323975"/>
                <a:gridCol w="1743075"/>
                <a:gridCol w="704850"/>
                <a:gridCol w="1190625"/>
                <a:gridCol w="2286000"/>
                <a:gridCol w="2152650"/>
                <a:gridCol w="1257300"/>
              </a:tblGrid>
              <a:tr h="447675">
                <a:tc>
                  <a:txBody>
                    <a:bodyPr/>
                    <a:lstStyle/>
                    <a:p>
                      <a:r>
                        <a:rPr sz="1350" b="1">
                          <a:solidFill>
                            <a:srgbClr val="F7FAF5"/>
                          </a:solidFill>
                          <a:latin typeface="Arial"/>
                          <a:ea typeface="Arial"/>
                          <a:cs typeface="Arial"/>
                        </a:rPr>
                        <a:t>SL</a:t>
                      </a:r>
                    </a:p>
                  </a:txBody>
                  <a:tcPr marL="91440" marR="91440" marT="45720" marB="45720">
                    <a:solidFill>
                      <a:srgbClr val="14251D"/>
                    </a:solidFill>
                  </a:tcPr>
                </a:tc>
                <a:tc>
                  <a:txBody>
                    <a:bodyPr/>
                    <a:lstStyle/>
                    <a:p>
                      <a:r>
                        <a:rPr sz="1350" b="1">
                          <a:solidFill>
                            <a:srgbClr val="F7FAF5"/>
                          </a:solidFill>
                          <a:latin typeface="Arial"/>
                          <a:ea typeface="Arial"/>
                          <a:cs typeface="Arial"/>
                        </a:rPr>
                        <a:t>Student ID</a:t>
                      </a:r>
                    </a:p>
                  </a:txBody>
                  <a:tcPr marL="91440" marR="91440" marT="45720" marB="45720">
                    <a:solidFill>
                      <a:srgbClr val="14251D"/>
                    </a:solidFill>
                  </a:tcPr>
                </a:tc>
                <a:tc>
                  <a:txBody>
                    <a:bodyPr/>
                    <a:lstStyle/>
                    <a:p>
                      <a:r>
                        <a:rPr sz="1350" b="1">
                          <a:solidFill>
                            <a:srgbClr val="F7FAF5"/>
                          </a:solidFill>
                          <a:latin typeface="Arial"/>
                          <a:ea typeface="Arial"/>
                          <a:cs typeface="Arial"/>
                        </a:rPr>
                        <a:t>Name</a:t>
                      </a:r>
                    </a:p>
                  </a:txBody>
                  <a:tcPr marL="91440" marR="91440" marT="45720" marB="45720">
                    <a:solidFill>
                      <a:srgbClr val="14251D"/>
                    </a:solidFill>
                  </a:tcPr>
                </a:tc>
                <a:tc>
                  <a:txBody>
                    <a:bodyPr/>
                    <a:lstStyle/>
                    <a:p>
                      <a:r>
                        <a:rPr sz="1350" b="1">
                          <a:solidFill>
                            <a:srgbClr val="F7FAF5"/>
                          </a:solidFill>
                          <a:latin typeface="Arial"/>
                          <a:ea typeface="Arial"/>
                          <a:cs typeface="Arial"/>
                        </a:rPr>
                        <a:t>Class</a:t>
                      </a:r>
                    </a:p>
                  </a:txBody>
                  <a:tcPr marL="91440" marR="91440" marT="45720" marB="45720">
                    <a:solidFill>
                      <a:srgbClr val="14251D"/>
                    </a:solidFill>
                  </a:tcPr>
                </a:tc>
                <a:tc>
                  <a:txBody>
                    <a:bodyPr/>
                    <a:lstStyle/>
                    <a:p>
                      <a:r>
                        <a:rPr sz="1350" b="1">
                          <a:solidFill>
                            <a:srgbClr val="F7FAF5"/>
                          </a:solidFill>
                          <a:latin typeface="Arial"/>
                          <a:ea typeface="Arial"/>
                          <a:cs typeface="Arial"/>
                        </a:rPr>
                        <a:t>DOB</a:t>
                      </a:r>
                    </a:p>
                  </a:txBody>
                  <a:tcPr marL="91440" marR="91440" marT="45720" marB="45720">
                    <a:solidFill>
                      <a:srgbClr val="14251D"/>
                    </a:solidFill>
                  </a:tcPr>
                </a:tc>
                <a:tc>
                  <a:txBody>
                    <a:bodyPr/>
                    <a:lstStyle/>
                    <a:p>
                      <a:r>
                        <a:rPr sz="1350" b="1">
                          <a:solidFill>
                            <a:srgbClr val="F7FAF5"/>
                          </a:solidFill>
                          <a:latin typeface="Arial"/>
                          <a:ea typeface="Arial"/>
                          <a:cs typeface="Arial"/>
                        </a:rPr>
                        <a:t>Email</a:t>
                      </a:r>
                    </a:p>
                  </a:txBody>
                  <a:tcPr marL="91440" marR="91440" marT="45720" marB="45720">
                    <a:solidFill>
                      <a:srgbClr val="14251D"/>
                    </a:solidFill>
                  </a:tcPr>
                </a:tc>
                <a:tc>
                  <a:txBody>
                    <a:bodyPr/>
                    <a:lstStyle/>
                    <a:p>
                      <a:r>
                        <a:rPr sz="1350" b="1">
                          <a:solidFill>
                            <a:srgbClr val="F7FAF5"/>
                          </a:solidFill>
                          <a:latin typeface="Arial"/>
                          <a:ea typeface="Arial"/>
                          <a:cs typeface="Arial"/>
                        </a:rPr>
                        <a:t>Phone Number</a:t>
                      </a:r>
                    </a:p>
                  </a:txBody>
                  <a:tcPr marL="91440" marR="91440" marT="45720" marB="45720">
                    <a:solidFill>
                      <a:srgbClr val="14251D"/>
                    </a:solidFill>
                  </a:tcPr>
                </a:tc>
                <a:tc>
                  <a:txBody>
                    <a:bodyPr/>
                    <a:lstStyle/>
                    <a:p>
                      <a:r>
                        <a:rPr sz="1350" b="1">
                          <a:solidFill>
                            <a:srgbClr val="F7FAF5"/>
                          </a:solidFill>
                          <a:latin typeface="Arial"/>
                          <a:ea typeface="Arial"/>
                          <a:cs typeface="Arial"/>
                        </a:rPr>
                        <a:t>Gender</a:t>
                      </a:r>
                    </a:p>
                  </a:txBody>
                  <a:tcPr marL="91440" marR="91440" marT="45720" marB="45720">
                    <a:solidFill>
                      <a:srgbClr val="14251D"/>
                    </a:solidFill>
                  </a:tcPr>
                </a:tc>
              </a:tr>
              <a:tr h="381000">
                <a:tc>
                  <a:txBody>
                    <a:bodyPr/>
                    <a:lstStyle/>
                    <a:p>
                      <a:r>
                        <a:rPr sz="1350" b="0">
                          <a:solidFill>
                            <a:srgbClr val="14251D"/>
                          </a:solidFill>
                          <a:latin typeface="Arial"/>
                          <a:ea typeface="Arial"/>
                          <a:cs typeface="Arial"/>
                        </a:rPr>
                        <a:t>1</a:t>
                      </a:r>
                    </a:p>
                  </a:txBody>
                  <a:tcPr marL="91440" marR="91440" marT="45720" marB="45720">
                    <a:solidFill>
                      <a:srgbClr val="F7FAF5"/>
                    </a:solidFill>
                  </a:tcPr>
                </a:tc>
                <a:tc>
                  <a:txBody>
                    <a:bodyPr/>
                    <a:lstStyle/>
                    <a:p>
                      <a:r>
                        <a:rPr sz="1350" b="0">
                          <a:solidFill>
                            <a:srgbClr val="14251D"/>
                          </a:solidFill>
                          <a:latin typeface="Arial"/>
                          <a:ea typeface="Arial"/>
                          <a:cs typeface="Arial"/>
                        </a:rPr>
                        <a:t/>
                      </a:r>
                    </a:p>
                  </a:txBody>
                  <a:tcPr marL="91440" marR="91440" marT="45720" marB="45720">
                    <a:solidFill>
                      <a:srgbClr val="F7FAF5"/>
                    </a:solidFill>
                  </a:tcPr>
                </a:tc>
                <a:tc>
                  <a:txBody>
                    <a:bodyPr/>
                    <a:lstStyle/>
                    <a:p>
                      <a:r>
                        <a:rPr sz="1350" b="0">
                          <a:solidFill>
                            <a:srgbClr val="14251D"/>
                          </a:solidFill>
                          <a:latin typeface="Arial"/>
                          <a:ea typeface="Arial"/>
                          <a:cs typeface="Arial"/>
                        </a:rPr>
                        <a:t/>
                      </a:r>
                    </a:p>
                  </a:txBody>
                  <a:tcPr marL="91440" marR="91440" marT="45720" marB="45720">
                    <a:solidFill>
                      <a:srgbClr val="F7FAF5"/>
                    </a:solidFill>
                  </a:tcPr>
                </a:tc>
                <a:tc>
                  <a:txBody>
                    <a:bodyPr/>
                    <a:lstStyle/>
                    <a:p>
                      <a:r>
                        <a:rPr sz="1350" b="0">
                          <a:solidFill>
                            <a:srgbClr val="14251D"/>
                          </a:solidFill>
                          <a:latin typeface="Arial"/>
                          <a:ea typeface="Arial"/>
                          <a:cs typeface="Arial"/>
                        </a:rPr>
                        <a:t/>
                      </a:r>
                    </a:p>
                  </a:txBody>
                  <a:tcPr marL="91440" marR="91440" marT="45720" marB="45720">
                    <a:solidFill>
                      <a:srgbClr val="F7FAF5"/>
                    </a:solidFill>
                  </a:tcPr>
                </a:tc>
                <a:tc>
                  <a:txBody>
                    <a:bodyPr/>
                    <a:lstStyle/>
                    <a:p>
                      <a:r>
                        <a:rPr sz="1350" b="0">
                          <a:solidFill>
                            <a:srgbClr val="14251D"/>
                          </a:solidFill>
                          <a:latin typeface="Arial"/>
                          <a:ea typeface="Arial"/>
                          <a:cs typeface="Arial"/>
                        </a:rPr>
                        <a:t/>
                      </a:r>
                    </a:p>
                  </a:txBody>
                  <a:tcPr marL="91440" marR="91440" marT="45720" marB="45720">
                    <a:solidFill>
                      <a:srgbClr val="F7FAF5"/>
                    </a:solidFill>
                  </a:tcPr>
                </a:tc>
                <a:tc>
                  <a:txBody>
                    <a:bodyPr/>
                    <a:lstStyle/>
                    <a:p>
                      <a:r>
                        <a:rPr sz="1350" b="0">
                          <a:solidFill>
                            <a:srgbClr val="14251D"/>
                          </a:solidFill>
                          <a:latin typeface="Arial"/>
                          <a:ea typeface="Arial"/>
                          <a:cs typeface="Arial"/>
                        </a:rPr>
                        <a:t/>
                      </a:r>
                    </a:p>
                  </a:txBody>
                  <a:tcPr marL="91440" marR="91440" marT="45720" marB="45720">
                    <a:solidFill>
                      <a:srgbClr val="F7FAF5"/>
                    </a:solidFill>
                  </a:tcPr>
                </a:tc>
                <a:tc>
                  <a:txBody>
                    <a:bodyPr/>
                    <a:lstStyle/>
                    <a:p>
                      <a:r>
                        <a:rPr sz="1350" b="0">
                          <a:solidFill>
                            <a:srgbClr val="14251D"/>
                          </a:solidFill>
                          <a:latin typeface="Arial"/>
                          <a:ea typeface="Arial"/>
                          <a:cs typeface="Arial"/>
                        </a:rPr>
                        <a:t/>
                      </a:r>
                    </a:p>
                  </a:txBody>
                  <a:tcPr marL="91440" marR="91440" marT="45720" marB="45720">
                    <a:solidFill>
                      <a:srgbClr val="F7FAF5"/>
                    </a:solidFill>
                  </a:tcPr>
                </a:tc>
                <a:tc>
                  <a:txBody>
                    <a:bodyPr/>
                    <a:lstStyle/>
                    <a:p>
                      <a:r>
                        <a:rPr sz="1350" b="0">
                          <a:solidFill>
                            <a:srgbClr val="14251D"/>
                          </a:solidFill>
                          <a:latin typeface="Arial"/>
                          <a:ea typeface="Arial"/>
                          <a:cs typeface="Arial"/>
                        </a:rPr>
                        <a:t/>
                      </a:r>
                    </a:p>
                  </a:txBody>
                  <a:tcPr marL="91440" marR="91440" marT="45720" marB="45720">
                    <a:solidFill>
                      <a:srgbClr val="F7FAF5"/>
                    </a:solidFill>
                  </a:tcPr>
                </a:tc>
              </a:tr>
              <a:tr h="381000">
                <a:tc>
                  <a:txBody>
                    <a:bodyPr/>
                    <a:lstStyle/>
                    <a:p>
                      <a:r>
                        <a:rPr sz="1350" b="0">
                          <a:solidFill>
                            <a:srgbClr val="14251D"/>
                          </a:solidFill>
                          <a:latin typeface="Arial"/>
                          <a:ea typeface="Arial"/>
                          <a:cs typeface="Arial"/>
                        </a:rPr>
                        <a:t>2</a:t>
                      </a:r>
                    </a:p>
                  </a:txBody>
                  <a:tcPr marL="91440" marR="91440" marT="45720" marB="45720">
                    <a:solidFill>
                      <a:srgbClr val="F7FAF5"/>
                    </a:solidFill>
                  </a:tcPr>
                </a:tc>
                <a:tc>
                  <a:txBody>
                    <a:bodyPr/>
                    <a:lstStyle/>
                    <a:p>
                      <a:r>
                        <a:rPr sz="1350" b="0">
                          <a:solidFill>
                            <a:srgbClr val="14251D"/>
                          </a:solidFill>
                          <a:latin typeface="Arial"/>
                          <a:ea typeface="Arial"/>
                          <a:cs typeface="Arial"/>
                        </a:rPr>
                        <a:t/>
                      </a:r>
                    </a:p>
                  </a:txBody>
                  <a:tcPr marL="91440" marR="91440" marT="45720" marB="45720">
                    <a:solidFill>
                      <a:srgbClr val="F7FAF5"/>
                    </a:solidFill>
                  </a:tcPr>
                </a:tc>
                <a:tc>
                  <a:txBody>
                    <a:bodyPr/>
                    <a:lstStyle/>
                    <a:p>
                      <a:r>
                        <a:rPr sz="1350" b="0">
                          <a:solidFill>
                            <a:srgbClr val="14251D"/>
                          </a:solidFill>
                          <a:latin typeface="Arial"/>
                          <a:ea typeface="Arial"/>
                          <a:cs typeface="Arial"/>
                        </a:rPr>
                        <a:t/>
                      </a:r>
                    </a:p>
                  </a:txBody>
                  <a:tcPr marL="91440" marR="91440" marT="45720" marB="45720">
                    <a:solidFill>
                      <a:srgbClr val="F7FAF5"/>
                    </a:solidFill>
                  </a:tcPr>
                </a:tc>
                <a:tc>
                  <a:txBody>
                    <a:bodyPr/>
                    <a:lstStyle/>
                    <a:p>
                      <a:r>
                        <a:rPr sz="1350" b="0">
                          <a:solidFill>
                            <a:srgbClr val="14251D"/>
                          </a:solidFill>
                          <a:latin typeface="Arial"/>
                          <a:ea typeface="Arial"/>
                          <a:cs typeface="Arial"/>
                        </a:rPr>
                        <a:t/>
                      </a:r>
                    </a:p>
                  </a:txBody>
                  <a:tcPr marL="91440" marR="91440" marT="45720" marB="45720">
                    <a:solidFill>
                      <a:srgbClr val="F7FAF5"/>
                    </a:solidFill>
                  </a:tcPr>
                </a:tc>
                <a:tc>
                  <a:txBody>
                    <a:bodyPr/>
                    <a:lstStyle/>
                    <a:p>
                      <a:r>
                        <a:rPr sz="1350" b="0">
                          <a:solidFill>
                            <a:srgbClr val="14251D"/>
                          </a:solidFill>
                          <a:latin typeface="Arial"/>
                          <a:ea typeface="Arial"/>
                          <a:cs typeface="Arial"/>
                        </a:rPr>
                        <a:t/>
                      </a:r>
                    </a:p>
                  </a:txBody>
                  <a:tcPr marL="91440" marR="91440" marT="45720" marB="45720">
                    <a:solidFill>
                      <a:srgbClr val="F7FAF5"/>
                    </a:solidFill>
                  </a:tcPr>
                </a:tc>
                <a:tc>
                  <a:txBody>
                    <a:bodyPr/>
                    <a:lstStyle/>
                    <a:p>
                      <a:r>
                        <a:rPr sz="1350" b="0">
                          <a:solidFill>
                            <a:srgbClr val="14251D"/>
                          </a:solidFill>
                          <a:latin typeface="Arial"/>
                          <a:ea typeface="Arial"/>
                          <a:cs typeface="Arial"/>
                        </a:rPr>
                        <a:t/>
                      </a:r>
                    </a:p>
                  </a:txBody>
                  <a:tcPr marL="91440" marR="91440" marT="45720" marB="45720">
                    <a:solidFill>
                      <a:srgbClr val="F7FAF5"/>
                    </a:solidFill>
                  </a:tcPr>
                </a:tc>
                <a:tc>
                  <a:txBody>
                    <a:bodyPr/>
                    <a:lstStyle/>
                    <a:p>
                      <a:r>
                        <a:rPr sz="1350" b="0">
                          <a:solidFill>
                            <a:srgbClr val="14251D"/>
                          </a:solidFill>
                          <a:latin typeface="Arial"/>
                          <a:ea typeface="Arial"/>
                          <a:cs typeface="Arial"/>
                        </a:rPr>
                        <a:t/>
                      </a:r>
                    </a:p>
                  </a:txBody>
                  <a:tcPr marL="91440" marR="91440" marT="45720" marB="45720">
                    <a:solidFill>
                      <a:srgbClr val="F7FAF5"/>
                    </a:solidFill>
                  </a:tcPr>
                </a:tc>
                <a:tc>
                  <a:txBody>
                    <a:bodyPr/>
                    <a:lstStyle/>
                    <a:p>
                      <a:r>
                        <a:rPr sz="1350" b="0">
                          <a:solidFill>
                            <a:srgbClr val="14251D"/>
                          </a:solidFill>
                          <a:latin typeface="Arial"/>
                          <a:ea typeface="Arial"/>
                          <a:cs typeface="Arial"/>
                        </a:rPr>
                        <a:t/>
                      </a:r>
                    </a:p>
                  </a:txBody>
                  <a:tcPr marL="91440" marR="91440" marT="45720" marB="45720">
                    <a:solidFill>
                      <a:srgbClr val="F7FAF5"/>
                    </a:solidFill>
                  </a:tcPr>
                </a:tc>
              </a:tr>
              <a:tr h="381000">
                <a:tc>
                  <a:txBody>
                    <a:bodyPr/>
                    <a:lstStyle/>
                    <a:p>
                      <a:r>
                        <a:rPr sz="1350" b="0">
                          <a:solidFill>
                            <a:srgbClr val="14251D"/>
                          </a:solidFill>
                          <a:latin typeface="Arial"/>
                          <a:ea typeface="Arial"/>
                          <a:cs typeface="Arial"/>
                        </a:rPr>
                        <a:t>3</a:t>
                      </a:r>
                    </a:p>
                  </a:txBody>
                  <a:tcPr marL="91440" marR="91440" marT="45720" marB="45720">
                    <a:solidFill>
                      <a:srgbClr val="F7FAF5"/>
                    </a:solidFill>
                  </a:tcPr>
                </a:tc>
                <a:tc>
                  <a:txBody>
                    <a:bodyPr/>
                    <a:lstStyle/>
                    <a:p>
                      <a:r>
                        <a:rPr sz="1350" b="0">
                          <a:solidFill>
                            <a:srgbClr val="14251D"/>
                          </a:solidFill>
                          <a:latin typeface="Arial"/>
                          <a:ea typeface="Arial"/>
                          <a:cs typeface="Arial"/>
                        </a:rPr>
                        <a:t/>
                      </a:r>
                    </a:p>
                  </a:txBody>
                  <a:tcPr marL="91440" marR="91440" marT="45720" marB="45720">
                    <a:solidFill>
                      <a:srgbClr val="F7FAF5"/>
                    </a:solidFill>
                  </a:tcPr>
                </a:tc>
                <a:tc>
                  <a:txBody>
                    <a:bodyPr/>
                    <a:lstStyle/>
                    <a:p>
                      <a:r>
                        <a:rPr sz="1350" b="0">
                          <a:solidFill>
                            <a:srgbClr val="14251D"/>
                          </a:solidFill>
                          <a:latin typeface="Arial"/>
                          <a:ea typeface="Arial"/>
                          <a:cs typeface="Arial"/>
                        </a:rPr>
                        <a:t/>
                      </a:r>
                    </a:p>
                  </a:txBody>
                  <a:tcPr marL="91440" marR="91440" marT="45720" marB="45720">
                    <a:solidFill>
                      <a:srgbClr val="F7FAF5"/>
                    </a:solidFill>
                  </a:tcPr>
                </a:tc>
                <a:tc>
                  <a:txBody>
                    <a:bodyPr/>
                    <a:lstStyle/>
                    <a:p>
                      <a:r>
                        <a:rPr sz="1350" b="0">
                          <a:solidFill>
                            <a:srgbClr val="14251D"/>
                          </a:solidFill>
                          <a:latin typeface="Arial"/>
                          <a:ea typeface="Arial"/>
                          <a:cs typeface="Arial"/>
                        </a:rPr>
                        <a:t/>
                      </a:r>
                    </a:p>
                  </a:txBody>
                  <a:tcPr marL="91440" marR="91440" marT="45720" marB="45720">
                    <a:solidFill>
                      <a:srgbClr val="F7FAF5"/>
                    </a:solidFill>
                  </a:tcPr>
                </a:tc>
                <a:tc>
                  <a:txBody>
                    <a:bodyPr/>
                    <a:lstStyle/>
                    <a:p>
                      <a:r>
                        <a:rPr sz="1350" b="0">
                          <a:solidFill>
                            <a:srgbClr val="14251D"/>
                          </a:solidFill>
                          <a:latin typeface="Arial"/>
                          <a:ea typeface="Arial"/>
                          <a:cs typeface="Arial"/>
                        </a:rPr>
                        <a:t/>
                      </a:r>
                    </a:p>
                  </a:txBody>
                  <a:tcPr marL="91440" marR="91440" marT="45720" marB="45720">
                    <a:solidFill>
                      <a:srgbClr val="F7FAF5"/>
                    </a:solidFill>
                  </a:tcPr>
                </a:tc>
                <a:tc>
                  <a:txBody>
                    <a:bodyPr/>
                    <a:lstStyle/>
                    <a:p>
                      <a:r>
                        <a:rPr sz="1350" b="0">
                          <a:solidFill>
                            <a:srgbClr val="14251D"/>
                          </a:solidFill>
                          <a:latin typeface="Arial"/>
                          <a:ea typeface="Arial"/>
                          <a:cs typeface="Arial"/>
                        </a:rPr>
                        <a:t/>
                      </a:r>
                    </a:p>
                  </a:txBody>
                  <a:tcPr marL="91440" marR="91440" marT="45720" marB="45720">
                    <a:solidFill>
                      <a:srgbClr val="F7FAF5"/>
                    </a:solidFill>
                  </a:tcPr>
                </a:tc>
                <a:tc>
                  <a:txBody>
                    <a:bodyPr/>
                    <a:lstStyle/>
                    <a:p>
                      <a:r>
                        <a:rPr sz="1350" b="0">
                          <a:solidFill>
                            <a:srgbClr val="14251D"/>
                          </a:solidFill>
                          <a:latin typeface="Arial"/>
                          <a:ea typeface="Arial"/>
                          <a:cs typeface="Arial"/>
                        </a:rPr>
                        <a:t/>
                      </a:r>
                    </a:p>
                  </a:txBody>
                  <a:tcPr marL="91440" marR="91440" marT="45720" marB="45720">
                    <a:solidFill>
                      <a:srgbClr val="F7FAF5"/>
                    </a:solidFill>
                  </a:tcPr>
                </a:tc>
                <a:tc>
                  <a:txBody>
                    <a:bodyPr/>
                    <a:lstStyle/>
                    <a:p>
                      <a:r>
                        <a:rPr sz="1350" b="0">
                          <a:solidFill>
                            <a:srgbClr val="14251D"/>
                          </a:solidFill>
                          <a:latin typeface="Arial"/>
                          <a:ea typeface="Arial"/>
                          <a:cs typeface="Arial"/>
                        </a:rPr>
                        <a:t/>
                      </a:r>
                    </a:p>
                  </a:txBody>
                  <a:tcPr marL="91440" marR="91440" marT="45720" marB="45720">
                    <a:solidFill>
                      <a:srgbClr val="F7FAF5"/>
                    </a:solidFill>
                  </a:tcPr>
                </a:tc>
              </a:tr>
              <a:tr h="381000">
                <a:tc>
                  <a:txBody>
                    <a:bodyPr/>
                    <a:lstStyle/>
                    <a:p>
                      <a:r>
                        <a:rPr sz="1350" b="0">
                          <a:solidFill>
                            <a:srgbClr val="14251D"/>
                          </a:solidFill>
                          <a:latin typeface="Arial"/>
                          <a:ea typeface="Arial"/>
                          <a:cs typeface="Arial"/>
                        </a:rPr>
                        <a:t>4</a:t>
                      </a:r>
                    </a:p>
                  </a:txBody>
                  <a:tcPr marL="91440" marR="91440" marT="45720" marB="45720">
                    <a:solidFill>
                      <a:srgbClr val="F7FAF5"/>
                    </a:solidFill>
                  </a:tcPr>
                </a:tc>
                <a:tc>
                  <a:txBody>
                    <a:bodyPr/>
                    <a:lstStyle/>
                    <a:p>
                      <a:r>
                        <a:rPr sz="1350" b="0">
                          <a:solidFill>
                            <a:srgbClr val="14251D"/>
                          </a:solidFill>
                          <a:latin typeface="Arial"/>
                          <a:ea typeface="Arial"/>
                          <a:cs typeface="Arial"/>
                        </a:rPr>
                        <a:t/>
                      </a:r>
                    </a:p>
                  </a:txBody>
                  <a:tcPr marL="91440" marR="91440" marT="45720" marB="45720">
                    <a:solidFill>
                      <a:srgbClr val="F7FAF5"/>
                    </a:solidFill>
                  </a:tcPr>
                </a:tc>
                <a:tc>
                  <a:txBody>
                    <a:bodyPr/>
                    <a:lstStyle/>
                    <a:p>
                      <a:r>
                        <a:rPr sz="1350" b="0">
                          <a:solidFill>
                            <a:srgbClr val="14251D"/>
                          </a:solidFill>
                          <a:latin typeface="Arial"/>
                          <a:ea typeface="Arial"/>
                          <a:cs typeface="Arial"/>
                        </a:rPr>
                        <a:t/>
                      </a:r>
                    </a:p>
                  </a:txBody>
                  <a:tcPr marL="91440" marR="91440" marT="45720" marB="45720">
                    <a:solidFill>
                      <a:srgbClr val="F7FAF5"/>
                    </a:solidFill>
                  </a:tcPr>
                </a:tc>
                <a:tc>
                  <a:txBody>
                    <a:bodyPr/>
                    <a:lstStyle/>
                    <a:p>
                      <a:r>
                        <a:rPr sz="1350" b="0">
                          <a:solidFill>
                            <a:srgbClr val="14251D"/>
                          </a:solidFill>
                          <a:latin typeface="Arial"/>
                          <a:ea typeface="Arial"/>
                          <a:cs typeface="Arial"/>
                        </a:rPr>
                        <a:t/>
                      </a:r>
                    </a:p>
                  </a:txBody>
                  <a:tcPr marL="91440" marR="91440" marT="45720" marB="45720">
                    <a:solidFill>
                      <a:srgbClr val="F7FAF5"/>
                    </a:solidFill>
                  </a:tcPr>
                </a:tc>
                <a:tc>
                  <a:txBody>
                    <a:bodyPr/>
                    <a:lstStyle/>
                    <a:p>
                      <a:r>
                        <a:rPr sz="1350" b="0">
                          <a:solidFill>
                            <a:srgbClr val="14251D"/>
                          </a:solidFill>
                          <a:latin typeface="Arial"/>
                          <a:ea typeface="Arial"/>
                          <a:cs typeface="Arial"/>
                        </a:rPr>
                        <a:t/>
                      </a:r>
                    </a:p>
                  </a:txBody>
                  <a:tcPr marL="91440" marR="91440" marT="45720" marB="45720">
                    <a:solidFill>
                      <a:srgbClr val="F7FAF5"/>
                    </a:solidFill>
                  </a:tcPr>
                </a:tc>
                <a:tc>
                  <a:txBody>
                    <a:bodyPr/>
                    <a:lstStyle/>
                    <a:p>
                      <a:r>
                        <a:rPr sz="1350" b="0">
                          <a:solidFill>
                            <a:srgbClr val="14251D"/>
                          </a:solidFill>
                          <a:latin typeface="Arial"/>
                          <a:ea typeface="Arial"/>
                          <a:cs typeface="Arial"/>
                        </a:rPr>
                        <a:t/>
                      </a:r>
                    </a:p>
                  </a:txBody>
                  <a:tcPr marL="91440" marR="91440" marT="45720" marB="45720">
                    <a:solidFill>
                      <a:srgbClr val="F7FAF5"/>
                    </a:solidFill>
                  </a:tcPr>
                </a:tc>
                <a:tc>
                  <a:txBody>
                    <a:bodyPr/>
                    <a:lstStyle/>
                    <a:p>
                      <a:r>
                        <a:rPr sz="1350" b="0">
                          <a:solidFill>
                            <a:srgbClr val="14251D"/>
                          </a:solidFill>
                          <a:latin typeface="Arial"/>
                          <a:ea typeface="Arial"/>
                          <a:cs typeface="Arial"/>
                        </a:rPr>
                        <a:t/>
                      </a:r>
                    </a:p>
                  </a:txBody>
                  <a:tcPr marL="91440" marR="91440" marT="45720" marB="45720">
                    <a:solidFill>
                      <a:srgbClr val="F7FAF5"/>
                    </a:solidFill>
                  </a:tcPr>
                </a:tc>
                <a:tc>
                  <a:txBody>
                    <a:bodyPr/>
                    <a:lstStyle/>
                    <a:p>
                      <a:r>
                        <a:rPr sz="1350" b="0">
                          <a:solidFill>
                            <a:srgbClr val="14251D"/>
                          </a:solidFill>
                          <a:latin typeface="Arial"/>
                          <a:ea typeface="Arial"/>
                          <a:cs typeface="Arial"/>
                        </a:rPr>
                        <a:t/>
                      </a:r>
                    </a:p>
                  </a:txBody>
                  <a:tcPr marL="91440" marR="91440" marT="45720" marB="45720">
                    <a:solidFill>
                      <a:srgbClr val="F7FAF5"/>
                    </a:solidFill>
                  </a:tcPr>
                </a:tc>
              </a:tr>
              <a:tr h="381000">
                <a:tc>
                  <a:txBody>
                    <a:bodyPr/>
                    <a:lstStyle/>
                    <a:p>
                      <a:r>
                        <a:rPr sz="1350" b="0">
                          <a:solidFill>
                            <a:srgbClr val="14251D"/>
                          </a:solidFill>
                          <a:latin typeface="Arial"/>
                          <a:ea typeface="Arial"/>
                          <a:cs typeface="Arial"/>
                        </a:rPr>
                        <a:t>5</a:t>
                      </a:r>
                    </a:p>
                  </a:txBody>
                  <a:tcPr marL="91440" marR="91440" marT="45720" marB="45720">
                    <a:solidFill>
                      <a:srgbClr val="F7FAF5"/>
                    </a:solidFill>
                  </a:tcPr>
                </a:tc>
                <a:tc>
                  <a:txBody>
                    <a:bodyPr/>
                    <a:lstStyle/>
                    <a:p>
                      <a:r>
                        <a:rPr sz="1350" b="0">
                          <a:solidFill>
                            <a:srgbClr val="14251D"/>
                          </a:solidFill>
                          <a:latin typeface="Arial"/>
                          <a:ea typeface="Arial"/>
                          <a:cs typeface="Arial"/>
                        </a:rPr>
                        <a:t/>
                      </a:r>
                    </a:p>
                  </a:txBody>
                  <a:tcPr marL="91440" marR="91440" marT="45720" marB="45720">
                    <a:solidFill>
                      <a:srgbClr val="F7FAF5"/>
                    </a:solidFill>
                  </a:tcPr>
                </a:tc>
                <a:tc>
                  <a:txBody>
                    <a:bodyPr/>
                    <a:lstStyle/>
                    <a:p>
                      <a:r>
                        <a:rPr sz="1350" b="0">
                          <a:solidFill>
                            <a:srgbClr val="14251D"/>
                          </a:solidFill>
                          <a:latin typeface="Arial"/>
                          <a:ea typeface="Arial"/>
                          <a:cs typeface="Arial"/>
                        </a:rPr>
                        <a:t/>
                      </a:r>
                    </a:p>
                  </a:txBody>
                  <a:tcPr marL="91440" marR="91440" marT="45720" marB="45720">
                    <a:solidFill>
                      <a:srgbClr val="F7FAF5"/>
                    </a:solidFill>
                  </a:tcPr>
                </a:tc>
                <a:tc>
                  <a:txBody>
                    <a:bodyPr/>
                    <a:lstStyle/>
                    <a:p>
                      <a:r>
                        <a:rPr sz="1350" b="0">
                          <a:solidFill>
                            <a:srgbClr val="14251D"/>
                          </a:solidFill>
                          <a:latin typeface="Arial"/>
                          <a:ea typeface="Arial"/>
                          <a:cs typeface="Arial"/>
                        </a:rPr>
                        <a:t/>
                      </a:r>
                    </a:p>
                  </a:txBody>
                  <a:tcPr marL="91440" marR="91440" marT="45720" marB="45720">
                    <a:solidFill>
                      <a:srgbClr val="F7FAF5"/>
                    </a:solidFill>
                  </a:tcPr>
                </a:tc>
                <a:tc>
                  <a:txBody>
                    <a:bodyPr/>
                    <a:lstStyle/>
                    <a:p>
                      <a:r>
                        <a:rPr sz="1350" b="0">
                          <a:solidFill>
                            <a:srgbClr val="14251D"/>
                          </a:solidFill>
                          <a:latin typeface="Arial"/>
                          <a:ea typeface="Arial"/>
                          <a:cs typeface="Arial"/>
                        </a:rPr>
                        <a:t/>
                      </a:r>
                    </a:p>
                  </a:txBody>
                  <a:tcPr marL="91440" marR="91440" marT="45720" marB="45720">
                    <a:solidFill>
                      <a:srgbClr val="F7FAF5"/>
                    </a:solidFill>
                  </a:tcPr>
                </a:tc>
                <a:tc>
                  <a:txBody>
                    <a:bodyPr/>
                    <a:lstStyle/>
                    <a:p>
                      <a:r>
                        <a:rPr sz="1350" b="0">
                          <a:solidFill>
                            <a:srgbClr val="14251D"/>
                          </a:solidFill>
                          <a:latin typeface="Arial"/>
                          <a:ea typeface="Arial"/>
                          <a:cs typeface="Arial"/>
                        </a:rPr>
                        <a:t/>
                      </a:r>
                    </a:p>
                  </a:txBody>
                  <a:tcPr marL="91440" marR="91440" marT="45720" marB="45720">
                    <a:solidFill>
                      <a:srgbClr val="F7FAF5"/>
                    </a:solidFill>
                  </a:tcPr>
                </a:tc>
                <a:tc>
                  <a:txBody>
                    <a:bodyPr/>
                    <a:lstStyle/>
                    <a:p>
                      <a:r>
                        <a:rPr sz="1350" b="0">
                          <a:solidFill>
                            <a:srgbClr val="14251D"/>
                          </a:solidFill>
                          <a:latin typeface="Arial"/>
                          <a:ea typeface="Arial"/>
                          <a:cs typeface="Arial"/>
                        </a:rPr>
                        <a:t/>
                      </a:r>
                    </a:p>
                  </a:txBody>
                  <a:tcPr marL="91440" marR="91440" marT="45720" marB="45720">
                    <a:solidFill>
                      <a:srgbClr val="F7FAF5"/>
                    </a:solidFill>
                  </a:tcPr>
                </a:tc>
                <a:tc>
                  <a:txBody>
                    <a:bodyPr/>
                    <a:lstStyle/>
                    <a:p>
                      <a:r>
                        <a:rPr sz="1350" b="0">
                          <a:solidFill>
                            <a:srgbClr val="14251D"/>
                          </a:solidFill>
                          <a:latin typeface="Arial"/>
                          <a:ea typeface="Arial"/>
                          <a:cs typeface="Arial"/>
                        </a:rPr>
                        <a:t/>
                      </a:r>
                    </a:p>
                  </a:txBody>
                  <a:tcPr marL="91440" marR="91440" marT="45720" marB="45720">
                    <a:solidFill>
                      <a:srgbClr val="F7FAF5"/>
                    </a:solidFill>
                  </a:tcPr>
                </a:tc>
              </a:tr>
            </a:tbl>
          </a:graphicData>
        </a:graphic>
      </p:graphicFrame>
      <p:sp>
        <p:nvSpPr>
          <p:cNvPr id="7" name="text-100">
            <a:extLst xmlns:a="http://schemas.openxmlformats.org/drawingml/2006/main">
              <a:ext uri="{FF2B5EF4-FFF2-40B4-BE49-F238E27FC236}">
                <a16:creationId xmlns:a16="http://schemas.microsoft.com/office/drawing/2014/main" id="{B14038D4-0E29-4DE9-94BA-930FB28A1F6A}"/>
              </a:ext>
            </a:extLst>
          </p:cNvPr>
          <p:cNvSpPr>
            <a:spLocks xmlns:a="http://schemas.openxmlformats.org/drawingml/2006/main" noGrp="1"/>
          </p:cNvSpPr>
          <p:nvPr/>
        </p:nvSpPr>
        <p:spPr>
          <a:xfrm xmlns:a="http://schemas.openxmlformats.org/drawingml/2006/main">
            <a:off x="533400" y="4991100"/>
            <a:ext cx="11125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14251D"/>
                </a:solidFill>
                <a:latin typeface="Arial"/>
                <a:ea typeface="Arial"/>
                <a:cs typeface="Arial"/>
              </a:defRPr>
            </a:pPr>
            <a:r>
              <a:rPr sz="2025" b="1">
                <a:solidFill>
                  <a:srgbClr val="14251D"/>
                </a:solidFill>
                <a:latin typeface="Arial"/>
                <a:ea typeface="Arial"/>
                <a:cs typeface="Arial"/>
              </a:rPr>
              <a:t>Mentor</a:t>
            </a:r>
          </a:p>
        </p:txBody>
      </p:sp>
      <p:graphicFrame>
        <p:nvGraphicFramePr>
          <p:cNvPr id="16" name=""/>
          <p:cNvGraphicFramePr/>
          <p:nvPr/>
        </p:nvGraphicFramePr>
        <p:xfrm>
          <a:off xmlns:a="http://schemas.openxmlformats.org/drawingml/2006/main" x="533400" y="5476875"/>
          <a:ext xmlns:a="http://schemas.openxmlformats.org/drawingml/2006/main" cx="11125200" cy="819150"/>
        </p:xfrm>
        <a:graphic xmlns:a="http://schemas.openxmlformats.org/drawingml/2006/main">
          <a:graphicData uri="http://schemas.openxmlformats.org/drawingml/2006/table">
            <a:tbl>
              <a:tblPr/>
              <a:tblGrid>
                <a:gridCol w="466725"/>
                <a:gridCol w="1619250"/>
                <a:gridCol w="1066800"/>
                <a:gridCol w="1847850"/>
                <a:gridCol w="1047750"/>
                <a:gridCol w="1914525"/>
                <a:gridCol w="1905000"/>
                <a:gridCol w="1257300"/>
              </a:tblGrid>
              <a:tr h="409575">
                <a:tc>
                  <a:txBody>
                    <a:bodyPr/>
                    <a:lstStyle/>
                    <a:p>
                      <a:r>
                        <a:rPr sz="1350" b="1">
                          <a:solidFill>
                            <a:srgbClr val="F7FAF5"/>
                          </a:solidFill>
                          <a:latin typeface="Arial"/>
                          <a:ea typeface="Arial"/>
                          <a:cs typeface="Arial"/>
                        </a:rPr>
                        <a:t>SL</a:t>
                      </a:r>
                    </a:p>
                  </a:txBody>
                  <a:tcPr marL="91440" marR="91440" marT="45720" marB="45720">
                    <a:solidFill>
                      <a:srgbClr val="14251D"/>
                    </a:solidFill>
                  </a:tcPr>
                </a:tc>
                <a:tc>
                  <a:txBody>
                    <a:bodyPr/>
                    <a:lstStyle/>
                    <a:p>
                      <a:r>
                        <a:rPr sz="1350" b="1">
                          <a:solidFill>
                            <a:srgbClr val="F7FAF5"/>
                          </a:solidFill>
                          <a:latin typeface="Arial"/>
                          <a:ea typeface="Arial"/>
                          <a:cs typeface="Arial"/>
                        </a:rPr>
                        <a:t>Name</a:t>
                      </a:r>
                    </a:p>
                  </a:txBody>
                  <a:tcPr marL="91440" marR="91440" marT="45720" marB="45720">
                    <a:solidFill>
                      <a:srgbClr val="14251D"/>
                    </a:solidFill>
                  </a:tcPr>
                </a:tc>
                <a:tc>
                  <a:txBody>
                    <a:bodyPr/>
                    <a:lstStyle/>
                    <a:p>
                      <a:r>
                        <a:rPr sz="1350" b="1">
                          <a:solidFill>
                            <a:srgbClr val="F7FAF5"/>
                          </a:solidFill>
                          <a:latin typeface="Arial"/>
                          <a:ea typeface="Arial"/>
                          <a:cs typeface="Arial"/>
                        </a:rPr>
                        <a:t>UID</a:t>
                      </a:r>
                    </a:p>
                  </a:txBody>
                  <a:tcPr marL="91440" marR="91440" marT="45720" marB="45720">
                    <a:solidFill>
                      <a:srgbClr val="14251D"/>
                    </a:solidFill>
                  </a:tcPr>
                </a:tc>
                <a:tc>
                  <a:txBody>
                    <a:bodyPr/>
                    <a:lstStyle/>
                    <a:p>
                      <a:r>
                        <a:rPr sz="1350" b="1">
                          <a:solidFill>
                            <a:srgbClr val="F7FAF5"/>
                          </a:solidFill>
                          <a:latin typeface="Arial"/>
                          <a:ea typeface="Arial"/>
                          <a:cs typeface="Arial"/>
                        </a:rPr>
                        <a:t>Address</a:t>
                      </a:r>
                    </a:p>
                  </a:txBody>
                  <a:tcPr marL="91440" marR="91440" marT="45720" marB="45720">
                    <a:solidFill>
                      <a:srgbClr val="14251D"/>
                    </a:solidFill>
                  </a:tcPr>
                </a:tc>
                <a:tc>
                  <a:txBody>
                    <a:bodyPr/>
                    <a:lstStyle/>
                    <a:p>
                      <a:r>
                        <a:rPr sz="1350" b="1">
                          <a:solidFill>
                            <a:srgbClr val="F7FAF5"/>
                          </a:solidFill>
                          <a:latin typeface="Arial"/>
                          <a:ea typeface="Arial"/>
                          <a:cs typeface="Arial"/>
                        </a:rPr>
                        <a:t>DOB</a:t>
                      </a:r>
                    </a:p>
                  </a:txBody>
                  <a:tcPr marL="91440" marR="91440" marT="45720" marB="45720">
                    <a:solidFill>
                      <a:srgbClr val="14251D"/>
                    </a:solidFill>
                  </a:tcPr>
                </a:tc>
                <a:tc>
                  <a:txBody>
                    <a:bodyPr/>
                    <a:lstStyle/>
                    <a:p>
                      <a:r>
                        <a:rPr sz="1350" b="1">
                          <a:solidFill>
                            <a:srgbClr val="F7FAF5"/>
                          </a:solidFill>
                          <a:latin typeface="Arial"/>
                          <a:ea typeface="Arial"/>
                          <a:cs typeface="Arial"/>
                        </a:rPr>
                        <a:t>Email</a:t>
                      </a:r>
                    </a:p>
                  </a:txBody>
                  <a:tcPr marL="91440" marR="91440" marT="45720" marB="45720">
                    <a:solidFill>
                      <a:srgbClr val="14251D"/>
                    </a:solidFill>
                  </a:tcPr>
                </a:tc>
                <a:tc>
                  <a:txBody>
                    <a:bodyPr/>
                    <a:lstStyle/>
                    <a:p>
                      <a:r>
                        <a:rPr sz="1350" b="1">
                          <a:solidFill>
                            <a:srgbClr val="F7FAF5"/>
                          </a:solidFill>
                          <a:latin typeface="Arial"/>
                          <a:ea typeface="Arial"/>
                          <a:cs typeface="Arial"/>
                        </a:rPr>
                        <a:t>Phone Number</a:t>
                      </a:r>
                    </a:p>
                  </a:txBody>
                  <a:tcPr marL="91440" marR="91440" marT="45720" marB="45720">
                    <a:solidFill>
                      <a:srgbClr val="14251D"/>
                    </a:solidFill>
                  </a:tcPr>
                </a:tc>
                <a:tc>
                  <a:txBody>
                    <a:bodyPr/>
                    <a:lstStyle/>
                    <a:p>
                      <a:r>
                        <a:rPr sz="1350" b="1">
                          <a:solidFill>
                            <a:srgbClr val="F7FAF5"/>
                          </a:solidFill>
                          <a:latin typeface="Arial"/>
                          <a:ea typeface="Arial"/>
                          <a:cs typeface="Arial"/>
                        </a:rPr>
                        <a:t>Gender</a:t>
                      </a:r>
                    </a:p>
                  </a:txBody>
                  <a:tcPr marL="91440" marR="91440" marT="45720" marB="45720">
                    <a:solidFill>
                      <a:srgbClr val="14251D"/>
                    </a:solidFill>
                  </a:tcPr>
                </a:tc>
              </a:tr>
              <a:tr h="409575">
                <a:tc>
                  <a:txBody>
                    <a:bodyPr/>
                    <a:lstStyle/>
                    <a:p>
                      <a:r>
                        <a:rPr sz="1350" b="0">
                          <a:solidFill>
                            <a:srgbClr val="14251D"/>
                          </a:solidFill>
                          <a:latin typeface="Arial"/>
                          <a:ea typeface="Arial"/>
                          <a:cs typeface="Arial"/>
                        </a:rPr>
                        <a:t>1</a:t>
                      </a:r>
                    </a:p>
                  </a:txBody>
                  <a:tcPr marL="91440" marR="91440" marT="45720" marB="45720">
                    <a:solidFill>
                      <a:srgbClr val="F7FAF5"/>
                    </a:solidFill>
                  </a:tcPr>
                </a:tc>
                <a:tc>
                  <a:txBody>
                    <a:bodyPr/>
                    <a:lstStyle/>
                    <a:p>
                      <a:r>
                        <a:rPr sz="1350" b="0">
                          <a:solidFill>
                            <a:srgbClr val="14251D"/>
                          </a:solidFill>
                          <a:latin typeface="Arial"/>
                          <a:ea typeface="Arial"/>
                          <a:cs typeface="Arial"/>
                        </a:rPr>
                        <a:t/>
                      </a:r>
                    </a:p>
                  </a:txBody>
                  <a:tcPr marL="91440" marR="91440" marT="45720" marB="45720">
                    <a:solidFill>
                      <a:srgbClr val="F7FAF5"/>
                    </a:solidFill>
                  </a:tcPr>
                </a:tc>
                <a:tc>
                  <a:txBody>
                    <a:bodyPr/>
                    <a:lstStyle/>
                    <a:p>
                      <a:r>
                        <a:rPr sz="1350" b="0">
                          <a:solidFill>
                            <a:srgbClr val="14251D"/>
                          </a:solidFill>
                          <a:latin typeface="Arial"/>
                          <a:ea typeface="Arial"/>
                          <a:cs typeface="Arial"/>
                        </a:rPr>
                        <a:t/>
                      </a:r>
                    </a:p>
                  </a:txBody>
                  <a:tcPr marL="91440" marR="91440" marT="45720" marB="45720">
                    <a:solidFill>
                      <a:srgbClr val="F7FAF5"/>
                    </a:solidFill>
                  </a:tcPr>
                </a:tc>
                <a:tc>
                  <a:txBody>
                    <a:bodyPr/>
                    <a:lstStyle/>
                    <a:p>
                      <a:r>
                        <a:rPr sz="1350" b="0">
                          <a:solidFill>
                            <a:srgbClr val="14251D"/>
                          </a:solidFill>
                          <a:latin typeface="Arial"/>
                          <a:ea typeface="Arial"/>
                          <a:cs typeface="Arial"/>
                        </a:rPr>
                        <a:t/>
                      </a:r>
                    </a:p>
                  </a:txBody>
                  <a:tcPr marL="91440" marR="91440" marT="45720" marB="45720">
                    <a:solidFill>
                      <a:srgbClr val="F7FAF5"/>
                    </a:solidFill>
                  </a:tcPr>
                </a:tc>
                <a:tc>
                  <a:txBody>
                    <a:bodyPr/>
                    <a:lstStyle/>
                    <a:p>
                      <a:r>
                        <a:rPr sz="1350" b="0">
                          <a:solidFill>
                            <a:srgbClr val="14251D"/>
                          </a:solidFill>
                          <a:latin typeface="Arial"/>
                          <a:ea typeface="Arial"/>
                          <a:cs typeface="Arial"/>
                        </a:rPr>
                        <a:t/>
                      </a:r>
                    </a:p>
                  </a:txBody>
                  <a:tcPr marL="91440" marR="91440" marT="45720" marB="45720">
                    <a:solidFill>
                      <a:srgbClr val="F7FAF5"/>
                    </a:solidFill>
                  </a:tcPr>
                </a:tc>
                <a:tc>
                  <a:txBody>
                    <a:bodyPr/>
                    <a:lstStyle/>
                    <a:p>
                      <a:r>
                        <a:rPr sz="1350" b="0">
                          <a:solidFill>
                            <a:srgbClr val="14251D"/>
                          </a:solidFill>
                          <a:latin typeface="Arial"/>
                          <a:ea typeface="Arial"/>
                          <a:cs typeface="Arial"/>
                        </a:rPr>
                        <a:t/>
                      </a:r>
                    </a:p>
                  </a:txBody>
                  <a:tcPr marL="91440" marR="91440" marT="45720" marB="45720">
                    <a:solidFill>
                      <a:srgbClr val="F7FAF5"/>
                    </a:solidFill>
                  </a:tcPr>
                </a:tc>
                <a:tc>
                  <a:txBody>
                    <a:bodyPr/>
                    <a:lstStyle/>
                    <a:p>
                      <a:r>
                        <a:rPr sz="1350" b="0">
                          <a:solidFill>
                            <a:srgbClr val="14251D"/>
                          </a:solidFill>
                          <a:latin typeface="Arial"/>
                          <a:ea typeface="Arial"/>
                          <a:cs typeface="Arial"/>
                        </a:rPr>
                        <a:t/>
                      </a:r>
                    </a:p>
                  </a:txBody>
                  <a:tcPr marL="91440" marR="91440" marT="45720" marB="45720">
                    <a:solidFill>
                      <a:srgbClr val="F7FAF5"/>
                    </a:solidFill>
                  </a:tcPr>
                </a:tc>
                <a:tc>
                  <a:txBody>
                    <a:bodyPr/>
                    <a:lstStyle/>
                    <a:p>
                      <a:r>
                        <a:rPr sz="1350" b="0">
                          <a:solidFill>
                            <a:srgbClr val="14251D"/>
                          </a:solidFill>
                          <a:latin typeface="Arial"/>
                          <a:ea typeface="Arial"/>
                          <a:cs typeface="Arial"/>
                        </a:rPr>
                        <a:t/>
                      </a:r>
                    </a:p>
                  </a:txBody>
                  <a:tcPr marL="91440" marR="91440" marT="45720" marB="45720">
                    <a:solidFill>
                      <a:srgbClr val="F7FAF5"/>
                    </a:solidFill>
                  </a:tcPr>
                </a:tc>
              </a:tr>
            </a:tbl>
          </a:graphicData>
        </a:graphic>
      </p:graphicFrame>
    </p:spTree>
    <p:extLst>
      <p:ext uri="{BB962C8B-B14F-4D97-AF65-F5344CB8AC3E}">
        <p14:creationId xmlns:p14="http://schemas.microsoft.com/office/powerpoint/2010/main" val="107743701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2026-09-20T21:06:39.9720000Z</dcterms:created>
  <dcterms:modified xsi:type="dcterms:W3CDTF">2026-09-20T21:06:39.9720000Z</dcterms:modified>
</coreProperties>
</file>