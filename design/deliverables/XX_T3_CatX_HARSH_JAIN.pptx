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73fb87e669446e" /><Relationship Type="http://schemas.openxmlformats.org/officeDocument/2006/relationships/extended-properties" Target="/docProps/app.xml" Id="Rd374358dd6e14bfa" /><Relationship Type="http://schemas.openxmlformats.org/officeDocument/2006/relationships/officeDocument" Target="/ppt/presentation.xml" Id="Ra05b84dcbf6e43bd" /></Relationships>
</file>

<file path=ppt/presentation.xml><?xml version="1.0" encoding="utf-8"?>
<p:presentation xmlns:p="http://schemas.openxmlformats.org/presentationml/2006/main">
  <p:sldMasterIdLst>
    <p:sldMasterId xmlns:r="http://schemas.openxmlformats.org/officeDocument/2006/relationships" id="2147483648" r:id="R6dd3eafe17ce4212"/>
  </p:sldMasterIdLst>
  <p:notesMasterIdLst>
    <p:notesMasterId xmlns:r="http://schemas.openxmlformats.org/officeDocument/2006/relationships" r:id="R75e865d2dcab4b8b"/>
  </p:notesMasterIdLst>
  <p:sldIdLst>
    <p:sldId xmlns:r="http://schemas.openxmlformats.org/officeDocument/2006/relationships" id="256" r:id="R5de38dbe71464681"/>
    <p:sldId xmlns:r="http://schemas.openxmlformats.org/officeDocument/2006/relationships" id="257" r:id="Re86db1bb38454e87"/>
    <p:sldId xmlns:r="http://schemas.openxmlformats.org/officeDocument/2006/relationships" id="258" r:id="R5176340f3c3e4794"/>
    <p:sldId xmlns:r="http://schemas.openxmlformats.org/officeDocument/2006/relationships" id="259" r:id="R2e2a2975a89e474a"/>
    <p:sldId xmlns:r="http://schemas.openxmlformats.org/officeDocument/2006/relationships" id="260" r:id="R42628007c1d74f0d"/>
    <p:sldId xmlns:r="http://schemas.openxmlformats.org/officeDocument/2006/relationships" id="261" r:id="R2523c8927f6b4f22"/>
    <p:sldId xmlns:r="http://schemas.openxmlformats.org/officeDocument/2006/relationships" id="262" r:id="R616a549f4b3145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6a0c3c2bc04c2d" /><Relationship Type="http://schemas.openxmlformats.org/officeDocument/2006/relationships/slideMaster" Target="/ppt/slideMasters/slideMaster1.xml" Id="R6dd3eafe17ce4212" /><Relationship Type="http://schemas.openxmlformats.org/officeDocument/2006/relationships/notesMaster" Target="/ppt/notesMasters/notesMaster1.xml" Id="R75e865d2dcab4b8b" /><Relationship Type="http://schemas.openxmlformats.org/officeDocument/2006/relationships/presProps" Target="/ppt/presProps.xml" Id="R85b925f5070e4b25" /><Relationship Type="http://schemas.openxmlformats.org/officeDocument/2006/relationships/tableStyles" Target="/ppt/tableStyles.xml" Id="R4bcfbf00e5d74cde" /><Relationship Type="http://schemas.openxmlformats.org/officeDocument/2006/relationships/slide" Target="/ppt/slides/slide1.xml" Id="R5de38dbe71464681" /><Relationship Type="http://schemas.openxmlformats.org/officeDocument/2006/relationships/slide" Target="/ppt/slides/slide2.xml" Id="Re86db1bb38454e87" /><Relationship Type="http://schemas.openxmlformats.org/officeDocument/2006/relationships/slide" Target="/ppt/slides/slide3.xml" Id="R5176340f3c3e4794" /><Relationship Type="http://schemas.openxmlformats.org/officeDocument/2006/relationships/slide" Target="/ppt/slides/slide4.xml" Id="R2e2a2975a89e474a" /><Relationship Type="http://schemas.openxmlformats.org/officeDocument/2006/relationships/slide" Target="/ppt/slides/slide5.xml" Id="R42628007c1d74f0d" /><Relationship Type="http://schemas.openxmlformats.org/officeDocument/2006/relationships/slide" Target="/ppt/slides/slide6.xml" Id="R2523c8927f6b4f22" /><Relationship Type="http://schemas.openxmlformats.org/officeDocument/2006/relationships/slide" Target="/ppt/slides/slide7.xml" Id="R616a549f4b3145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5419cdd43445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3dea33b72649a2" /><Relationship Type="http://schemas.openxmlformats.org/officeDocument/2006/relationships/notesMaster" Target="/ppt/notesMasters/notesMaster1.xml" Id="R3c743228811049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bb16341c3c4639" /><Relationship Type="http://schemas.openxmlformats.org/officeDocument/2006/relationships/notesMaster" Target="/ppt/notesMasters/notesMaster1.xml" Id="R6274ce71d2954e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d76ec901a84073" /><Relationship Type="http://schemas.openxmlformats.org/officeDocument/2006/relationships/notesMaster" Target="/ppt/notesMasters/notesMaster1.xml" Id="R8dfb24e6dd814d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506179478d46e8" /><Relationship Type="http://schemas.openxmlformats.org/officeDocument/2006/relationships/notesMaster" Target="/ppt/notesMasters/notesMaster1.xml" Id="R4f30f8e9453347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fce049d53748fb" /><Relationship Type="http://schemas.openxmlformats.org/officeDocument/2006/relationships/notesMaster" Target="/ppt/notesMasters/notesMaster1.xml" Id="R313ee0c0f6334b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933b7c94d04ec0" /><Relationship Type="http://schemas.openxmlformats.org/officeDocument/2006/relationships/notesMaster" Target="/ppt/notesMasters/notesMaster1.xml" Id="R0dd722d051284c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52eecb5b6342be" /><Relationship Type="http://schemas.openxmlformats.org/officeDocument/2006/relationships/notesMaster" Target="/ppt/notesMasters/notesMaster1.xml" Id="Rf09abc2787f542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Theme T3 selected for AI for Good. School code and submission category are unverified and intentionally omitted. Team name comes from the project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Problem framing is a design hypothesis to validate with campus staff. No interviews, incident rates or response-time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All three connected surfaces are proposed. Generated device screens are illustrative concepts, not a working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Illustrative staged sequence. Signals indicate review priority, not intent or a probability of violence. Proposed approach uses pose estimation plus transparent temporal rules. Model selection and accuracy remain untested.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Safeguards are design commitments to implement and test, not claims of deployed controls or legal compliance. Human decisions precede operational dispatch.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Proposed demonstration only. A candidate stack could use a browser camera, existing pose model, temporal rules and event notifications. There is no working end-to-end prototype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NIVRA_COMPLETE_CONTEXT_FOR_HARSH_JAIN.md, project definition only. User clarified on 21 September 2026 that NIVRA is currently an idea; this supersedes older prototype claims. Pitch structure informed by supplied HACKATON 3.0.pptx. Generated scenes are conceptual illustrations, not product screenshots or evidence of real incidents. Expected impact is an untested goal. No percentage improvement, prevention guarantee or real pilot is claimed. Any future trial requires school permission, participant notice and privacy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e4c29ca37d41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5bdd49f1ba4215" /><Relationship Type="http://schemas.openxmlformats.org/officeDocument/2006/relationships/slideLayout" Target="/ppt/slideLayouts/slideLayout1.xml" Id="R671331a1242f41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1331a1242f41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444640d5184cd5" /><Relationship Type="http://schemas.openxmlformats.org/officeDocument/2006/relationships/image" Target="/ppt/media/image.png" Id="Rdedf2913b8394609" /><Relationship Type="http://schemas.openxmlformats.org/officeDocument/2006/relationships/image" Target="/ppt/media/image2.png" Id="R3d24f420f72f4df5" /><Relationship Type="http://schemas.openxmlformats.org/officeDocument/2006/relationships/notesSlide" Target="/ppt/notesSlides/notesSlide1.xml" Id="R3ca1e56135f540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b78466be834cec" /><Relationship Type="http://schemas.openxmlformats.org/officeDocument/2006/relationships/image" Target="/ppt/media/image3.png" Id="Rfec094c221ac4b6b" /><Relationship Type="http://schemas.openxmlformats.org/officeDocument/2006/relationships/notesSlide" Target="/ppt/notesSlides/notesSlide2.xml" Id="R16b6e5e2dcf74d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62c27c48534367" /><Relationship Type="http://schemas.openxmlformats.org/officeDocument/2006/relationships/image" Target="/ppt/media/image4.png" Id="Ra214e630e9e0429b" /><Relationship Type="http://schemas.openxmlformats.org/officeDocument/2006/relationships/notesSlide" Target="/ppt/notesSlides/notesSlide3.xml" Id="Rb1eab668908148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859f7bfa2e4682" /><Relationship Type="http://schemas.openxmlformats.org/officeDocument/2006/relationships/image" Target="/ppt/media/image5.png" Id="R510bbb45e61b4810" /><Relationship Type="http://schemas.openxmlformats.org/officeDocument/2006/relationships/notesSlide" Target="/ppt/notesSlides/notesSlide4.xml" Id="R813a3810e23b43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24cabfbaf44a93" /><Relationship Type="http://schemas.openxmlformats.org/officeDocument/2006/relationships/notesSlide" Target="/ppt/notesSlides/notesSlide5.xml" Id="R7ec2a7f61d5644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6dd50c8f144165" /><Relationship Type="http://schemas.openxmlformats.org/officeDocument/2006/relationships/notesSlide" Target="/ppt/notesSlides/notesSlide6.xml" Id="R7266cfffc4c246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9d41f3626e4449" /><Relationship Type="http://schemas.openxmlformats.org/officeDocument/2006/relationships/notesSlide" Target="/ppt/notesSlides/notesSlide7.xml" Id="R274779f5af384a46" /></Relationships>
</file>

<file path=ppt/slides/slide1.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edf2913b8394609"/>
          <a:srcRect xmlns:a="http://schemas.openxmlformats.org/drawingml/2006/main" l="4167" t="0" r="4167" b="0"/>
          <a:stretch xmlns:a="http://schemas.openxmlformats.org/drawingml/2006/main">
            <a:fillRect l="0" t="0" r="0" b="0"/>
          </a:stretch>
        </p:blipFill>
        <p:spPr>
          <a:xfrm xmlns:a="http://schemas.openxmlformats.org/drawingml/2006/main">
            <a:off x="7477125" y="0"/>
            <a:ext cx="4714875"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d24f420f72f4df5"/>
          <a:stretch xmlns:a="http://schemas.openxmlformats.org/drawingml/2006/main"/>
        </p:blipFill>
        <p:spPr>
          <a:xfrm xmlns:a="http://schemas.openxmlformats.org/drawingml/2006/main">
            <a:off x="438150" y="552450"/>
            <a:ext cx="933450" cy="93345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93C3F294-B4CB-4AF1-92B8-869DCBFEDDB5}"/>
              </a:ext>
            </a:extLst>
          </p:cNvPr>
          <p:cNvSpPr>
            <a:spLocks xmlns:a="http://schemas.openxmlformats.org/drawingml/2006/main" noGrp="1"/>
          </p:cNvSpPr>
          <p:nvPr/>
        </p:nvSpPr>
        <p:spPr>
          <a:xfrm xmlns:a="http://schemas.openxmlformats.org/drawingml/2006/main">
            <a:off x="1381125" y="685800"/>
            <a:ext cx="5334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000" b="1">
                <a:solidFill>
                  <a:srgbClr val="14251D"/>
                </a:solidFill>
                <a:latin typeface="Arial"/>
                <a:ea typeface="Arial"/>
                <a:cs typeface="Arial"/>
              </a:defRPr>
            </a:pPr>
            <a:r>
              <a:rPr sz="6000" b="1">
                <a:solidFill>
                  <a:srgbClr val="14251D"/>
                </a:solidFill>
                <a:latin typeface="Arial"/>
                <a:ea typeface="Arial"/>
                <a:cs typeface="Arial"/>
              </a:rPr>
              <a:t>NIVRA</a:t>
            </a:r>
          </a:p>
        </p:txBody>
      </p:sp>
      <p:sp>
        <p:nvSpPr>
          <p:cNvPr id="4" name="text-2">
            <a:extLst xmlns:a="http://schemas.openxmlformats.org/drawingml/2006/main">
              <a:ext uri="{FF2B5EF4-FFF2-40B4-BE49-F238E27FC236}">
                <a16:creationId xmlns:a16="http://schemas.microsoft.com/office/drawing/2014/main" id="{ED6B93B9-87AE-48C9-9C8E-5F29219106E7}"/>
              </a:ext>
            </a:extLst>
          </p:cNvPr>
          <p:cNvSpPr>
            <a:spLocks xmlns:a="http://schemas.openxmlformats.org/drawingml/2006/main" noGrp="1"/>
          </p:cNvSpPr>
          <p:nvPr/>
        </p:nvSpPr>
        <p:spPr>
          <a:xfrm xmlns:a="http://schemas.openxmlformats.org/drawingml/2006/main">
            <a:off x="533400" y="2114550"/>
            <a:ext cx="6477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750" b="1">
                <a:solidFill>
                  <a:srgbClr val="14251D"/>
                </a:solidFill>
                <a:latin typeface="Arial"/>
                <a:ea typeface="Arial"/>
                <a:cs typeface="Arial"/>
              </a:defRPr>
            </a:pPr>
            <a:r>
              <a:rPr sz="6750" b="1">
                <a:solidFill>
                  <a:srgbClr val="14251D"/>
                </a:solidFill>
                <a:latin typeface="Arial"/>
                <a:ea typeface="Arial"/>
                <a:cs typeface="Arial"/>
              </a:rPr>
              <a:t>Before</a:t>
            </a:r>
          </a:p>
          <a:p xmlns:a="http://schemas.openxmlformats.org/drawingml/2006/main">
            <a:pPr>
              <a:defRPr sz="6750" b="1">
                <a:solidFill>
                  <a:srgbClr val="14251D"/>
                </a:solidFill>
                <a:latin typeface="Arial"/>
                <a:ea typeface="Arial"/>
                <a:cs typeface="Arial"/>
              </a:defRPr>
            </a:pPr>
            <a:r>
              <a:rPr sz="6750" b="1">
                <a:solidFill>
                  <a:srgbClr val="14251D"/>
                </a:solidFill>
                <a:latin typeface="Arial"/>
                <a:ea typeface="Arial"/>
                <a:cs typeface="Arial"/>
              </a:rPr>
              <a:t>impact.</a:t>
            </a:r>
          </a:p>
        </p:txBody>
      </p:sp>
      <p:sp>
        <p:nvSpPr>
          <p:cNvPr id="5" name="text-3">
            <a:extLst xmlns:a="http://schemas.openxmlformats.org/drawingml/2006/main">
              <a:ext uri="{FF2B5EF4-FFF2-40B4-BE49-F238E27FC236}">
                <a16:creationId xmlns:a16="http://schemas.microsoft.com/office/drawing/2014/main" id="{D8DA96DE-AC88-400C-B02F-8518AFF8BEB7}"/>
              </a:ext>
            </a:extLst>
          </p:cNvPr>
          <p:cNvSpPr>
            <a:spLocks xmlns:a="http://schemas.openxmlformats.org/drawingml/2006/main" noGrp="1"/>
          </p:cNvSpPr>
          <p:nvPr/>
        </p:nvSpPr>
        <p:spPr>
          <a:xfrm xmlns:a="http://schemas.openxmlformats.org/drawingml/2006/main">
            <a:off x="571500" y="438150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4251D"/>
                </a:solidFill>
                <a:latin typeface="Arial"/>
                <a:ea typeface="Arial"/>
                <a:cs typeface="Arial"/>
              </a:defRPr>
            </a:pPr>
            <a:r>
              <a:rPr sz="2250" b="0">
                <a:solidFill>
                  <a:srgbClr val="14251D"/>
                </a:solidFill>
                <a:latin typeface="Arial"/>
                <a:ea typeface="Arial"/>
                <a:cs typeface="Arial"/>
              </a:rPr>
              <a:t>AI-assisted early intervention</a:t>
            </a:r>
          </a:p>
          <a:p xmlns:a="http://schemas.openxmlformats.org/drawingml/2006/main">
            <a:pPr>
              <a:defRPr sz="2250" b="0">
                <a:solidFill>
                  <a:srgbClr val="14251D"/>
                </a:solidFill>
                <a:latin typeface="Arial"/>
                <a:ea typeface="Arial"/>
                <a:cs typeface="Arial"/>
              </a:defRPr>
            </a:pPr>
            <a:r>
              <a:rPr sz="2250" b="0">
                <a:solidFill>
                  <a:srgbClr val="14251D"/>
                </a:solidFill>
                <a:latin typeface="Arial"/>
                <a:ea typeface="Arial"/>
                <a:cs typeface="Arial"/>
              </a:rPr>
              <a:t>for safer public spaces</a:t>
            </a:r>
          </a:p>
        </p:txBody>
      </p:sp>
      <p:sp>
        <p:nvSpPr>
          <p:cNvPr id="6" name="text-4">
            <a:extLst xmlns:a="http://schemas.openxmlformats.org/drawingml/2006/main">
              <a:ext uri="{FF2B5EF4-FFF2-40B4-BE49-F238E27FC236}">
                <a16:creationId xmlns:a16="http://schemas.microsoft.com/office/drawing/2014/main" id="{8F34D3E0-02E4-416F-96A7-B2DEC056D97B}"/>
              </a:ext>
            </a:extLst>
          </p:cNvPr>
          <p:cNvSpPr>
            <a:spLocks xmlns:a="http://schemas.openxmlformats.org/drawingml/2006/main" noGrp="1"/>
          </p:cNvSpPr>
          <p:nvPr/>
        </p:nvSpPr>
        <p:spPr>
          <a:xfrm xmlns:a="http://schemas.openxmlformats.org/drawingml/2006/main">
            <a:off x="571500" y="5743575"/>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Team Damage Control</a:t>
            </a:r>
          </a:p>
        </p:txBody>
      </p:sp>
      <p:sp>
        <p:nvSpPr>
          <p:cNvPr id="7" name="text-5">
            <a:extLst xmlns:a="http://schemas.openxmlformats.org/drawingml/2006/main">
              <a:ext uri="{FF2B5EF4-FFF2-40B4-BE49-F238E27FC236}">
                <a16:creationId xmlns:a16="http://schemas.microsoft.com/office/drawing/2014/main" id="{83BA38FA-1B84-491F-979E-6E2EAC366123}"/>
              </a:ext>
            </a:extLst>
          </p:cNvPr>
          <p:cNvSpPr>
            <a:spLocks xmlns:a="http://schemas.openxmlformats.org/drawingml/2006/main" noGrp="1"/>
          </p:cNvSpPr>
          <p:nvPr/>
        </p:nvSpPr>
        <p:spPr>
          <a:xfrm xmlns:a="http://schemas.openxmlformats.org/drawingml/2006/main">
            <a:off x="571500" y="6124575"/>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06056"/>
                </a:solidFill>
                <a:latin typeface="Arial"/>
                <a:ea typeface="Arial"/>
                <a:cs typeface="Arial"/>
              </a:defRPr>
            </a:pPr>
            <a:r>
              <a:rPr sz="1350" b="0">
                <a:solidFill>
                  <a:srgbClr val="506056"/>
                </a:solidFill>
                <a:latin typeface="Arial"/>
                <a:ea typeface="Arial"/>
                <a:cs typeface="Arial"/>
              </a:rPr>
              <a:t>T3 · AI for Good     /     Idea proposal</a:t>
            </a:r>
          </a:p>
        </p:txBody>
      </p:sp>
    </p:spTree>
    <p:extLst>
      <p:ext uri="{BB962C8B-B14F-4D97-AF65-F5344CB8AC3E}">
        <p14:creationId xmlns:p14="http://schemas.microsoft.com/office/powerpoint/2010/main" val="1538770154"/>
      </p:ext>
    </p:extLst>
  </p:cSld>
</p:sld>
</file>

<file path=ppt/slides/slide2.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9" name="text-6">
            <a:extLst xmlns:a="http://schemas.openxmlformats.org/drawingml/2006/main">
              <a:ext uri="{FF2B5EF4-FFF2-40B4-BE49-F238E27FC236}">
                <a16:creationId xmlns:a16="http://schemas.microsoft.com/office/drawing/2014/main" id="{DE5474E7-D2AC-486F-8E38-74A1DBE78F4A}"/>
              </a:ext>
            </a:extLst>
          </p:cNvPr>
          <p:cNvSpPr>
            <a:spLocks xmlns:a="http://schemas.openxmlformats.org/drawingml/2006/main" noGrp="1"/>
          </p:cNvSpPr>
          <p:nvPr/>
        </p:nvSpPr>
        <p:spPr>
          <a:xfrm xmlns:a="http://schemas.openxmlformats.org/drawingml/2006/main">
            <a:off x="533400" y="400050"/>
            <a:ext cx="11125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A camera can record.</a:t>
            </a:r>
          </a:p>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Someone still has to notice.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ec094c221ac4b6b"/>
          <a:srcRect xmlns:a="http://schemas.openxmlformats.org/drawingml/2006/main" l="2872" t="0" r="2872" b="0"/>
          <a:stretch xmlns:a="http://schemas.openxmlformats.org/drawingml/2006/main">
            <a:fillRect l="0" t="0" r="0" b="0"/>
          </a:stretch>
        </p:blipFill>
        <p:spPr>
          <a:xfrm xmlns:a="http://schemas.openxmlformats.org/drawingml/2006/main">
            <a:off x="533400" y="1790700"/>
            <a:ext cx="6572250" cy="3924300"/>
          </a:xfrm>
          <a:prstGeom xmlns:a="http://schemas.openxmlformats.org/drawingml/2006/main" prst="rect">
            <a:avLst/>
          </a:prstGeom>
        </p:spPr>
      </p:pic>
      <p:sp>
        <p:nvSpPr>
          <p:cNvPr id="3" name="text-7">
            <a:extLst xmlns:a="http://schemas.openxmlformats.org/drawingml/2006/main">
              <a:ext uri="{FF2B5EF4-FFF2-40B4-BE49-F238E27FC236}">
                <a16:creationId xmlns:a16="http://schemas.microsoft.com/office/drawing/2014/main" id="{ADD88132-C0CA-4D95-9AAD-AE5FB1C6FC28}"/>
              </a:ext>
            </a:extLst>
          </p:cNvPr>
          <p:cNvSpPr>
            <a:spLocks xmlns:a="http://schemas.openxmlformats.org/drawingml/2006/main" noGrp="1"/>
          </p:cNvSpPr>
          <p:nvPr/>
        </p:nvSpPr>
        <p:spPr>
          <a:xfrm xmlns:a="http://schemas.openxmlformats.org/drawingml/2006/main">
            <a:off x="7543800" y="1828800"/>
            <a:ext cx="411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4251D"/>
                </a:solidFill>
                <a:latin typeface="Arial"/>
                <a:ea typeface="Arial"/>
                <a:cs typeface="Arial"/>
              </a:defRPr>
            </a:pPr>
            <a:r>
              <a:rPr sz="2175" b="1">
                <a:solidFill>
                  <a:srgbClr val="14251D"/>
                </a:solidFill>
                <a:latin typeface="Arial"/>
                <a:ea typeface="Arial"/>
                <a:cs typeface="Arial"/>
              </a:rPr>
              <a:t>The gap</a:t>
            </a:r>
          </a:p>
        </p:txBody>
      </p:sp>
      <p:sp>
        <p:nvSpPr>
          <p:cNvPr id="4" name="text-8">
            <a:extLst xmlns:a="http://schemas.openxmlformats.org/drawingml/2006/main">
              <a:ext uri="{FF2B5EF4-FFF2-40B4-BE49-F238E27FC236}">
                <a16:creationId xmlns:a16="http://schemas.microsoft.com/office/drawing/2014/main" id="{AF82524F-AC49-4380-9B69-6ABA637DFCE0}"/>
              </a:ext>
            </a:extLst>
          </p:cNvPr>
          <p:cNvSpPr>
            <a:spLocks xmlns:a="http://schemas.openxmlformats.org/drawingml/2006/main" noGrp="1"/>
          </p:cNvSpPr>
          <p:nvPr/>
        </p:nvSpPr>
        <p:spPr>
          <a:xfrm xmlns:a="http://schemas.openxmlformats.org/drawingml/2006/main">
            <a:off x="7543800" y="2352675"/>
            <a:ext cx="40767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51D"/>
                </a:solidFill>
                <a:latin typeface="Arial"/>
                <a:ea typeface="Arial"/>
                <a:cs typeface="Arial"/>
              </a:defRPr>
            </a:pPr>
            <a:r>
              <a:rPr sz="2100" b="0">
                <a:solidFill>
                  <a:srgbClr val="14251D"/>
                </a:solidFill>
                <a:latin typeface="Arial"/>
                <a:ea typeface="Arial"/>
                <a:cs typeface="Arial"/>
              </a:rPr>
              <a:t>When a developing incident goes unnoticed, footage alone cannot bring help.</a:t>
            </a:r>
          </a:p>
        </p:txBody>
      </p:sp>
      <p:sp>
        <p:nvSpPr>
          <p:cNvPr id="5" name="text-9">
            <a:extLst xmlns:a="http://schemas.openxmlformats.org/drawingml/2006/main">
              <a:ext uri="{FF2B5EF4-FFF2-40B4-BE49-F238E27FC236}">
                <a16:creationId xmlns:a16="http://schemas.microsoft.com/office/drawing/2014/main" id="{8E2F11E2-AD42-4671-BBE4-37EF4BB04C82}"/>
              </a:ext>
            </a:extLst>
          </p:cNvPr>
          <p:cNvSpPr>
            <a:spLocks xmlns:a="http://schemas.openxmlformats.org/drawingml/2006/main" noGrp="1"/>
          </p:cNvSpPr>
          <p:nvPr/>
        </p:nvSpPr>
        <p:spPr>
          <a:xfrm xmlns:a="http://schemas.openxmlformats.org/drawingml/2006/main">
            <a:off x="7543800" y="4029075"/>
            <a:ext cx="407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Our first users</a:t>
            </a:r>
          </a:p>
        </p:txBody>
      </p:sp>
      <p:sp>
        <p:nvSpPr>
          <p:cNvPr id="6" name="text-10">
            <a:extLst xmlns:a="http://schemas.openxmlformats.org/drawingml/2006/main">
              <a:ext uri="{FF2B5EF4-FFF2-40B4-BE49-F238E27FC236}">
                <a16:creationId xmlns:a16="http://schemas.microsoft.com/office/drawing/2014/main" id="{06FDB76B-A9D9-49B4-B9D9-3581DF7E987F}"/>
              </a:ext>
            </a:extLst>
          </p:cNvPr>
          <p:cNvSpPr>
            <a:spLocks xmlns:a="http://schemas.openxmlformats.org/drawingml/2006/main" noGrp="1"/>
          </p:cNvSpPr>
          <p:nvPr/>
        </p:nvSpPr>
        <p:spPr>
          <a:xfrm xmlns:a="http://schemas.openxmlformats.org/drawingml/2006/main">
            <a:off x="7543800" y="4495800"/>
            <a:ext cx="40767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06056"/>
                </a:solidFill>
                <a:latin typeface="Arial"/>
                <a:ea typeface="Arial"/>
                <a:cs typeface="Arial"/>
              </a:defRPr>
            </a:pPr>
            <a:r>
              <a:rPr sz="1875" b="0">
                <a:solidFill>
                  <a:srgbClr val="506056"/>
                </a:solidFill>
                <a:latin typeface="Arial"/>
                <a:ea typeface="Arial"/>
                <a:cs typeface="Arial"/>
              </a:rPr>
              <a:t>Campus safety staff, teachers and event marshals who need a clear place and reason to respond.</a:t>
            </a:r>
          </a:p>
        </p:txBody>
      </p:sp>
      <p:sp>
        <p:nvSpPr>
          <p:cNvPr id="7" name="text-11">
            <a:extLst xmlns:a="http://schemas.openxmlformats.org/drawingml/2006/main">
              <a:ext uri="{FF2B5EF4-FFF2-40B4-BE49-F238E27FC236}">
                <a16:creationId xmlns:a16="http://schemas.microsoft.com/office/drawing/2014/main" id="{059E90F1-3C68-4CEA-A422-331E263207F3}"/>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8" name="text-12">
            <a:extLst xmlns:a="http://schemas.openxmlformats.org/drawingml/2006/main">
              <a:ext uri="{FF2B5EF4-FFF2-40B4-BE49-F238E27FC236}">
                <a16:creationId xmlns:a16="http://schemas.microsoft.com/office/drawing/2014/main" id="{2FBF4971-73A9-4C44-A7CC-DEB9555CB58F}"/>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02</a:t>
            </a:r>
          </a:p>
        </p:txBody>
      </p:sp>
    </p:spTree>
    <p:extLst>
      <p:ext uri="{BB962C8B-B14F-4D97-AF65-F5344CB8AC3E}">
        <p14:creationId xmlns:p14="http://schemas.microsoft.com/office/powerpoint/2010/main" val="1663477740"/>
      </p:ext>
    </p:extLst>
  </p:cSld>
</p:sld>
</file>

<file path=ppt/slides/slide3.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2" name="text-13">
            <a:extLst xmlns:a="http://schemas.openxmlformats.org/drawingml/2006/main">
              <a:ext uri="{FF2B5EF4-FFF2-40B4-BE49-F238E27FC236}">
                <a16:creationId xmlns:a16="http://schemas.microsoft.com/office/drawing/2014/main" id="{B1497E76-22D6-4D93-A826-BABDC9A9118C}"/>
              </a:ext>
            </a:extLst>
          </p:cNvPr>
          <p:cNvSpPr>
            <a:spLocks xmlns:a="http://schemas.openxmlformats.org/drawingml/2006/main" noGrp="1"/>
          </p:cNvSpPr>
          <p:nvPr/>
        </p:nvSpPr>
        <p:spPr>
          <a:xfrm xmlns:a="http://schemas.openxmlformats.org/drawingml/2006/main">
            <a:off x="533400" y="41910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4251D"/>
                </a:solidFill>
                <a:latin typeface="Arial"/>
                <a:ea typeface="Arial"/>
                <a:cs typeface="Arial"/>
              </a:defRPr>
            </a:pPr>
            <a:r>
              <a:rPr sz="3900" b="1">
                <a:solidFill>
                  <a:srgbClr val="14251D"/>
                </a:solidFill>
                <a:latin typeface="Arial"/>
                <a:ea typeface="Arial"/>
                <a:cs typeface="Arial"/>
              </a:rPr>
              <a:t>One connected response</a:t>
            </a:r>
          </a:p>
        </p:txBody>
      </p:sp>
      <p:sp>
        <p:nvSpPr>
          <p:cNvPr id="2" name="text-14">
            <a:extLst xmlns:a="http://schemas.openxmlformats.org/drawingml/2006/main">
              <a:ext uri="{FF2B5EF4-FFF2-40B4-BE49-F238E27FC236}">
                <a16:creationId xmlns:a16="http://schemas.microsoft.com/office/drawing/2014/main" id="{92ED0E99-B525-4A8E-9D15-E2BD07312969}"/>
              </a:ext>
            </a:extLst>
          </p:cNvPr>
          <p:cNvSpPr>
            <a:spLocks xmlns:a="http://schemas.openxmlformats.org/drawingml/2006/main" noGrp="1"/>
          </p:cNvSpPr>
          <p:nvPr/>
        </p:nvSpPr>
        <p:spPr>
          <a:xfrm xmlns:a="http://schemas.openxmlformats.org/drawingml/2006/main">
            <a:off x="552450" y="12192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06056"/>
                </a:solidFill>
                <a:latin typeface="Arial"/>
                <a:ea typeface="Arial"/>
                <a:cs typeface="Arial"/>
              </a:defRPr>
            </a:pPr>
            <a:r>
              <a:rPr sz="1875" b="0">
                <a:solidFill>
                  <a:srgbClr val="506056"/>
                </a:solidFill>
                <a:latin typeface="Arial"/>
                <a:ea typeface="Arial"/>
                <a:cs typeface="Arial"/>
              </a:rPr>
              <a:t>A proposed workflow using a camera, a laptop and responder phones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214e630e9e0429b"/>
          <a:stretch xmlns:a="http://schemas.openxmlformats.org/drawingml/2006/main"/>
        </p:blipFill>
        <p:spPr>
          <a:xfrm xmlns:a="http://schemas.openxmlformats.org/drawingml/2006/main">
            <a:off x="3269636" y="1657350"/>
            <a:ext cx="5652728" cy="3181350"/>
          </a:xfrm>
          <a:prstGeom xmlns:a="http://schemas.openxmlformats.org/drawingml/2006/main" prst="rect">
            <a:avLst/>
          </a:prstGeom>
        </p:spPr>
      </p:pic>
      <p:sp>
        <p:nvSpPr>
          <p:cNvPr id="4" name="text-15">
            <a:extLst xmlns:a="http://schemas.openxmlformats.org/drawingml/2006/main">
              <a:ext uri="{FF2B5EF4-FFF2-40B4-BE49-F238E27FC236}">
                <a16:creationId xmlns:a16="http://schemas.microsoft.com/office/drawing/2014/main" id="{0CEB4B18-D1CE-4700-BAD9-B42449365A6D}"/>
              </a:ext>
            </a:extLst>
          </p:cNvPr>
          <p:cNvSpPr>
            <a:spLocks xmlns:a="http://schemas.openxmlformats.org/drawingml/2006/main" noGrp="1"/>
          </p:cNvSpPr>
          <p:nvPr/>
        </p:nvSpPr>
        <p:spPr>
          <a:xfrm xmlns:a="http://schemas.openxmlformats.org/drawingml/2006/main">
            <a:off x="533400" y="48672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01  Observe</a:t>
            </a:r>
          </a:p>
        </p:txBody>
      </p:sp>
      <p:sp>
        <p:nvSpPr>
          <p:cNvPr id="5" name="text-16">
            <a:extLst xmlns:a="http://schemas.openxmlformats.org/drawingml/2006/main">
              <a:ext uri="{FF2B5EF4-FFF2-40B4-BE49-F238E27FC236}">
                <a16:creationId xmlns:a16="http://schemas.microsoft.com/office/drawing/2014/main" id="{6F16AF7F-A578-4914-A4C6-C3AB974176A3}"/>
              </a:ext>
            </a:extLst>
          </p:cNvPr>
          <p:cNvSpPr>
            <a:spLocks xmlns:a="http://schemas.openxmlformats.org/drawingml/2006/main" noGrp="1"/>
          </p:cNvSpPr>
          <p:nvPr/>
        </p:nvSpPr>
        <p:spPr>
          <a:xfrm xmlns:a="http://schemas.openxmlformats.org/drawingml/2006/main">
            <a:off x="533400" y="5343525"/>
            <a:ext cx="347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An approved phone or CCTV feed captures the scene.</a:t>
            </a:r>
          </a:p>
        </p:txBody>
      </p:sp>
      <p:sp>
        <p:nvSpPr>
          <p:cNvPr id="6" name="text-17">
            <a:extLst xmlns:a="http://schemas.openxmlformats.org/drawingml/2006/main">
              <a:ext uri="{FF2B5EF4-FFF2-40B4-BE49-F238E27FC236}">
                <a16:creationId xmlns:a16="http://schemas.microsoft.com/office/drawing/2014/main" id="{05D7BEFF-D788-46D1-BEFC-DCEB5902A9AA}"/>
              </a:ext>
            </a:extLst>
          </p:cNvPr>
          <p:cNvSpPr>
            <a:spLocks xmlns:a="http://schemas.openxmlformats.org/drawingml/2006/main" noGrp="1"/>
          </p:cNvSpPr>
          <p:nvPr/>
        </p:nvSpPr>
        <p:spPr>
          <a:xfrm xmlns:a="http://schemas.openxmlformats.org/drawingml/2006/main">
            <a:off x="4333875" y="48672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02  Review</a:t>
            </a:r>
          </a:p>
        </p:txBody>
      </p:sp>
      <p:sp>
        <p:nvSpPr>
          <p:cNvPr id="7" name="text-18">
            <a:extLst xmlns:a="http://schemas.openxmlformats.org/drawingml/2006/main">
              <a:ext uri="{FF2B5EF4-FFF2-40B4-BE49-F238E27FC236}">
                <a16:creationId xmlns:a16="http://schemas.microsoft.com/office/drawing/2014/main" id="{14B3E90F-8E94-4E67-8F6B-66E28BEF408E}"/>
              </a:ext>
            </a:extLst>
          </p:cNvPr>
          <p:cNvSpPr>
            <a:spLocks xmlns:a="http://schemas.openxmlformats.org/drawingml/2006/main" noGrp="1"/>
          </p:cNvSpPr>
          <p:nvPr/>
        </p:nvSpPr>
        <p:spPr>
          <a:xfrm xmlns:a="http://schemas.openxmlformats.org/drawingml/2006/main">
            <a:off x="4333875" y="5343525"/>
            <a:ext cx="347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NIVRA flags a movement pattern. A person reviews the replay.</a:t>
            </a:r>
          </a:p>
        </p:txBody>
      </p:sp>
      <p:sp>
        <p:nvSpPr>
          <p:cNvPr id="8" name="text-19">
            <a:extLst xmlns:a="http://schemas.openxmlformats.org/drawingml/2006/main">
              <a:ext uri="{FF2B5EF4-FFF2-40B4-BE49-F238E27FC236}">
                <a16:creationId xmlns:a16="http://schemas.microsoft.com/office/drawing/2014/main" id="{2E15E42A-4214-47F3-BB5E-5E0756C56CAC}"/>
              </a:ext>
            </a:extLst>
          </p:cNvPr>
          <p:cNvSpPr>
            <a:spLocks xmlns:a="http://schemas.openxmlformats.org/drawingml/2006/main" noGrp="1"/>
          </p:cNvSpPr>
          <p:nvPr/>
        </p:nvSpPr>
        <p:spPr>
          <a:xfrm xmlns:a="http://schemas.openxmlformats.org/drawingml/2006/main">
            <a:off x="8134350" y="48672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03  Respond</a:t>
            </a:r>
          </a:p>
        </p:txBody>
      </p:sp>
      <p:sp>
        <p:nvSpPr>
          <p:cNvPr id="9" name="text-20">
            <a:extLst xmlns:a="http://schemas.openxmlformats.org/drawingml/2006/main">
              <a:ext uri="{FF2B5EF4-FFF2-40B4-BE49-F238E27FC236}">
                <a16:creationId xmlns:a16="http://schemas.microsoft.com/office/drawing/2014/main" id="{67A982B7-4222-4503-A152-23419F0944A2}"/>
              </a:ext>
            </a:extLst>
          </p:cNvPr>
          <p:cNvSpPr>
            <a:spLocks xmlns:a="http://schemas.openxmlformats.org/drawingml/2006/main" noGrp="1"/>
          </p:cNvSpPr>
          <p:nvPr/>
        </p:nvSpPr>
        <p:spPr>
          <a:xfrm xmlns:a="http://schemas.openxmlformats.org/drawingml/2006/main">
            <a:off x="8134350" y="5343525"/>
            <a:ext cx="347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The operator sends a location. Staff acknowledge and act.</a:t>
            </a:r>
          </a:p>
        </p:txBody>
      </p:sp>
      <p:sp>
        <p:nvSpPr>
          <p:cNvPr id="10" name="text-21">
            <a:extLst xmlns:a="http://schemas.openxmlformats.org/drawingml/2006/main">
              <a:ext uri="{FF2B5EF4-FFF2-40B4-BE49-F238E27FC236}">
                <a16:creationId xmlns:a16="http://schemas.microsoft.com/office/drawing/2014/main" id="{F99EBBDC-9607-4990-BD7E-20B50150E31D}"/>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11" name="text-22">
            <a:extLst xmlns:a="http://schemas.openxmlformats.org/drawingml/2006/main">
              <a:ext uri="{FF2B5EF4-FFF2-40B4-BE49-F238E27FC236}">
                <a16:creationId xmlns:a16="http://schemas.microsoft.com/office/drawing/2014/main" id="{949A6BDE-7C4C-4C67-A41F-DE67D30C70E2}"/>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03</a:t>
            </a:r>
          </a:p>
        </p:txBody>
      </p:sp>
    </p:spTree>
    <p:extLst>
      <p:ext uri="{BB962C8B-B14F-4D97-AF65-F5344CB8AC3E}">
        <p14:creationId xmlns:p14="http://schemas.microsoft.com/office/powerpoint/2010/main" val="516252492"/>
      </p:ext>
    </p:extLst>
  </p:cSld>
</p:sld>
</file>

<file path=ppt/slides/slide4.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2" name="text-23">
            <a:extLst xmlns:a="http://schemas.openxmlformats.org/drawingml/2006/main">
              <a:ext uri="{FF2B5EF4-FFF2-40B4-BE49-F238E27FC236}">
                <a16:creationId xmlns:a16="http://schemas.microsoft.com/office/drawing/2014/main" id="{1F92EDA9-0F53-4CC2-A621-448150586596}"/>
              </a:ext>
            </a:extLst>
          </p:cNvPr>
          <p:cNvSpPr>
            <a:spLocks xmlns:a="http://schemas.openxmlformats.org/drawingml/2006/main" noGrp="1"/>
          </p:cNvSpPr>
          <p:nvPr/>
        </p:nvSpPr>
        <p:spPr>
          <a:xfrm xmlns:a="http://schemas.openxmlformats.org/drawingml/2006/main">
            <a:off x="533400" y="4000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750" b="1">
                <a:solidFill>
                  <a:srgbClr val="14251D"/>
                </a:solidFill>
                <a:latin typeface="Arial"/>
                <a:ea typeface="Arial"/>
                <a:cs typeface="Arial"/>
              </a:defRPr>
            </a:pPr>
            <a:r>
              <a:rPr sz="3750" b="1">
                <a:solidFill>
                  <a:srgbClr val="14251D"/>
                </a:solidFill>
                <a:latin typeface="Arial"/>
                <a:ea typeface="Arial"/>
                <a:cs typeface="Arial"/>
              </a:rPr>
              <a:t>AI looks at movement over time</a:t>
            </a:r>
          </a:p>
        </p:txBody>
      </p:sp>
      <p:sp>
        <p:nvSpPr>
          <p:cNvPr id="2" name="text-24">
            <a:extLst xmlns:a="http://schemas.openxmlformats.org/drawingml/2006/main">
              <a:ext uri="{FF2B5EF4-FFF2-40B4-BE49-F238E27FC236}">
                <a16:creationId xmlns:a16="http://schemas.microsoft.com/office/drawing/2014/main" id="{702040C5-A85B-4923-8097-AEDD3C5DB251}"/>
              </a:ext>
            </a:extLst>
          </p:cNvPr>
          <p:cNvSpPr>
            <a:spLocks xmlns:a="http://schemas.openxmlformats.org/drawingml/2006/main" noGrp="1"/>
          </p:cNvSpPr>
          <p:nvPr/>
        </p:nvSpPr>
        <p:spPr>
          <a:xfrm xmlns:a="http://schemas.openxmlformats.org/drawingml/2006/main">
            <a:off x="552450" y="1190625"/>
            <a:ext cx="11106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Computer vision estimates body positions. Rules combine repeated visible changes.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0bbb45e61b4810"/>
          <a:srcRect xmlns:a="http://schemas.openxmlformats.org/drawingml/2006/main" l="0" t="25171" r="0" b="25171"/>
          <a:stretch xmlns:a="http://schemas.openxmlformats.org/drawingml/2006/main">
            <a:fillRect l="0" t="0" r="0" b="0"/>
          </a:stretch>
        </p:blipFill>
        <p:spPr>
          <a:xfrm xmlns:a="http://schemas.openxmlformats.org/drawingml/2006/main">
            <a:off x="533400" y="1914525"/>
            <a:ext cx="11125200" cy="2762250"/>
          </a:xfrm>
          <a:prstGeom xmlns:a="http://schemas.openxmlformats.org/drawingml/2006/main" prst="rect">
            <a:avLst/>
          </a:prstGeom>
        </p:spPr>
      </p:pic>
      <p:sp>
        <p:nvSpPr>
          <p:cNvPr id="4" name="text-25">
            <a:extLst xmlns:a="http://schemas.openxmlformats.org/drawingml/2006/main">
              <a:ext uri="{FF2B5EF4-FFF2-40B4-BE49-F238E27FC236}">
                <a16:creationId xmlns:a16="http://schemas.microsoft.com/office/drawing/2014/main" id="{B5BB80EE-AC60-455D-9CFC-DBBBDCFDF174}"/>
              </a:ext>
            </a:extLst>
          </p:cNvPr>
          <p:cNvSpPr>
            <a:spLocks xmlns:a="http://schemas.openxmlformats.org/drawingml/2006/main" noGrp="1"/>
          </p:cNvSpPr>
          <p:nvPr/>
        </p:nvSpPr>
        <p:spPr>
          <a:xfrm xmlns:a="http://schemas.openxmlformats.org/drawingml/2006/main">
            <a:off x="533400" y="4914900"/>
            <a:ext cx="3476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4251D"/>
                </a:solidFill>
                <a:latin typeface="Arial"/>
                <a:ea typeface="Arial"/>
                <a:cs typeface="Arial"/>
              </a:defRPr>
            </a:pPr>
            <a:r>
              <a:rPr sz="1950" b="1">
                <a:solidFill>
                  <a:srgbClr val="14251D"/>
                </a:solidFill>
                <a:latin typeface="Arial"/>
                <a:ea typeface="Arial"/>
                <a:cs typeface="Arial"/>
              </a:rPr>
              <a:t>Distance closes</a:t>
            </a:r>
          </a:p>
        </p:txBody>
      </p:sp>
      <p:sp>
        <p:nvSpPr>
          <p:cNvPr id="5" name="text-26">
            <a:extLst xmlns:a="http://schemas.openxmlformats.org/drawingml/2006/main">
              <a:ext uri="{FF2B5EF4-FFF2-40B4-BE49-F238E27FC236}">
                <a16:creationId xmlns:a16="http://schemas.microsoft.com/office/drawing/2014/main" id="{5C8A5689-F1BA-49EF-B397-A9B54448E96E}"/>
              </a:ext>
            </a:extLst>
          </p:cNvPr>
          <p:cNvSpPr>
            <a:spLocks xmlns:a="http://schemas.openxmlformats.org/drawingml/2006/main" noGrp="1"/>
          </p:cNvSpPr>
          <p:nvPr/>
        </p:nvSpPr>
        <p:spPr>
          <a:xfrm xmlns:a="http://schemas.openxmlformats.org/drawingml/2006/main">
            <a:off x="533400" y="53530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People repeatedly move closer.</a:t>
            </a:r>
          </a:p>
        </p:txBody>
      </p:sp>
      <p:sp>
        <p:nvSpPr>
          <p:cNvPr id="6" name="text-27">
            <a:extLst xmlns:a="http://schemas.openxmlformats.org/drawingml/2006/main">
              <a:ext uri="{FF2B5EF4-FFF2-40B4-BE49-F238E27FC236}">
                <a16:creationId xmlns:a16="http://schemas.microsoft.com/office/drawing/2014/main" id="{C585C1E4-5DAF-4BCE-852D-239DDB6CC4A0}"/>
              </a:ext>
            </a:extLst>
          </p:cNvPr>
          <p:cNvSpPr>
            <a:spLocks xmlns:a="http://schemas.openxmlformats.org/drawingml/2006/main" noGrp="1"/>
          </p:cNvSpPr>
          <p:nvPr/>
        </p:nvSpPr>
        <p:spPr>
          <a:xfrm xmlns:a="http://schemas.openxmlformats.org/drawingml/2006/main">
            <a:off x="4333875" y="4914900"/>
            <a:ext cx="3476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4251D"/>
                </a:solidFill>
                <a:latin typeface="Arial"/>
                <a:ea typeface="Arial"/>
                <a:cs typeface="Arial"/>
              </a:defRPr>
            </a:pPr>
            <a:r>
              <a:rPr sz="1950" b="1">
                <a:solidFill>
                  <a:srgbClr val="14251D"/>
                </a:solidFill>
                <a:latin typeface="Arial"/>
                <a:ea typeface="Arial"/>
                <a:cs typeface="Arial"/>
              </a:rPr>
              <a:t>Movement changes</a:t>
            </a:r>
          </a:p>
        </p:txBody>
      </p:sp>
      <p:sp>
        <p:nvSpPr>
          <p:cNvPr id="7" name="text-28">
            <a:extLst xmlns:a="http://schemas.openxmlformats.org/drawingml/2006/main">
              <a:ext uri="{FF2B5EF4-FFF2-40B4-BE49-F238E27FC236}">
                <a16:creationId xmlns:a16="http://schemas.microsoft.com/office/drawing/2014/main" id="{FD66A675-F0BF-4938-BC38-D5056E61579A}"/>
              </a:ext>
            </a:extLst>
          </p:cNvPr>
          <p:cNvSpPr>
            <a:spLocks xmlns:a="http://schemas.openxmlformats.org/drawingml/2006/main" noGrp="1"/>
          </p:cNvSpPr>
          <p:nvPr/>
        </p:nvSpPr>
        <p:spPr>
          <a:xfrm xmlns:a="http://schemas.openxmlformats.org/drawingml/2006/main">
            <a:off x="4333875" y="53530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Gestures or speed increase.</a:t>
            </a:r>
          </a:p>
        </p:txBody>
      </p:sp>
      <p:sp>
        <p:nvSpPr>
          <p:cNvPr id="8" name="text-29">
            <a:extLst xmlns:a="http://schemas.openxmlformats.org/drawingml/2006/main">
              <a:ext uri="{FF2B5EF4-FFF2-40B4-BE49-F238E27FC236}">
                <a16:creationId xmlns:a16="http://schemas.microsoft.com/office/drawing/2014/main" id="{CF760793-4F72-49DB-B05D-AA7E17E853CE}"/>
              </a:ext>
            </a:extLst>
          </p:cNvPr>
          <p:cNvSpPr>
            <a:spLocks xmlns:a="http://schemas.openxmlformats.org/drawingml/2006/main" noGrp="1"/>
          </p:cNvSpPr>
          <p:nvPr/>
        </p:nvSpPr>
        <p:spPr>
          <a:xfrm xmlns:a="http://schemas.openxmlformats.org/drawingml/2006/main">
            <a:off x="8134350" y="4914900"/>
            <a:ext cx="3476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4251D"/>
                </a:solidFill>
                <a:latin typeface="Arial"/>
                <a:ea typeface="Arial"/>
                <a:cs typeface="Arial"/>
              </a:defRPr>
            </a:pPr>
            <a:r>
              <a:rPr sz="1950" b="1">
                <a:solidFill>
                  <a:srgbClr val="14251D"/>
                </a:solidFill>
                <a:latin typeface="Arial"/>
                <a:ea typeface="Arial"/>
                <a:cs typeface="Arial"/>
              </a:rPr>
              <a:t>A review is requested</a:t>
            </a:r>
          </a:p>
        </p:txBody>
      </p:sp>
      <p:sp>
        <p:nvSpPr>
          <p:cNvPr id="9" name="text-30">
            <a:extLst xmlns:a="http://schemas.openxmlformats.org/drawingml/2006/main">
              <a:ext uri="{FF2B5EF4-FFF2-40B4-BE49-F238E27FC236}">
                <a16:creationId xmlns:a16="http://schemas.microsoft.com/office/drawing/2014/main" id="{6148596F-BB65-4FDB-96C6-6B9DA1CA461F}"/>
              </a:ext>
            </a:extLst>
          </p:cNvPr>
          <p:cNvSpPr>
            <a:spLocks xmlns:a="http://schemas.openxmlformats.org/drawingml/2006/main" noGrp="1"/>
          </p:cNvSpPr>
          <p:nvPr/>
        </p:nvSpPr>
        <p:spPr>
          <a:xfrm xmlns:a="http://schemas.openxmlformats.org/drawingml/2006/main">
            <a:off x="8134350" y="53530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A human checks the context.</a:t>
            </a:r>
          </a:p>
        </p:txBody>
      </p:sp>
      <p:sp>
        <p:nvSpPr>
          <p:cNvPr id="10" name="text-31">
            <a:extLst xmlns:a="http://schemas.openxmlformats.org/drawingml/2006/main">
              <a:ext uri="{FF2B5EF4-FFF2-40B4-BE49-F238E27FC236}">
                <a16:creationId xmlns:a16="http://schemas.microsoft.com/office/drawing/2014/main" id="{E9AEFA10-8BCB-477C-8B8B-D3E91AA0B462}"/>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11" name="text-32">
            <a:extLst xmlns:a="http://schemas.openxmlformats.org/drawingml/2006/main">
              <a:ext uri="{FF2B5EF4-FFF2-40B4-BE49-F238E27FC236}">
                <a16:creationId xmlns:a16="http://schemas.microsoft.com/office/drawing/2014/main" id="{DDD31674-A65B-4BC5-8BC4-F0CE23458883}"/>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04</a:t>
            </a:r>
          </a:p>
        </p:txBody>
      </p:sp>
    </p:spTree>
    <p:extLst>
      <p:ext uri="{BB962C8B-B14F-4D97-AF65-F5344CB8AC3E}">
        <p14:creationId xmlns:p14="http://schemas.microsoft.com/office/powerpoint/2010/main" val="1355567961"/>
      </p:ext>
    </p:extLst>
  </p:cSld>
</p:sld>
</file>

<file path=ppt/slides/slide5.xml><?xml version="1.0" encoding="utf-8"?>
<p:sld xmlns:p="http://schemas.openxmlformats.org/presentationml/2006/main">
  <p:cSld>
    <p:bg>
      <p:bgPr>
        <a:solidFill xmlns:a="http://schemas.openxmlformats.org/drawingml/2006/main">
          <a:srgbClr val="14251D"/>
        </a:solidFill>
      </p:bgPr>
    </p:bg>
    <p:spTree>
      <p:nvGrpSpPr>
        <p:cNvPr id="1" name=""/>
        <p:cNvGrpSpPr/>
        <p:nvPr/>
      </p:nvGrpSpPr>
      <p:grpSpPr>
        <a:xfrm xmlns:a="http://schemas.openxmlformats.org/drawingml/2006/main"/>
      </p:grpSpPr>
      <p:sp>
        <p:nvSpPr>
          <p:cNvPr id="13" name="text-33">
            <a:extLst xmlns:a="http://schemas.openxmlformats.org/drawingml/2006/main">
              <a:ext uri="{FF2B5EF4-FFF2-40B4-BE49-F238E27FC236}">
                <a16:creationId xmlns:a16="http://schemas.microsoft.com/office/drawing/2014/main" id="{58A12F9B-66EB-47CC-A77C-9B59C6399455}"/>
              </a:ext>
            </a:extLst>
          </p:cNvPr>
          <p:cNvSpPr>
            <a:spLocks xmlns:a="http://schemas.openxmlformats.org/drawingml/2006/main" noGrp="1"/>
          </p:cNvSpPr>
          <p:nvPr/>
        </p:nvSpPr>
        <p:spPr>
          <a:xfrm xmlns:a="http://schemas.openxmlformats.org/drawingml/2006/main">
            <a:off x="533400" y="742950"/>
            <a:ext cx="628650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D2F56A"/>
                </a:solidFill>
                <a:latin typeface="Arial"/>
                <a:ea typeface="Arial"/>
                <a:cs typeface="Arial"/>
              </a:defRPr>
            </a:pPr>
            <a:r>
              <a:rPr sz="5700" b="1">
                <a:solidFill>
                  <a:srgbClr val="D2F56A"/>
                </a:solidFill>
                <a:latin typeface="Arial"/>
                <a:ea typeface="Arial"/>
                <a:cs typeface="Arial"/>
              </a:rPr>
              <a:t>People make</a:t>
            </a:r>
          </a:p>
          <a:p xmlns:a="http://schemas.openxmlformats.org/drawingml/2006/main">
            <a:pPr>
              <a:defRPr sz="5700" b="1">
                <a:solidFill>
                  <a:srgbClr val="D2F56A"/>
                </a:solidFill>
                <a:latin typeface="Arial"/>
                <a:ea typeface="Arial"/>
                <a:cs typeface="Arial"/>
              </a:defRPr>
            </a:pPr>
            <a:r>
              <a:rPr sz="5700" b="1">
                <a:solidFill>
                  <a:srgbClr val="D2F56A"/>
                </a:solidFill>
                <a:latin typeface="Arial"/>
                <a:ea typeface="Arial"/>
                <a:cs typeface="Arial"/>
              </a:rPr>
              <a:t>the call.</a:t>
            </a:r>
          </a:p>
        </p:txBody>
      </p:sp>
      <p:sp>
        <p:nvSpPr>
          <p:cNvPr id="2" name="text-34">
            <a:extLst xmlns:a="http://schemas.openxmlformats.org/drawingml/2006/main">
              <a:ext uri="{FF2B5EF4-FFF2-40B4-BE49-F238E27FC236}">
                <a16:creationId xmlns:a16="http://schemas.microsoft.com/office/drawing/2014/main" id="{AD017C2B-E17C-4A6D-9BAE-568D2E55F739}"/>
              </a:ext>
            </a:extLst>
          </p:cNvPr>
          <p:cNvSpPr>
            <a:spLocks xmlns:a="http://schemas.openxmlformats.org/drawingml/2006/main" noGrp="1"/>
          </p:cNvSpPr>
          <p:nvPr/>
        </p:nvSpPr>
        <p:spPr>
          <a:xfrm xmlns:a="http://schemas.openxmlformats.org/drawingml/2006/main">
            <a:off x="571500" y="3438525"/>
            <a:ext cx="6000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7FAF5"/>
                </a:solidFill>
                <a:latin typeface="Arial"/>
                <a:ea typeface="Arial"/>
                <a:cs typeface="Arial"/>
              </a:defRPr>
            </a:pPr>
            <a:r>
              <a:rPr sz="2400" b="0">
                <a:solidFill>
                  <a:srgbClr val="F7FAF5"/>
                </a:solidFill>
                <a:latin typeface="Arial"/>
                <a:ea typeface="Arial"/>
                <a:cs typeface="Arial"/>
              </a:rPr>
              <a:t>NIVRA would support attention.</a:t>
            </a:r>
          </a:p>
          <a:p xmlns:a="http://schemas.openxmlformats.org/drawingml/2006/main">
            <a:pPr>
              <a:defRPr sz="2400" b="0">
                <a:solidFill>
                  <a:srgbClr val="F7FAF5"/>
                </a:solidFill>
                <a:latin typeface="Arial"/>
                <a:ea typeface="Arial"/>
                <a:cs typeface="Arial"/>
              </a:defRPr>
            </a:pPr>
            <a:r>
              <a:rPr sz="2400" b="0">
                <a:solidFill>
                  <a:srgbClr val="F7FAF5"/>
                </a:solidFill>
                <a:latin typeface="Arial"/>
                <a:ea typeface="Arial"/>
                <a:cs typeface="Arial"/>
              </a:rPr>
              <a:t>A trained person would decide</a:t>
            </a:r>
          </a:p>
          <a:p xmlns:a="http://schemas.openxmlformats.org/drawingml/2006/main">
            <a:pPr>
              <a:defRPr sz="2400" b="0">
                <a:solidFill>
                  <a:srgbClr val="F7FAF5"/>
                </a:solidFill>
                <a:latin typeface="Arial"/>
                <a:ea typeface="Arial"/>
                <a:cs typeface="Arial"/>
              </a:defRPr>
            </a:pPr>
            <a:r>
              <a:rPr sz="2400" b="0">
                <a:solidFill>
                  <a:srgbClr val="F7FAF5"/>
                </a:solidFill>
                <a:latin typeface="Arial"/>
                <a:ea typeface="Arial"/>
                <a:cs typeface="Arial"/>
              </a:rPr>
              <a:t>what happens next.</a:t>
            </a:r>
          </a:p>
        </p:txBody>
      </p:sp>
      <p:sp>
        <p:nvSpPr>
          <p:cNvPr id="3" name="text-35">
            <a:extLst xmlns:a="http://schemas.openxmlformats.org/drawingml/2006/main">
              <a:ext uri="{FF2B5EF4-FFF2-40B4-BE49-F238E27FC236}">
                <a16:creationId xmlns:a16="http://schemas.microsoft.com/office/drawing/2014/main" id="{677F8340-0D89-4A06-A07D-C0AAF19B2903}"/>
              </a:ext>
            </a:extLst>
          </p:cNvPr>
          <p:cNvSpPr>
            <a:spLocks xmlns:a="http://schemas.openxmlformats.org/drawingml/2006/main" noGrp="1"/>
          </p:cNvSpPr>
          <p:nvPr/>
        </p:nvSpPr>
        <p:spPr>
          <a:xfrm xmlns:a="http://schemas.openxmlformats.org/drawingml/2006/main">
            <a:off x="7334250" y="81915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D2F56A"/>
                </a:solidFill>
                <a:latin typeface="Arial"/>
                <a:ea typeface="Arial"/>
                <a:cs typeface="Arial"/>
              </a:defRPr>
            </a:pPr>
            <a:r>
              <a:rPr sz="2025" b="1">
                <a:solidFill>
                  <a:srgbClr val="D2F56A"/>
                </a:solidFill>
                <a:latin typeface="Arial"/>
                <a:ea typeface="Arial"/>
                <a:cs typeface="Arial"/>
              </a:rPr>
              <a:t>Human review</a:t>
            </a:r>
          </a:p>
        </p:txBody>
      </p:sp>
      <p:sp>
        <p:nvSpPr>
          <p:cNvPr id="4" name="text-36">
            <a:extLst xmlns:a="http://schemas.openxmlformats.org/drawingml/2006/main">
              <a:ext uri="{FF2B5EF4-FFF2-40B4-BE49-F238E27FC236}">
                <a16:creationId xmlns:a16="http://schemas.microsoft.com/office/drawing/2014/main" id="{9F84EB28-129D-4657-8481-5A3277F7039A}"/>
              </a:ext>
            </a:extLst>
          </p:cNvPr>
          <p:cNvSpPr>
            <a:spLocks xmlns:a="http://schemas.openxmlformats.org/drawingml/2006/main" noGrp="1"/>
          </p:cNvSpPr>
          <p:nvPr/>
        </p:nvSpPr>
        <p:spPr>
          <a:xfrm xmlns:a="http://schemas.openxmlformats.org/drawingml/2006/main">
            <a:off x="7334250" y="12668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F7FAF5"/>
                </a:solidFill>
                <a:latin typeface="Arial"/>
                <a:ea typeface="Arial"/>
                <a:cs typeface="Arial"/>
              </a:defRPr>
            </a:pPr>
            <a:r>
              <a:rPr sz="1800" b="0">
                <a:solidFill>
                  <a:srgbClr val="F7FAF5"/>
                </a:solidFill>
                <a:latin typeface="Arial"/>
                <a:ea typeface="Arial"/>
                <a:cs typeface="Arial"/>
              </a:rPr>
              <a:t>Dismiss, keep watching or send help.</a:t>
            </a:r>
          </a:p>
        </p:txBody>
      </p:sp>
      <p:sp>
        <p:nvSpPr>
          <p:cNvPr id="5" name="text-37">
            <a:extLst xmlns:a="http://schemas.openxmlformats.org/drawingml/2006/main">
              <a:ext uri="{FF2B5EF4-FFF2-40B4-BE49-F238E27FC236}">
                <a16:creationId xmlns:a16="http://schemas.microsoft.com/office/drawing/2014/main" id="{901AB24D-DA13-4E0D-ADDA-578F82990D6D}"/>
              </a:ext>
            </a:extLst>
          </p:cNvPr>
          <p:cNvSpPr>
            <a:spLocks xmlns:a="http://schemas.openxmlformats.org/drawingml/2006/main" noGrp="1"/>
          </p:cNvSpPr>
          <p:nvPr/>
        </p:nvSpPr>
        <p:spPr>
          <a:xfrm xmlns:a="http://schemas.openxmlformats.org/drawingml/2006/main">
            <a:off x="7334250" y="213360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D2F56A"/>
                </a:solidFill>
                <a:latin typeface="Arial"/>
                <a:ea typeface="Arial"/>
                <a:cs typeface="Arial"/>
              </a:defRPr>
            </a:pPr>
            <a:r>
              <a:rPr sz="2025" b="1">
                <a:solidFill>
                  <a:srgbClr val="D2F56A"/>
                </a:solidFill>
                <a:latin typeface="Arial"/>
                <a:ea typeface="Arial"/>
                <a:cs typeface="Arial"/>
              </a:rPr>
              <a:t>No identity inference</a:t>
            </a:r>
          </a:p>
        </p:txBody>
      </p:sp>
      <p:sp>
        <p:nvSpPr>
          <p:cNvPr id="6" name="text-38">
            <a:extLst xmlns:a="http://schemas.openxmlformats.org/drawingml/2006/main">
              <a:ext uri="{FF2B5EF4-FFF2-40B4-BE49-F238E27FC236}">
                <a16:creationId xmlns:a16="http://schemas.microsoft.com/office/drawing/2014/main" id="{4259A526-0E5B-498D-B638-9B562CAE2491}"/>
              </a:ext>
            </a:extLst>
          </p:cNvPr>
          <p:cNvSpPr>
            <a:spLocks xmlns:a="http://schemas.openxmlformats.org/drawingml/2006/main" noGrp="1"/>
          </p:cNvSpPr>
          <p:nvPr/>
        </p:nvSpPr>
        <p:spPr>
          <a:xfrm xmlns:a="http://schemas.openxmlformats.org/drawingml/2006/main">
            <a:off x="7334250" y="25812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F7FAF5"/>
                </a:solidFill>
                <a:latin typeface="Arial"/>
                <a:ea typeface="Arial"/>
                <a:cs typeface="Arial"/>
              </a:defRPr>
            </a:pPr>
            <a:r>
              <a:rPr sz="1800" b="0">
                <a:solidFill>
                  <a:srgbClr val="F7FAF5"/>
                </a:solidFill>
                <a:latin typeface="Arial"/>
                <a:ea typeface="Arial"/>
                <a:cs typeface="Arial"/>
              </a:rPr>
              <a:t>No facial recognition or guilt scores.</a:t>
            </a:r>
          </a:p>
        </p:txBody>
      </p:sp>
      <p:sp>
        <p:nvSpPr>
          <p:cNvPr id="7" name="text-39">
            <a:extLst xmlns:a="http://schemas.openxmlformats.org/drawingml/2006/main">
              <a:ext uri="{FF2B5EF4-FFF2-40B4-BE49-F238E27FC236}">
                <a16:creationId xmlns:a16="http://schemas.microsoft.com/office/drawing/2014/main" id="{0F6CECA5-F262-4FA3-B3F8-4B34BCF442DC}"/>
              </a:ext>
            </a:extLst>
          </p:cNvPr>
          <p:cNvSpPr>
            <a:spLocks xmlns:a="http://schemas.openxmlformats.org/drawingml/2006/main" noGrp="1"/>
          </p:cNvSpPr>
          <p:nvPr/>
        </p:nvSpPr>
        <p:spPr>
          <a:xfrm xmlns:a="http://schemas.openxmlformats.org/drawingml/2006/main">
            <a:off x="7334250" y="344805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D2F56A"/>
                </a:solidFill>
                <a:latin typeface="Arial"/>
                <a:ea typeface="Arial"/>
                <a:cs typeface="Arial"/>
              </a:defRPr>
            </a:pPr>
            <a:r>
              <a:rPr sz="2025" b="1">
                <a:solidFill>
                  <a:srgbClr val="D2F56A"/>
                </a:solidFill>
                <a:latin typeface="Arial"/>
                <a:ea typeface="Arial"/>
                <a:cs typeface="Arial"/>
              </a:rPr>
              <a:t>Limited video use</a:t>
            </a:r>
          </a:p>
        </p:txBody>
      </p:sp>
      <p:sp>
        <p:nvSpPr>
          <p:cNvPr id="8" name="text-40">
            <a:extLst xmlns:a="http://schemas.openxmlformats.org/drawingml/2006/main">
              <a:ext uri="{FF2B5EF4-FFF2-40B4-BE49-F238E27FC236}">
                <a16:creationId xmlns:a16="http://schemas.microsoft.com/office/drawing/2014/main" id="{24775214-2EEA-44C1-8DF3-04756E74B78A}"/>
              </a:ext>
            </a:extLst>
          </p:cNvPr>
          <p:cNvSpPr>
            <a:spLocks xmlns:a="http://schemas.openxmlformats.org/drawingml/2006/main" noGrp="1"/>
          </p:cNvSpPr>
          <p:nvPr/>
        </p:nvSpPr>
        <p:spPr>
          <a:xfrm xmlns:a="http://schemas.openxmlformats.org/drawingml/2006/main">
            <a:off x="7334250" y="38957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F7FAF5"/>
                </a:solidFill>
                <a:latin typeface="Arial"/>
                <a:ea typeface="Arial"/>
                <a:cs typeface="Arial"/>
              </a:defRPr>
            </a:pPr>
            <a:r>
              <a:rPr sz="1800" b="0">
                <a:solidFill>
                  <a:srgbClr val="F7FAF5"/>
                </a:solidFill>
                <a:latin typeface="Arial"/>
                <a:ea typeface="Arial"/>
                <a:cs typeface="Arial"/>
              </a:rPr>
              <a:t>Short context buffers and restricted access.</a:t>
            </a:r>
          </a:p>
        </p:txBody>
      </p:sp>
      <p:sp>
        <p:nvSpPr>
          <p:cNvPr id="9" name="text-41">
            <a:extLst xmlns:a="http://schemas.openxmlformats.org/drawingml/2006/main">
              <a:ext uri="{FF2B5EF4-FFF2-40B4-BE49-F238E27FC236}">
                <a16:creationId xmlns:a16="http://schemas.microsoft.com/office/drawing/2014/main" id="{C6B29CAB-C966-420C-9F44-5BC32921D9EF}"/>
              </a:ext>
            </a:extLst>
          </p:cNvPr>
          <p:cNvSpPr>
            <a:spLocks xmlns:a="http://schemas.openxmlformats.org/drawingml/2006/main" noGrp="1"/>
          </p:cNvSpPr>
          <p:nvPr/>
        </p:nvSpPr>
        <p:spPr>
          <a:xfrm xmlns:a="http://schemas.openxmlformats.org/drawingml/2006/main">
            <a:off x="7334250" y="476250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D2F56A"/>
                </a:solidFill>
                <a:latin typeface="Arial"/>
                <a:ea typeface="Arial"/>
                <a:cs typeface="Arial"/>
              </a:defRPr>
            </a:pPr>
            <a:r>
              <a:rPr sz="2025" b="1">
                <a:solidFill>
                  <a:srgbClr val="D2F56A"/>
                </a:solidFill>
                <a:latin typeface="Arial"/>
                <a:ea typeface="Arial"/>
                <a:cs typeface="Arial"/>
              </a:rPr>
              <a:t>Visible limitations</a:t>
            </a:r>
          </a:p>
        </p:txBody>
      </p:sp>
      <p:sp>
        <p:nvSpPr>
          <p:cNvPr id="10" name="text-42">
            <a:extLst xmlns:a="http://schemas.openxmlformats.org/drawingml/2006/main">
              <a:ext uri="{FF2B5EF4-FFF2-40B4-BE49-F238E27FC236}">
                <a16:creationId xmlns:a16="http://schemas.microsoft.com/office/drawing/2014/main" id="{EC94848A-D1CD-46EE-8C6C-63074C1DD1D9}"/>
              </a:ext>
            </a:extLst>
          </p:cNvPr>
          <p:cNvSpPr>
            <a:spLocks xmlns:a="http://schemas.openxmlformats.org/drawingml/2006/main" noGrp="1"/>
          </p:cNvSpPr>
          <p:nvPr/>
        </p:nvSpPr>
        <p:spPr>
          <a:xfrm xmlns:a="http://schemas.openxmlformats.org/drawingml/2006/main">
            <a:off x="7334250" y="52101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F7FAF5"/>
                </a:solidFill>
                <a:latin typeface="Arial"/>
                <a:ea typeface="Arial"/>
                <a:cs typeface="Arial"/>
              </a:defRPr>
            </a:pPr>
            <a:r>
              <a:rPr sz="1800" b="0">
                <a:solidFill>
                  <a:srgbClr val="F7FAF5"/>
                </a:solidFill>
                <a:latin typeface="Arial"/>
                <a:ea typeface="Arial"/>
                <a:cs typeface="Arial"/>
              </a:rPr>
              <a:t>Poor light and blocked views must be flagged.</a:t>
            </a:r>
          </a:p>
        </p:txBody>
      </p:sp>
      <p:sp>
        <p:nvSpPr>
          <p:cNvPr id="11" name="text-43">
            <a:extLst xmlns:a="http://schemas.openxmlformats.org/drawingml/2006/main">
              <a:ext uri="{FF2B5EF4-FFF2-40B4-BE49-F238E27FC236}">
                <a16:creationId xmlns:a16="http://schemas.microsoft.com/office/drawing/2014/main" id="{A7936D6F-0868-4F2F-BBD1-AB62A29F91B0}"/>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D2F56A"/>
                </a:solidFill>
                <a:latin typeface="Arial"/>
                <a:ea typeface="Arial"/>
                <a:cs typeface="Arial"/>
              </a:defRPr>
            </a:pPr>
            <a:r>
              <a:rPr sz="1125" b="1">
                <a:solidFill>
                  <a:srgbClr val="D2F56A"/>
                </a:solidFill>
                <a:latin typeface="Arial"/>
                <a:ea typeface="Arial"/>
                <a:cs typeface="Arial"/>
              </a:rPr>
              <a:t>NIVRA</a:t>
            </a:r>
          </a:p>
        </p:txBody>
      </p:sp>
      <p:sp>
        <p:nvSpPr>
          <p:cNvPr id="12" name="text-44">
            <a:extLst xmlns:a="http://schemas.openxmlformats.org/drawingml/2006/main">
              <a:ext uri="{FF2B5EF4-FFF2-40B4-BE49-F238E27FC236}">
                <a16:creationId xmlns:a16="http://schemas.microsoft.com/office/drawing/2014/main" id="{3100E892-3847-4445-A117-E5D5344ED34C}"/>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F7FAF5"/>
                </a:solidFill>
                <a:latin typeface="Arial"/>
                <a:ea typeface="Arial"/>
                <a:cs typeface="Arial"/>
              </a:defRPr>
            </a:pPr>
            <a:r>
              <a:rPr sz="1125" b="0">
                <a:solidFill>
                  <a:srgbClr val="F7FAF5"/>
                </a:solidFill>
                <a:latin typeface="Arial"/>
                <a:ea typeface="Arial"/>
                <a:cs typeface="Arial"/>
              </a:rPr>
              <a:t>05</a:t>
            </a:r>
          </a:p>
        </p:txBody>
      </p:sp>
    </p:spTree>
    <p:extLst>
      <p:ext uri="{BB962C8B-B14F-4D97-AF65-F5344CB8AC3E}">
        <p14:creationId xmlns:p14="http://schemas.microsoft.com/office/powerpoint/2010/main" val="981928424"/>
      </p:ext>
    </p:extLst>
  </p:cSld>
</p:sld>
</file>

<file path=ppt/slides/slide6.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8" name="text-45">
            <a:extLst xmlns:a="http://schemas.openxmlformats.org/drawingml/2006/main">
              <a:ext uri="{FF2B5EF4-FFF2-40B4-BE49-F238E27FC236}">
                <a16:creationId xmlns:a16="http://schemas.microsoft.com/office/drawing/2014/main" id="{03DFA85C-C391-4998-8AF5-5156DD507379}"/>
              </a:ext>
            </a:extLst>
          </p:cNvPr>
          <p:cNvSpPr>
            <a:spLocks xmlns:a="http://schemas.openxmlformats.org/drawingml/2006/main" noGrp="1"/>
          </p:cNvSpPr>
          <p:nvPr/>
        </p:nvSpPr>
        <p:spPr>
          <a:xfrm xmlns:a="http://schemas.openxmlformats.org/drawingml/2006/main">
            <a:off x="533400" y="419100"/>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14251D"/>
                </a:solidFill>
                <a:latin typeface="Arial"/>
                <a:ea typeface="Arial"/>
                <a:cs typeface="Arial"/>
              </a:defRPr>
            </a:pPr>
            <a:r>
              <a:rPr sz="3675" b="1">
                <a:solidFill>
                  <a:srgbClr val="14251D"/>
                </a:solidFill>
                <a:latin typeface="Arial"/>
                <a:ea typeface="Arial"/>
                <a:cs typeface="Arial"/>
              </a:rPr>
              <a:t>The smallest demo worth building</a:t>
            </a:r>
          </a:p>
        </p:txBody>
      </p:sp>
      <p:sp>
        <p:nvSpPr>
          <p:cNvPr id="2" name="text-46">
            <a:extLst xmlns:a="http://schemas.openxmlformats.org/drawingml/2006/main">
              <a:ext uri="{FF2B5EF4-FFF2-40B4-BE49-F238E27FC236}">
                <a16:creationId xmlns:a16="http://schemas.microsoft.com/office/drawing/2014/main" id="{82EFE01D-2D1C-4FC2-B354-4A8B09E408FD}"/>
              </a:ext>
            </a:extLst>
          </p:cNvPr>
          <p:cNvSpPr>
            <a:spLocks xmlns:a="http://schemas.openxmlformats.org/drawingml/2006/main" noGrp="1"/>
          </p:cNvSpPr>
          <p:nvPr/>
        </p:nvSpPr>
        <p:spPr>
          <a:xfrm xmlns:a="http://schemas.openxmlformats.org/drawingml/2006/main">
            <a:off x="552450" y="12763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06056"/>
                </a:solidFill>
                <a:latin typeface="Arial"/>
                <a:ea typeface="Arial"/>
                <a:cs typeface="Arial"/>
              </a:defRPr>
            </a:pPr>
            <a:r>
              <a:rPr sz="2175" b="0">
                <a:solidFill>
                  <a:srgbClr val="506056"/>
                </a:solidFill>
                <a:latin typeface="Arial"/>
                <a:ea typeface="Arial"/>
                <a:cs typeface="Arial"/>
              </a:rPr>
              <a:t>Two phones. One laptop. One staged interaction.</a:t>
            </a:r>
          </a:p>
        </p:txBody>
      </p:sp>
      <p:sp>
        <p:nvSpPr>
          <p:cNvPr id="3" name="text-47">
            <a:extLst xmlns:a="http://schemas.openxmlformats.org/drawingml/2006/main">
              <a:ext uri="{FF2B5EF4-FFF2-40B4-BE49-F238E27FC236}">
                <a16:creationId xmlns:a16="http://schemas.microsoft.com/office/drawing/2014/main" id="{0731967C-DFD0-4CDB-B642-D0AC449088C5}"/>
              </a:ext>
            </a:extLst>
          </p:cNvPr>
          <p:cNvSpPr>
            <a:spLocks xmlns:a="http://schemas.openxmlformats.org/drawingml/2006/main" noGrp="1"/>
          </p:cNvSpPr>
          <p:nvPr/>
        </p:nvSpPr>
        <p:spPr>
          <a:xfrm xmlns:a="http://schemas.openxmlformats.org/drawingml/2006/main">
            <a:off x="533400" y="2181225"/>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4251D"/>
                </a:solidFill>
                <a:latin typeface="Arial"/>
                <a:ea typeface="Arial"/>
                <a:cs typeface="Arial"/>
              </a:defRPr>
            </a:pPr>
            <a:r>
              <a:rPr sz="4125" b="1">
                <a:solidFill>
                  <a:srgbClr val="14251D"/>
                </a:solidFill>
                <a:latin typeface="Arial"/>
                <a:ea typeface="Arial"/>
                <a:cs typeface="Arial"/>
              </a:rPr>
              <a:t>01</a:t>
            </a:r>
          </a:p>
        </p:txBody>
      </p:sp>
      <p:sp>
        <p:nvSpPr>
          <p:cNvPr id="4" name="text-48">
            <a:extLst xmlns:a="http://schemas.openxmlformats.org/drawingml/2006/main">
              <a:ext uri="{FF2B5EF4-FFF2-40B4-BE49-F238E27FC236}">
                <a16:creationId xmlns:a16="http://schemas.microsoft.com/office/drawing/2014/main" id="{55DCFF2E-C06E-4E60-8428-EFD0000F693F}"/>
              </a:ext>
            </a:extLst>
          </p:cNvPr>
          <p:cNvSpPr>
            <a:spLocks xmlns:a="http://schemas.openxmlformats.org/drawingml/2006/main" noGrp="1"/>
          </p:cNvSpPr>
          <p:nvPr/>
        </p:nvSpPr>
        <p:spPr>
          <a:xfrm xmlns:a="http://schemas.openxmlformats.org/drawingml/2006/main">
            <a:off x="1600200" y="2219325"/>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Connect</a:t>
            </a:r>
          </a:p>
        </p:txBody>
      </p:sp>
      <p:sp>
        <p:nvSpPr>
          <p:cNvPr id="5" name="text-49">
            <a:extLst xmlns:a="http://schemas.openxmlformats.org/drawingml/2006/main">
              <a:ext uri="{FF2B5EF4-FFF2-40B4-BE49-F238E27FC236}">
                <a16:creationId xmlns:a16="http://schemas.microsoft.com/office/drawing/2014/main" id="{F1E33BED-2E37-4565-8021-9F6F9FF2B0E2}"/>
              </a:ext>
            </a:extLst>
          </p:cNvPr>
          <p:cNvSpPr>
            <a:spLocks xmlns:a="http://schemas.openxmlformats.org/drawingml/2006/main" noGrp="1"/>
          </p:cNvSpPr>
          <p:nvPr/>
        </p:nvSpPr>
        <p:spPr>
          <a:xfrm xmlns:a="http://schemas.openxmlformats.org/drawingml/2006/main">
            <a:off x="1600200" y="2667000"/>
            <a:ext cx="4229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Stream an approved phone camera to the laptop.</a:t>
            </a:r>
          </a:p>
        </p:txBody>
      </p:sp>
      <p:sp>
        <p:nvSpPr>
          <p:cNvPr id="6" name="text-50">
            <a:extLst xmlns:a="http://schemas.openxmlformats.org/drawingml/2006/main">
              <a:ext uri="{FF2B5EF4-FFF2-40B4-BE49-F238E27FC236}">
                <a16:creationId xmlns:a16="http://schemas.microsoft.com/office/drawing/2014/main" id="{B8064C58-2E7F-466B-8CF1-C731C539DF23}"/>
              </a:ext>
            </a:extLst>
          </p:cNvPr>
          <p:cNvSpPr>
            <a:spLocks xmlns:a="http://schemas.openxmlformats.org/drawingml/2006/main" noGrp="1"/>
          </p:cNvSpPr>
          <p:nvPr/>
        </p:nvSpPr>
        <p:spPr>
          <a:xfrm xmlns:a="http://schemas.openxmlformats.org/drawingml/2006/main">
            <a:off x="6381750" y="2181225"/>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4251D"/>
                </a:solidFill>
                <a:latin typeface="Arial"/>
                <a:ea typeface="Arial"/>
                <a:cs typeface="Arial"/>
              </a:defRPr>
            </a:pPr>
            <a:r>
              <a:rPr sz="4125" b="1">
                <a:solidFill>
                  <a:srgbClr val="14251D"/>
                </a:solidFill>
                <a:latin typeface="Arial"/>
                <a:ea typeface="Arial"/>
                <a:cs typeface="Arial"/>
              </a:rPr>
              <a:t>02</a:t>
            </a:r>
          </a:p>
        </p:txBody>
      </p:sp>
      <p:sp>
        <p:nvSpPr>
          <p:cNvPr id="7" name="text-51">
            <a:extLst xmlns:a="http://schemas.openxmlformats.org/drawingml/2006/main">
              <a:ext uri="{FF2B5EF4-FFF2-40B4-BE49-F238E27FC236}">
                <a16:creationId xmlns:a16="http://schemas.microsoft.com/office/drawing/2014/main" id="{718DE637-AFFF-46DC-87F2-693E9FA3646B}"/>
              </a:ext>
            </a:extLst>
          </p:cNvPr>
          <p:cNvSpPr>
            <a:spLocks xmlns:a="http://schemas.openxmlformats.org/drawingml/2006/main" noGrp="1"/>
          </p:cNvSpPr>
          <p:nvPr/>
        </p:nvSpPr>
        <p:spPr>
          <a:xfrm xmlns:a="http://schemas.openxmlformats.org/drawingml/2006/main">
            <a:off x="7448550" y="2219325"/>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Flag</a:t>
            </a:r>
          </a:p>
        </p:txBody>
      </p:sp>
      <p:sp>
        <p:nvSpPr>
          <p:cNvPr id="8" name="text-52">
            <a:extLst xmlns:a="http://schemas.openxmlformats.org/drawingml/2006/main">
              <a:ext uri="{FF2B5EF4-FFF2-40B4-BE49-F238E27FC236}">
                <a16:creationId xmlns:a16="http://schemas.microsoft.com/office/drawing/2014/main" id="{8321A822-6A8A-404F-9636-5D74CA461C80}"/>
              </a:ext>
            </a:extLst>
          </p:cNvPr>
          <p:cNvSpPr>
            <a:spLocks xmlns:a="http://schemas.openxmlformats.org/drawingml/2006/main" noGrp="1"/>
          </p:cNvSpPr>
          <p:nvPr/>
        </p:nvSpPr>
        <p:spPr>
          <a:xfrm xmlns:a="http://schemas.openxmlformats.org/drawingml/2006/main">
            <a:off x="7448550" y="2667000"/>
            <a:ext cx="4229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Use pose estimates and movement rules to raise a review.</a:t>
            </a:r>
          </a:p>
        </p:txBody>
      </p:sp>
      <p:sp>
        <p:nvSpPr>
          <p:cNvPr id="9" name="text-53">
            <a:extLst xmlns:a="http://schemas.openxmlformats.org/drawingml/2006/main">
              <a:ext uri="{FF2B5EF4-FFF2-40B4-BE49-F238E27FC236}">
                <a16:creationId xmlns:a16="http://schemas.microsoft.com/office/drawing/2014/main" id="{261ECB31-A74A-44EE-AE8F-2EAC5CEF3D41}"/>
              </a:ext>
            </a:extLst>
          </p:cNvPr>
          <p:cNvSpPr>
            <a:spLocks xmlns:a="http://schemas.openxmlformats.org/drawingml/2006/main" noGrp="1"/>
          </p:cNvSpPr>
          <p:nvPr/>
        </p:nvSpPr>
        <p:spPr>
          <a:xfrm xmlns:a="http://schemas.openxmlformats.org/drawingml/2006/main">
            <a:off x="533400" y="3981450"/>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4251D"/>
                </a:solidFill>
                <a:latin typeface="Arial"/>
                <a:ea typeface="Arial"/>
                <a:cs typeface="Arial"/>
              </a:defRPr>
            </a:pPr>
            <a:r>
              <a:rPr sz="4125" b="1">
                <a:solidFill>
                  <a:srgbClr val="14251D"/>
                </a:solidFill>
                <a:latin typeface="Arial"/>
                <a:ea typeface="Arial"/>
                <a:cs typeface="Arial"/>
              </a:rPr>
              <a:t>03</a:t>
            </a:r>
          </a:p>
        </p:txBody>
      </p:sp>
      <p:sp>
        <p:nvSpPr>
          <p:cNvPr id="10" name="text-54">
            <a:extLst xmlns:a="http://schemas.openxmlformats.org/drawingml/2006/main">
              <a:ext uri="{FF2B5EF4-FFF2-40B4-BE49-F238E27FC236}">
                <a16:creationId xmlns:a16="http://schemas.microsoft.com/office/drawing/2014/main" id="{4CF7F0BF-BFD9-4842-942D-80D9EE002994}"/>
              </a:ext>
            </a:extLst>
          </p:cNvPr>
          <p:cNvSpPr>
            <a:spLocks xmlns:a="http://schemas.openxmlformats.org/drawingml/2006/main" noGrp="1"/>
          </p:cNvSpPr>
          <p:nvPr/>
        </p:nvSpPr>
        <p:spPr>
          <a:xfrm xmlns:a="http://schemas.openxmlformats.org/drawingml/2006/main">
            <a:off x="1600200" y="4019550"/>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Decide</a:t>
            </a:r>
          </a:p>
        </p:txBody>
      </p:sp>
      <p:sp>
        <p:nvSpPr>
          <p:cNvPr id="11" name="text-55">
            <a:extLst xmlns:a="http://schemas.openxmlformats.org/drawingml/2006/main">
              <a:ext uri="{FF2B5EF4-FFF2-40B4-BE49-F238E27FC236}">
                <a16:creationId xmlns:a16="http://schemas.microsoft.com/office/drawing/2014/main" id="{DC60F7A4-A5E6-44AE-94D1-270B77EFDB0F}"/>
              </a:ext>
            </a:extLst>
          </p:cNvPr>
          <p:cNvSpPr>
            <a:spLocks xmlns:a="http://schemas.openxmlformats.org/drawingml/2006/main" noGrp="1"/>
          </p:cNvSpPr>
          <p:nvPr/>
        </p:nvSpPr>
        <p:spPr>
          <a:xfrm xmlns:a="http://schemas.openxmlformats.org/drawingml/2006/main">
            <a:off x="1600200" y="4467225"/>
            <a:ext cx="4229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Show a short replay. Let the operator dismiss or dispatch.</a:t>
            </a:r>
          </a:p>
        </p:txBody>
      </p:sp>
      <p:sp>
        <p:nvSpPr>
          <p:cNvPr id="12" name="text-56">
            <a:extLst xmlns:a="http://schemas.openxmlformats.org/drawingml/2006/main">
              <a:ext uri="{FF2B5EF4-FFF2-40B4-BE49-F238E27FC236}">
                <a16:creationId xmlns:a16="http://schemas.microsoft.com/office/drawing/2014/main" id="{1350088F-5C7F-44E4-BE3E-3F5A1F446278}"/>
              </a:ext>
            </a:extLst>
          </p:cNvPr>
          <p:cNvSpPr>
            <a:spLocks xmlns:a="http://schemas.openxmlformats.org/drawingml/2006/main" noGrp="1"/>
          </p:cNvSpPr>
          <p:nvPr/>
        </p:nvSpPr>
        <p:spPr>
          <a:xfrm xmlns:a="http://schemas.openxmlformats.org/drawingml/2006/main">
            <a:off x="6381750" y="3981450"/>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4251D"/>
                </a:solidFill>
                <a:latin typeface="Arial"/>
                <a:ea typeface="Arial"/>
                <a:cs typeface="Arial"/>
              </a:defRPr>
            </a:pPr>
            <a:r>
              <a:rPr sz="4125" b="1">
                <a:solidFill>
                  <a:srgbClr val="14251D"/>
                </a:solidFill>
                <a:latin typeface="Arial"/>
                <a:ea typeface="Arial"/>
                <a:cs typeface="Arial"/>
              </a:rPr>
              <a:t>04</a:t>
            </a:r>
          </a:p>
        </p:txBody>
      </p:sp>
      <p:sp>
        <p:nvSpPr>
          <p:cNvPr id="13" name="text-57">
            <a:extLst xmlns:a="http://schemas.openxmlformats.org/drawingml/2006/main">
              <a:ext uri="{FF2B5EF4-FFF2-40B4-BE49-F238E27FC236}">
                <a16:creationId xmlns:a16="http://schemas.microsoft.com/office/drawing/2014/main" id="{BF07A66B-6260-407E-8CF9-C62346D2BA2A}"/>
              </a:ext>
            </a:extLst>
          </p:cNvPr>
          <p:cNvSpPr>
            <a:spLocks xmlns:a="http://schemas.openxmlformats.org/drawingml/2006/main" noGrp="1"/>
          </p:cNvSpPr>
          <p:nvPr/>
        </p:nvSpPr>
        <p:spPr>
          <a:xfrm xmlns:a="http://schemas.openxmlformats.org/drawingml/2006/main">
            <a:off x="7448550" y="4019550"/>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Close the loop</a:t>
            </a:r>
          </a:p>
        </p:txBody>
      </p:sp>
      <p:sp>
        <p:nvSpPr>
          <p:cNvPr id="14" name="text-58">
            <a:extLst xmlns:a="http://schemas.openxmlformats.org/drawingml/2006/main">
              <a:ext uri="{FF2B5EF4-FFF2-40B4-BE49-F238E27FC236}">
                <a16:creationId xmlns:a16="http://schemas.microsoft.com/office/drawing/2014/main" id="{E9B5AB46-113E-4488-8353-30F690586682}"/>
              </a:ext>
            </a:extLst>
          </p:cNvPr>
          <p:cNvSpPr>
            <a:spLocks xmlns:a="http://schemas.openxmlformats.org/drawingml/2006/main" noGrp="1"/>
          </p:cNvSpPr>
          <p:nvPr/>
        </p:nvSpPr>
        <p:spPr>
          <a:xfrm xmlns:a="http://schemas.openxmlformats.org/drawingml/2006/main">
            <a:off x="7448550" y="4467225"/>
            <a:ext cx="4229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06056"/>
                </a:solidFill>
                <a:latin typeface="Arial"/>
                <a:ea typeface="Arial"/>
                <a:cs typeface="Arial"/>
              </a:defRPr>
            </a:pPr>
            <a:r>
              <a:rPr sz="1800" b="0">
                <a:solidFill>
                  <a:srgbClr val="506056"/>
                </a:solidFill>
                <a:latin typeface="Arial"/>
                <a:ea typeface="Arial"/>
                <a:cs typeface="Arial"/>
              </a:rPr>
              <a:t>Send an alert to phone two and record acknowledgement.</a:t>
            </a:r>
          </a:p>
        </p:txBody>
      </p:sp>
      <p:sp>
        <p:nvSpPr>
          <p:cNvPr id="15" name="text-59">
            <a:extLst xmlns:a="http://schemas.openxmlformats.org/drawingml/2006/main">
              <a:ext uri="{FF2B5EF4-FFF2-40B4-BE49-F238E27FC236}">
                <a16:creationId xmlns:a16="http://schemas.microsoft.com/office/drawing/2014/main" id="{142CED75-AC25-4A36-8DDC-67276FC89C40}"/>
              </a:ext>
            </a:extLst>
          </p:cNvPr>
          <p:cNvSpPr>
            <a:spLocks xmlns:a="http://schemas.openxmlformats.org/drawingml/2006/main" noGrp="1"/>
          </p:cNvSpPr>
          <p:nvPr/>
        </p:nvSpPr>
        <p:spPr>
          <a:xfrm xmlns:a="http://schemas.openxmlformats.org/drawingml/2006/main">
            <a:off x="552450" y="59340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6056"/>
                </a:solidFill>
                <a:latin typeface="Arial"/>
                <a:ea typeface="Arial"/>
                <a:cs typeface="Arial"/>
              </a:defRPr>
            </a:pPr>
            <a:r>
              <a:rPr sz="1425" b="0">
                <a:solidFill>
                  <a:srgbClr val="506056"/>
                </a:solidFill>
                <a:latin typeface="Arial"/>
                <a:ea typeface="Arial"/>
                <a:cs typeface="Arial"/>
              </a:rPr>
              <a:t>Current stage: idea. The prototype and its performance still need to be validated.</a:t>
            </a:r>
          </a:p>
        </p:txBody>
      </p:sp>
      <p:sp>
        <p:nvSpPr>
          <p:cNvPr id="16" name="text-60">
            <a:extLst xmlns:a="http://schemas.openxmlformats.org/drawingml/2006/main">
              <a:ext uri="{FF2B5EF4-FFF2-40B4-BE49-F238E27FC236}">
                <a16:creationId xmlns:a16="http://schemas.microsoft.com/office/drawing/2014/main" id="{352B4644-8D58-4837-BEBF-7F35C78CFCE9}"/>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17" name="text-61">
            <a:extLst xmlns:a="http://schemas.openxmlformats.org/drawingml/2006/main">
              <a:ext uri="{FF2B5EF4-FFF2-40B4-BE49-F238E27FC236}">
                <a16:creationId xmlns:a16="http://schemas.microsoft.com/office/drawing/2014/main" id="{7556B7D8-1A81-4FC7-9E75-0EDA46585048}"/>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06</a:t>
            </a:r>
          </a:p>
        </p:txBody>
      </p:sp>
    </p:spTree>
    <p:extLst>
      <p:ext uri="{BB962C8B-B14F-4D97-AF65-F5344CB8AC3E}">
        <p14:creationId xmlns:p14="http://schemas.microsoft.com/office/powerpoint/2010/main" val="1125310290"/>
      </p:ext>
    </p:extLst>
  </p:cSld>
</p:sld>
</file>

<file path=ppt/slides/slide7.xml><?xml version="1.0" encoding="utf-8"?>
<p:sld xmlns:p="http://schemas.openxmlformats.org/presentationml/2006/main">
  <p:cSld>
    <p:bg>
      <p:bgPr>
        <a:solidFill xmlns:a="http://schemas.openxmlformats.org/drawingml/2006/main">
          <a:srgbClr val="D2F56A"/>
        </a:solidFill>
      </p:bgPr>
    </p:bg>
    <p:spTree>
      <p:nvGrpSpPr>
        <p:cNvPr id="1" name=""/>
        <p:cNvGrpSpPr/>
        <p:nvPr/>
      </p:nvGrpSpPr>
      <p:grpSpPr>
        <a:xfrm xmlns:a="http://schemas.openxmlformats.org/drawingml/2006/main"/>
      </p:grpSpPr>
      <p:sp>
        <p:nvSpPr>
          <p:cNvPr id="12" name="text-62">
            <a:extLst xmlns:a="http://schemas.openxmlformats.org/drawingml/2006/main">
              <a:ext uri="{FF2B5EF4-FFF2-40B4-BE49-F238E27FC236}">
                <a16:creationId xmlns:a16="http://schemas.microsoft.com/office/drawing/2014/main" id="{F0103AC4-3CC8-486B-A3E7-0B6CCF05ABF9}"/>
              </a:ext>
            </a:extLst>
          </p:cNvPr>
          <p:cNvSpPr>
            <a:spLocks xmlns:a="http://schemas.openxmlformats.org/drawingml/2006/main" noGrp="1"/>
          </p:cNvSpPr>
          <p:nvPr/>
        </p:nvSpPr>
        <p:spPr>
          <a:xfrm xmlns:a="http://schemas.openxmlformats.org/drawingml/2006/main">
            <a:off x="533400" y="523875"/>
            <a:ext cx="67437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225" b="1">
                <a:solidFill>
                  <a:srgbClr val="14251D"/>
                </a:solidFill>
                <a:latin typeface="Arial"/>
                <a:ea typeface="Arial"/>
                <a:cs typeface="Arial"/>
              </a:defRPr>
            </a:pPr>
            <a:r>
              <a:rPr sz="6225" b="1">
                <a:solidFill>
                  <a:srgbClr val="14251D"/>
                </a:solidFill>
                <a:latin typeface="Arial"/>
                <a:ea typeface="Arial"/>
                <a:cs typeface="Arial"/>
              </a:rPr>
              <a:t>More time</a:t>
            </a:r>
          </a:p>
          <a:p xmlns:a="http://schemas.openxmlformats.org/drawingml/2006/main">
            <a:pPr>
              <a:defRPr sz="6225" b="1">
                <a:solidFill>
                  <a:srgbClr val="14251D"/>
                </a:solidFill>
                <a:latin typeface="Arial"/>
                <a:ea typeface="Arial"/>
                <a:cs typeface="Arial"/>
              </a:defRPr>
            </a:pPr>
            <a:r>
              <a:rPr sz="6225" b="1">
                <a:solidFill>
                  <a:srgbClr val="14251D"/>
                </a:solidFill>
                <a:latin typeface="Arial"/>
                <a:ea typeface="Arial"/>
                <a:cs typeface="Arial"/>
              </a:rPr>
              <a:t>to respond.</a:t>
            </a:r>
          </a:p>
        </p:txBody>
      </p:sp>
      <p:sp>
        <p:nvSpPr>
          <p:cNvPr id="2" name="text-63">
            <a:extLst xmlns:a="http://schemas.openxmlformats.org/drawingml/2006/main">
              <a:ext uri="{FF2B5EF4-FFF2-40B4-BE49-F238E27FC236}">
                <a16:creationId xmlns:a16="http://schemas.microsoft.com/office/drawing/2014/main" id="{C9FFDFC9-3D7B-4412-A612-AAC2E3C5D2F6}"/>
              </a:ext>
            </a:extLst>
          </p:cNvPr>
          <p:cNvSpPr>
            <a:spLocks xmlns:a="http://schemas.openxmlformats.org/drawingml/2006/main" noGrp="1"/>
          </p:cNvSpPr>
          <p:nvPr/>
        </p:nvSpPr>
        <p:spPr>
          <a:xfrm xmlns:a="http://schemas.openxmlformats.org/drawingml/2006/main">
            <a:off x="571500" y="3009900"/>
            <a:ext cx="6686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4251D"/>
                </a:solidFill>
                <a:latin typeface="Arial"/>
                <a:ea typeface="Arial"/>
                <a:cs typeface="Arial"/>
              </a:defRPr>
            </a:pPr>
            <a:r>
              <a:rPr sz="2400" b="0">
                <a:solidFill>
                  <a:srgbClr val="14251D"/>
                </a:solidFill>
                <a:latin typeface="Arial"/>
                <a:ea typeface="Arial"/>
                <a:cs typeface="Arial"/>
              </a:rPr>
              <a:t>The goal is earlier human attention</a:t>
            </a:r>
          </a:p>
          <a:p xmlns:a="http://schemas.openxmlformats.org/drawingml/2006/main">
            <a:pPr>
              <a:defRPr sz="2400" b="0">
                <a:solidFill>
                  <a:srgbClr val="14251D"/>
                </a:solidFill>
                <a:latin typeface="Arial"/>
                <a:ea typeface="Arial"/>
                <a:cs typeface="Arial"/>
              </a:defRPr>
            </a:pPr>
            <a:r>
              <a:rPr sz="2400" b="0">
                <a:solidFill>
                  <a:srgbClr val="14251D"/>
                </a:solidFill>
                <a:latin typeface="Arial"/>
                <a:ea typeface="Arial"/>
                <a:cs typeface="Arial"/>
              </a:rPr>
              <a:t>and a clearer path from alert to help.</a:t>
            </a:r>
          </a:p>
        </p:txBody>
      </p:sp>
      <p:sp>
        <p:nvSpPr>
          <p:cNvPr id="3" name="text-64">
            <a:extLst xmlns:a="http://schemas.openxmlformats.org/drawingml/2006/main">
              <a:ext uri="{FF2B5EF4-FFF2-40B4-BE49-F238E27FC236}">
                <a16:creationId xmlns:a16="http://schemas.microsoft.com/office/drawing/2014/main" id="{E02829D4-B79C-47ED-943F-6F2324B194BD}"/>
              </a:ext>
            </a:extLst>
          </p:cNvPr>
          <p:cNvSpPr>
            <a:spLocks xmlns:a="http://schemas.openxmlformats.org/drawingml/2006/main" noGrp="1"/>
          </p:cNvSpPr>
          <p:nvPr/>
        </p:nvSpPr>
        <p:spPr>
          <a:xfrm xmlns:a="http://schemas.openxmlformats.org/drawingml/2006/main">
            <a:off x="7858125" y="647700"/>
            <a:ext cx="38004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4251D"/>
                </a:solidFill>
                <a:latin typeface="Arial"/>
                <a:ea typeface="Arial"/>
                <a:cs typeface="Arial"/>
              </a:defRPr>
            </a:pPr>
            <a:r>
              <a:rPr sz="2325" b="1">
                <a:solidFill>
                  <a:srgbClr val="14251D"/>
                </a:solidFill>
                <a:latin typeface="Arial"/>
                <a:ea typeface="Arial"/>
                <a:cs typeface="Arial"/>
              </a:rPr>
              <a:t>What we would measure</a:t>
            </a:r>
          </a:p>
        </p:txBody>
      </p:sp>
      <p:sp>
        <p:nvSpPr>
          <p:cNvPr id="4" name="text-65">
            <a:extLst xmlns:a="http://schemas.openxmlformats.org/drawingml/2006/main">
              <a:ext uri="{FF2B5EF4-FFF2-40B4-BE49-F238E27FC236}">
                <a16:creationId xmlns:a16="http://schemas.microsoft.com/office/drawing/2014/main" id="{B94525FD-B190-410B-BD17-7FF243DDA8B8}"/>
              </a:ext>
            </a:extLst>
          </p:cNvPr>
          <p:cNvSpPr>
            <a:spLocks xmlns:a="http://schemas.openxmlformats.org/drawingml/2006/main" noGrp="1"/>
          </p:cNvSpPr>
          <p:nvPr/>
        </p:nvSpPr>
        <p:spPr>
          <a:xfrm xmlns:a="http://schemas.openxmlformats.org/drawingml/2006/main">
            <a:off x="7858125" y="1724025"/>
            <a:ext cx="378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51D"/>
                </a:solidFill>
                <a:latin typeface="Arial"/>
                <a:ea typeface="Arial"/>
                <a:cs typeface="Arial"/>
              </a:defRPr>
            </a:pPr>
            <a:r>
              <a:rPr sz="1950" b="0">
                <a:solidFill>
                  <a:srgbClr val="14251D"/>
                </a:solidFill>
                <a:latin typeface="Arial"/>
                <a:ea typeface="Arial"/>
                <a:cs typeface="Arial"/>
              </a:rPr>
              <a:t>Time to human review</a:t>
            </a:r>
          </a:p>
        </p:txBody>
      </p:sp>
      <p:sp>
        <p:nvSpPr>
          <p:cNvPr id="5" name="text-66">
            <a:extLst xmlns:a="http://schemas.openxmlformats.org/drawingml/2006/main">
              <a:ext uri="{FF2B5EF4-FFF2-40B4-BE49-F238E27FC236}">
                <a16:creationId xmlns:a16="http://schemas.microsoft.com/office/drawing/2014/main" id="{9B0F6160-A490-4497-AE0E-C57537A2D9C0}"/>
              </a:ext>
            </a:extLst>
          </p:cNvPr>
          <p:cNvSpPr>
            <a:spLocks xmlns:a="http://schemas.openxmlformats.org/drawingml/2006/main" noGrp="1"/>
          </p:cNvSpPr>
          <p:nvPr/>
        </p:nvSpPr>
        <p:spPr>
          <a:xfrm xmlns:a="http://schemas.openxmlformats.org/drawingml/2006/main">
            <a:off x="7858125" y="2562225"/>
            <a:ext cx="378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51D"/>
                </a:solidFill>
                <a:latin typeface="Arial"/>
                <a:ea typeface="Arial"/>
                <a:cs typeface="Arial"/>
              </a:defRPr>
            </a:pPr>
            <a:r>
              <a:rPr sz="1950" b="0">
                <a:solidFill>
                  <a:srgbClr val="14251D"/>
                </a:solidFill>
                <a:latin typeface="Arial"/>
                <a:ea typeface="Arial"/>
                <a:cs typeface="Arial"/>
              </a:rPr>
              <a:t>Time to staff acknowledgement</a:t>
            </a:r>
          </a:p>
        </p:txBody>
      </p:sp>
      <p:sp>
        <p:nvSpPr>
          <p:cNvPr id="6" name="text-67">
            <a:extLst xmlns:a="http://schemas.openxmlformats.org/drawingml/2006/main">
              <a:ext uri="{FF2B5EF4-FFF2-40B4-BE49-F238E27FC236}">
                <a16:creationId xmlns:a16="http://schemas.microsoft.com/office/drawing/2014/main" id="{DB927479-B99D-4210-913E-3F42AFD78B92}"/>
              </a:ext>
            </a:extLst>
          </p:cNvPr>
          <p:cNvSpPr>
            <a:spLocks xmlns:a="http://schemas.openxmlformats.org/drawingml/2006/main" noGrp="1"/>
          </p:cNvSpPr>
          <p:nvPr/>
        </p:nvSpPr>
        <p:spPr>
          <a:xfrm xmlns:a="http://schemas.openxmlformats.org/drawingml/2006/main">
            <a:off x="7858125" y="3400425"/>
            <a:ext cx="378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51D"/>
                </a:solidFill>
                <a:latin typeface="Arial"/>
                <a:ea typeface="Arial"/>
                <a:cs typeface="Arial"/>
              </a:defRPr>
            </a:pPr>
            <a:r>
              <a:rPr sz="1950" b="0">
                <a:solidFill>
                  <a:srgbClr val="14251D"/>
                </a:solidFill>
                <a:latin typeface="Arial"/>
                <a:ea typeface="Arial"/>
                <a:cs typeface="Arial"/>
              </a:rPr>
              <a:t>False alerts during ordinary activity</a:t>
            </a:r>
          </a:p>
        </p:txBody>
      </p:sp>
      <p:sp>
        <p:nvSpPr>
          <p:cNvPr id="7" name="text-68">
            <a:extLst xmlns:a="http://schemas.openxmlformats.org/drawingml/2006/main">
              <a:ext uri="{FF2B5EF4-FFF2-40B4-BE49-F238E27FC236}">
                <a16:creationId xmlns:a16="http://schemas.microsoft.com/office/drawing/2014/main" id="{701B7FB5-4EB8-43EF-B849-5CC6EB6A34DA}"/>
              </a:ext>
            </a:extLst>
          </p:cNvPr>
          <p:cNvSpPr>
            <a:spLocks xmlns:a="http://schemas.openxmlformats.org/drawingml/2006/main" noGrp="1"/>
          </p:cNvSpPr>
          <p:nvPr/>
        </p:nvSpPr>
        <p:spPr>
          <a:xfrm xmlns:a="http://schemas.openxmlformats.org/drawingml/2006/main">
            <a:off x="7858125" y="4238625"/>
            <a:ext cx="378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51D"/>
                </a:solidFill>
                <a:latin typeface="Arial"/>
                <a:ea typeface="Arial"/>
                <a:cs typeface="Arial"/>
              </a:defRPr>
            </a:pPr>
            <a:r>
              <a:rPr sz="1950" b="0">
                <a:solidFill>
                  <a:srgbClr val="14251D"/>
                </a:solidFill>
                <a:latin typeface="Arial"/>
                <a:ea typeface="Arial"/>
                <a:cs typeface="Arial"/>
              </a:rPr>
              <a:t>Missed events in staged tests</a:t>
            </a:r>
          </a:p>
        </p:txBody>
      </p:sp>
      <p:sp>
        <p:nvSpPr>
          <p:cNvPr id="8" name="text-69">
            <a:extLst xmlns:a="http://schemas.openxmlformats.org/drawingml/2006/main">
              <a:ext uri="{FF2B5EF4-FFF2-40B4-BE49-F238E27FC236}">
                <a16:creationId xmlns:a16="http://schemas.microsoft.com/office/drawing/2014/main" id="{6CE74036-6BA4-4D25-9F50-8834AA2163B4}"/>
              </a:ext>
            </a:extLst>
          </p:cNvPr>
          <p:cNvSpPr>
            <a:spLocks xmlns:a="http://schemas.openxmlformats.org/drawingml/2006/main" noGrp="1"/>
          </p:cNvSpPr>
          <p:nvPr/>
        </p:nvSpPr>
        <p:spPr>
          <a:xfrm xmlns:a="http://schemas.openxmlformats.org/drawingml/2006/main">
            <a:off x="571500" y="49911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4251D"/>
                </a:solidFill>
                <a:latin typeface="Arial"/>
                <a:ea typeface="Arial"/>
                <a:cs typeface="Arial"/>
              </a:defRPr>
            </a:pPr>
            <a:r>
              <a:rPr sz="2175" b="1">
                <a:solidFill>
                  <a:srgbClr val="14251D"/>
                </a:solidFill>
                <a:latin typeface="Arial"/>
                <a:ea typeface="Arial"/>
                <a:cs typeface="Arial"/>
              </a:rPr>
              <a:t>Start with one supervised campus trial</a:t>
            </a:r>
          </a:p>
        </p:txBody>
      </p:sp>
      <p:sp>
        <p:nvSpPr>
          <p:cNvPr id="9" name="text-70">
            <a:extLst xmlns:a="http://schemas.openxmlformats.org/drawingml/2006/main">
              <a:ext uri="{FF2B5EF4-FFF2-40B4-BE49-F238E27FC236}">
                <a16:creationId xmlns:a16="http://schemas.microsoft.com/office/drawing/2014/main" id="{AF3FAF82-4CFC-4A5C-BDF2-4EB801685AC1}"/>
              </a:ext>
            </a:extLst>
          </p:cNvPr>
          <p:cNvSpPr>
            <a:spLocks xmlns:a="http://schemas.openxmlformats.org/drawingml/2006/main" noGrp="1"/>
          </p:cNvSpPr>
          <p:nvPr/>
        </p:nvSpPr>
        <p:spPr>
          <a:xfrm xmlns:a="http://schemas.openxmlformats.org/drawingml/2006/main">
            <a:off x="571500" y="5543550"/>
            <a:ext cx="6877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4251D"/>
                </a:solidFill>
                <a:latin typeface="Arial"/>
                <a:ea typeface="Arial"/>
                <a:cs typeface="Arial"/>
              </a:defRPr>
            </a:pPr>
            <a:r>
              <a:rPr sz="1875" b="0">
                <a:solidFill>
                  <a:srgbClr val="14251D"/>
                </a:solidFill>
                <a:latin typeface="Arial"/>
                <a:ea typeface="Arial"/>
                <a:cs typeface="Arial"/>
              </a:rPr>
              <a:t>Test staged interactions and everyday movement.</a:t>
            </a:r>
          </a:p>
          <a:p xmlns:a="http://schemas.openxmlformats.org/drawingml/2006/main">
            <a:pPr>
              <a:defRPr sz="1875" b="0">
                <a:solidFill>
                  <a:srgbClr val="14251D"/>
                </a:solidFill>
                <a:latin typeface="Arial"/>
                <a:ea typeface="Arial"/>
                <a:cs typeface="Arial"/>
              </a:defRPr>
            </a:pPr>
            <a:r>
              <a:rPr sz="1875" b="0">
                <a:solidFill>
                  <a:srgbClr val="14251D"/>
                </a:solidFill>
                <a:latin typeface="Arial"/>
                <a:ea typeface="Arial"/>
                <a:cs typeface="Arial"/>
              </a:rPr>
              <a:t>Review false alerts with staff before expanding.</a:t>
            </a:r>
          </a:p>
        </p:txBody>
      </p:sp>
      <p:sp>
        <p:nvSpPr>
          <p:cNvPr id="10" name="text-71">
            <a:extLst xmlns:a="http://schemas.openxmlformats.org/drawingml/2006/main">
              <a:ext uri="{FF2B5EF4-FFF2-40B4-BE49-F238E27FC236}">
                <a16:creationId xmlns:a16="http://schemas.microsoft.com/office/drawing/2014/main" id="{3C366311-52D0-4E66-BD19-E1BAC55BF5CB}"/>
              </a:ext>
            </a:extLst>
          </p:cNvPr>
          <p:cNvSpPr>
            <a:spLocks xmlns:a="http://schemas.openxmlformats.org/drawingml/2006/main" noGrp="1"/>
          </p:cNvSpPr>
          <p:nvPr/>
        </p:nvSpPr>
        <p:spPr>
          <a:xfrm xmlns:a="http://schemas.openxmlformats.org/drawingml/2006/main">
            <a:off x="533400" y="63722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14251D"/>
                </a:solidFill>
                <a:latin typeface="Arial"/>
                <a:ea typeface="Arial"/>
                <a:cs typeface="Arial"/>
              </a:defRPr>
            </a:pPr>
            <a:r>
              <a:rPr sz="1125" b="1">
                <a:solidFill>
                  <a:srgbClr val="14251D"/>
                </a:solidFill>
                <a:latin typeface="Arial"/>
                <a:ea typeface="Arial"/>
                <a:cs typeface="Arial"/>
              </a:rPr>
              <a:t>NIVRA</a:t>
            </a:r>
          </a:p>
        </p:txBody>
      </p:sp>
      <p:sp>
        <p:nvSpPr>
          <p:cNvPr id="11" name="text-72">
            <a:extLst xmlns:a="http://schemas.openxmlformats.org/drawingml/2006/main">
              <a:ext uri="{FF2B5EF4-FFF2-40B4-BE49-F238E27FC236}">
                <a16:creationId xmlns:a16="http://schemas.microsoft.com/office/drawing/2014/main" id="{684B3532-0C84-4068-B160-5AEA96303847}"/>
              </a:ext>
            </a:extLst>
          </p:cNvPr>
          <p:cNvSpPr>
            <a:spLocks xmlns:a="http://schemas.openxmlformats.org/drawingml/2006/main" noGrp="1"/>
          </p:cNvSpPr>
          <p:nvPr/>
        </p:nvSpPr>
        <p:spPr>
          <a:xfrm xmlns:a="http://schemas.openxmlformats.org/drawingml/2006/main">
            <a:off x="11239500" y="6372225"/>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06056"/>
                </a:solidFill>
                <a:latin typeface="Arial"/>
                <a:ea typeface="Arial"/>
                <a:cs typeface="Arial"/>
              </a:defRPr>
            </a:pPr>
            <a:r>
              <a:rPr sz="1125" b="0">
                <a:solidFill>
                  <a:srgbClr val="506056"/>
                </a:solidFill>
                <a:latin typeface="Arial"/>
                <a:ea typeface="Arial"/>
                <a:cs typeface="Arial"/>
              </a:rPr>
              <a:t>07</a:t>
            </a:r>
          </a:p>
        </p:txBody>
      </p:sp>
    </p:spTree>
    <p:extLst>
      <p:ext uri="{BB962C8B-B14F-4D97-AF65-F5344CB8AC3E}">
        <p14:creationId xmlns:p14="http://schemas.microsoft.com/office/powerpoint/2010/main" val="493889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2026-09-20T20:53:07.1450000Z</dcterms:created>
  <dcterms:modified xsi:type="dcterms:W3CDTF">2026-09-20T20:53:07.1450000Z</dcterms:modified>
</coreProperties>
</file>