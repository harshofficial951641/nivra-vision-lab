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94218d901545d0" /><Relationship Type="http://schemas.openxmlformats.org/officeDocument/2006/relationships/extended-properties" Target="/docProps/app.xml" Id="R1a5a947f5d454647" /><Relationship Type="http://schemas.openxmlformats.org/officeDocument/2006/relationships/officeDocument" Target="/ppt/presentation.xml" Id="R38a3b86d172143c8" /></Relationships>
</file>

<file path=ppt/presentation.xml><?xml version="1.0" encoding="utf-8"?>
<p:presentation xmlns:p="http://schemas.openxmlformats.org/presentationml/2006/main">
  <p:sldMasterIdLst>
    <p:sldMasterId xmlns:r="http://schemas.openxmlformats.org/officeDocument/2006/relationships" id="2147483648" r:id="Rb5ff102254fe4cc3"/>
  </p:sldMasterIdLst>
  <p:notesMasterIdLst>
    <p:notesMasterId xmlns:r="http://schemas.openxmlformats.org/officeDocument/2006/relationships" r:id="R8df91ff19bdb4c03"/>
  </p:notesMasterIdLst>
  <p:sldIdLst>
    <p:sldId xmlns:r="http://schemas.openxmlformats.org/officeDocument/2006/relationships" id="256" r:id="R056555c081fa41f9"/>
    <p:sldId xmlns:r="http://schemas.openxmlformats.org/officeDocument/2006/relationships" id="257" r:id="R4736d32a1635443f"/>
    <p:sldId xmlns:r="http://schemas.openxmlformats.org/officeDocument/2006/relationships" id="258" r:id="Rfae7169900254407"/>
    <p:sldId xmlns:r="http://schemas.openxmlformats.org/officeDocument/2006/relationships" id="259" r:id="R452ec9d5584e430e"/>
    <p:sldId xmlns:r="http://schemas.openxmlformats.org/officeDocument/2006/relationships" id="260" r:id="Ra9ab7e091de1437d"/>
    <p:sldId xmlns:r="http://schemas.openxmlformats.org/officeDocument/2006/relationships" id="261" r:id="Rf2e888a47af14b0c"/>
    <p:sldId xmlns:r="http://schemas.openxmlformats.org/officeDocument/2006/relationships" id="262" r:id="R3a81c7a7ffa845b3"/>
    <p:sldId xmlns:r="http://schemas.openxmlformats.org/officeDocument/2006/relationships" id="263" r:id="Rfc22c54735824e81"/>
    <p:sldId xmlns:r="http://schemas.openxmlformats.org/officeDocument/2006/relationships" id="264" r:id="R3ea8a69a2a854acf"/>
    <p:sldId xmlns:r="http://schemas.openxmlformats.org/officeDocument/2006/relationships" id="265" r:id="R6ec2814d3a1640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fde5c9d6174b3a" /><Relationship Type="http://schemas.openxmlformats.org/officeDocument/2006/relationships/slideMaster" Target="/ppt/slideMasters/slideMaster1.xml" Id="Rb5ff102254fe4cc3" /><Relationship Type="http://schemas.openxmlformats.org/officeDocument/2006/relationships/notesMaster" Target="/ppt/notesMasters/notesMaster1.xml" Id="R8df91ff19bdb4c03" /><Relationship Type="http://schemas.openxmlformats.org/officeDocument/2006/relationships/presProps" Target="/ppt/presProps.xml" Id="R9fa2506624ce4d9e" /><Relationship Type="http://schemas.openxmlformats.org/officeDocument/2006/relationships/tableStyles" Target="/ppt/tableStyles.xml" Id="R160ee4e7683b4e99" /><Relationship Type="http://schemas.openxmlformats.org/officeDocument/2006/relationships/slide" Target="/ppt/slides/slide1.xml" Id="R056555c081fa41f9" /><Relationship Type="http://schemas.openxmlformats.org/officeDocument/2006/relationships/slide" Target="/ppt/slides/slide2.xml" Id="R4736d32a1635443f" /><Relationship Type="http://schemas.openxmlformats.org/officeDocument/2006/relationships/slide" Target="/ppt/slides/slide3.xml" Id="Rfae7169900254407" /><Relationship Type="http://schemas.openxmlformats.org/officeDocument/2006/relationships/slide" Target="/ppt/slides/slide4.xml" Id="R452ec9d5584e430e" /><Relationship Type="http://schemas.openxmlformats.org/officeDocument/2006/relationships/slide" Target="/ppt/slides/slide5.xml" Id="Ra9ab7e091de1437d" /><Relationship Type="http://schemas.openxmlformats.org/officeDocument/2006/relationships/slide" Target="/ppt/slides/slide6.xml" Id="Rf2e888a47af14b0c" /><Relationship Type="http://schemas.openxmlformats.org/officeDocument/2006/relationships/slide" Target="/ppt/slides/slide7.xml" Id="R3a81c7a7ffa845b3" /><Relationship Type="http://schemas.openxmlformats.org/officeDocument/2006/relationships/slide" Target="/ppt/slides/slide8.xml" Id="Rfc22c54735824e81" /><Relationship Type="http://schemas.openxmlformats.org/officeDocument/2006/relationships/slide" Target="/ppt/slides/slide9.xml" Id="R3ea8a69a2a854acf" /><Relationship Type="http://schemas.openxmlformats.org/officeDocument/2006/relationships/slide" Target="/ppt/slides/slide10.xml" Id="R6ec2814d3a1640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ddab1e8ea84b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9ba12db83a45ba" /><Relationship Type="http://schemas.openxmlformats.org/officeDocument/2006/relationships/notesMaster" Target="/ppt/notesMasters/notesMaster1.xml" Id="Re6fae9e0436d4a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214e9d5a8c4498" /><Relationship Type="http://schemas.openxmlformats.org/officeDocument/2006/relationships/notesMaster" Target="/ppt/notesMasters/notesMaster1.xml" Id="R13a86b8ac7a148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57aeb5da434ddc" /><Relationship Type="http://schemas.openxmlformats.org/officeDocument/2006/relationships/notesMaster" Target="/ppt/notesMasters/notesMaster1.xml" Id="R5c3563c7fdde49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00f1030c3f4ccc" /><Relationship Type="http://schemas.openxmlformats.org/officeDocument/2006/relationships/notesMaster" Target="/ppt/notesMasters/notesMaster1.xml" Id="R3c557f5c2bc64b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b3fa4689a143a6" /><Relationship Type="http://schemas.openxmlformats.org/officeDocument/2006/relationships/notesMaster" Target="/ppt/notesMasters/notesMaster1.xml" Id="R0a69cfb5c57f4a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9245e5421d498f" /><Relationship Type="http://schemas.openxmlformats.org/officeDocument/2006/relationships/notesMaster" Target="/ppt/notesMasters/notesMaster1.xml" Id="R54d3652ba04244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c355e190804062" /><Relationship Type="http://schemas.openxmlformats.org/officeDocument/2006/relationships/notesMaster" Target="/ppt/notesMasters/notesMaster1.xml" Id="Rfa793dc89f2849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97318faffc4c2d" /><Relationship Type="http://schemas.openxmlformats.org/officeDocument/2006/relationships/notesMaster" Target="/ppt/notesMasters/notesMaster1.xml" Id="Ra09d444ccfb44bd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f5e893136d42ba" /><Relationship Type="http://schemas.openxmlformats.org/officeDocument/2006/relationships/notesMaster" Target="/ppt/notesMasters/notesMaster1.xml" Id="Rc0cf68806a6347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905a346ec2473a" /><Relationship Type="http://schemas.openxmlformats.org/officeDocument/2006/relationships/notesMaster" Target="/ppt/notesMasters/notesMaster1.xml" Id="Rc0cc20bec76d4f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NIVRA is an idea, not a validated prototype. Structure follows Idea Submission Template BBH3.0, content slides 1–7. All generated imagery is conceptual. Personal details, team size and category left blank at user request. PP prefix is based on school usage, not a verified hackathon code list. T3 chosen for AI for Good.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NIVRA is an idea, not a validated prototype. Structure follows Idea Submission Template BBH3.0, content slides 1–7. All generated imagery is conceptual. Proposed users: campus safety staff, teachers and event marshals. Problem is a hypothesis to validate; no user interviews or impact measurements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NIVRA is an idea, not a validated prototype. Structure follows Idea Submission Template BBH3.0, content slides 1–7. All generated imagery is conceptual. Repository rule: repeated fast arm extensions and retractions directed toward another person’s upper body, normalized to body scale and checked across time. Standard mode requires three distinct pulses within five seconds; Early review uses two clear episodes with wider approach tolerance. This remains experimental, not a trained fight classifier.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NIVRA is an idea, not a validated prototype. Structure follows Idea Submission Template BBH3.0, content slides 1–7. All generated imagery is conceptual. Repository implementation: review events use an eight-second global alert cooldown. The browser keeps frames local; video is not uploaded, recorded or persisted. Human confirmation precedes dispatch. No facial recognition, identification or automatic policing.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NIVRA is an idea, not a validated prototype. Structure follows Idea Submission Template BBH3.0, content slides 1–7. All generated imagery is conceptual. Repository stack: React 19.2.8, TypeScript 6, Vite 8.2.1, @mediapipe/tasks-vision 1.0.1, local WASM assets, Pose Landmarker Full/Lite float16 bundles and EfficientDet-Lite0. GPU is attempted for real-time pose; CPU is the reference fallback and review-scan runtime.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NIVRA is an idea, not a validated prototype. Structure follows Idea Submission Template BBH3.0, content slides 1–7. All generated imagery is conceptual. Repository evidence: local camera/video/test scenario paths, local model assets, CPU fallback and recovery notices. npm run verify passed in the cloned repository: lint, 211 tests and production build. These checks do not establish real-world detection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NIVRA is an idea, not a validated prototype. Structure follows Idea Submission Template BBH3.0, content slides 1–7. All generated imagery is conceptual. Current stage remains idea. No data, working end-to-end prototype or performance results are asserted. Include poor lighting, occlusion and lost-network cases. Obtain school permission and privacy review before any trial.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NIVRA is an idea, not a validated prototype. Structure follows Idea Submission Template BBH3.0, content slides 1–7. All generated imagery is conceptual. The three headline figures come from the user-supplied public_violence_metrics_report.pdf. They establish problem scale, not NIVRA performance or causal impact. Verify the report independently before formal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NIVRA is an idea, not a validated prototype. Structure follows Idea Submission Template BBH3.0, content slides 1–7. All generated imagery is conceptual. Sources: https://dsel.education.gov.in/sites/default/files/guidelines/guidelines_sss.pdf</a:t>
            </a:r>
          </a:p>
          <a:p xmlns:a="http://schemas.openxmlformats.org/drawingml/2006/main">
            <a:r>
              <a:t>https://research.google/blog/on-device-real-time-body-pose-tracking-with-mediapipe-blazepose/</a:t>
            </a:r>
          </a:p>
          <a:p xmlns:a="http://schemas.openxmlformats.org/drawingml/2006/main">
            <a:r>
              <a:t>https://developers.google.com/edge/mediapipe/solutions/vision/pose_landmarker/web_js</a:t>
            </a:r>
          </a:p>
          <a:p xmlns:a="http://schemas.openxmlformats.org/drawingml/2006/main">
            <a:r>
              <a:t>https://www.axis.com/products/axis-object-analytics</a:t>
            </a:r>
          </a:p>
          <a:p xmlns:a="http://schemas.openxmlformats.org/drawingml/2006/main">
            <a:r>
              <a:t>https://www.meity.gov.in/static/uploads/2024/06/2bf1f0e9f04e6fb4f8fef35e82c42aa5.pdf</a:t>
            </a:r>
          </a:p>
          <a:p xmlns:a="http://schemas.openxmlformats.org/drawingml/2006/main">
            <a:r>
              <a:t>Sources accessed September 2026. Dataset is planned self-collected material, not an existing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NIVRA is an idea, not a validated prototype. Structure follows Idea Submission Template BBH3.0, content slides 1–7. All generated imagery is conceptual. Student details copied from user registration data. Mentor fields remain blank; student dates of birth were supplied by the team. Tables are native and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124298db3c42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3280514dd34f87" /><Relationship Type="http://schemas.openxmlformats.org/officeDocument/2006/relationships/slideLayout" Target="/ppt/slideLayouts/slideLayout1.xml" Id="R34810a8c9c984c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810a8c9c984c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c74c62f4274703" /><Relationship Type="http://schemas.openxmlformats.org/officeDocument/2006/relationships/image" Target="/ppt/media/image.png" Id="Rc2695356d2a84ec3" /><Relationship Type="http://schemas.openxmlformats.org/officeDocument/2006/relationships/image" Target="/ppt/media/image2.png" Id="Ra5cabbbfd6504823" /><Relationship Type="http://schemas.openxmlformats.org/officeDocument/2006/relationships/notesSlide" Target="/ppt/notesSlides/notesSlide1.xml" Id="Rf7c65814bfa24a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e73bf7df4404a2c" /><Relationship Type="http://schemas.openxmlformats.org/officeDocument/2006/relationships/image" Target="/ppt/media/image3.png" Id="R7b5b7231f8f247aa" /><Relationship Type="http://schemas.openxmlformats.org/officeDocument/2006/relationships/image" Target="/ppt/media/image4.png" Id="R7628a2d298784c09" /><Relationship Type="http://schemas.openxmlformats.org/officeDocument/2006/relationships/notesSlide" Target="/ppt/notesSlides/notesSlide2.xml" Id="Rb96c4ce61b3741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bebf2d7389044fd" /><Relationship Type="http://schemas.openxmlformats.org/officeDocument/2006/relationships/image" Target="/ppt/media/image5.png" Id="R03a1486560f14323" /><Relationship Type="http://schemas.openxmlformats.org/officeDocument/2006/relationships/notesSlide" Target="/ppt/notesSlides/notesSlide3.xml" Id="R38d558abafe444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f0ac6b75faf465f" /><Relationship Type="http://schemas.openxmlformats.org/officeDocument/2006/relationships/image" Target="/ppt/media/image6.png" Id="Ra72407b454f246c9" /><Relationship Type="http://schemas.openxmlformats.org/officeDocument/2006/relationships/notesSlide" Target="/ppt/notesSlides/notesSlide4.xml" Id="R5df9b62d95c94d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ac7adbb48b5418c" /><Relationship Type="http://schemas.openxmlformats.org/officeDocument/2006/relationships/notesSlide" Target="/ppt/notesSlides/notesSlide5.xml" Id="Ra8db7c2180054e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969f5838eae4358" /><Relationship Type="http://schemas.openxmlformats.org/officeDocument/2006/relationships/notesSlide" Target="/ppt/notesSlides/notesSlide6.xml" Id="R02f728f862f94a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5e33a849960457a" /><Relationship Type="http://schemas.openxmlformats.org/officeDocument/2006/relationships/notesSlide" Target="/ppt/notesSlides/notesSlide7.xml" Id="R352f0d137d5b44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cd2cbc50e98403d" /><Relationship Type="http://schemas.openxmlformats.org/officeDocument/2006/relationships/notesSlide" Target="/ppt/notesSlides/notesSlide8.xml" Id="R8e2ac6b09a6b4d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dd160c11d7a47de" /><Relationship Type="http://schemas.openxmlformats.org/officeDocument/2006/relationships/notesSlide" Target="/ppt/notesSlides/notesSlide9.xml" Id="Ra0581979a9874b6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b948fbb627a41dd" /><Relationship Type="http://schemas.openxmlformats.org/officeDocument/2006/relationships/notesSlide" Target="/ppt/notesSlides/notesSlide10.xml" Id="Rd5a1bbad8b6d452d" /></Relationships>
</file>

<file path=ppt/slides/slide1.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sp>
        <p:nvSpPr>
          <p:cNvPr id="15" name="text-1">
            <a:extLst xmlns:a="http://schemas.openxmlformats.org/drawingml/2006/main">
              <a:ext uri="{FF2B5EF4-FFF2-40B4-BE49-F238E27FC236}">
                <a16:creationId xmlns:a16="http://schemas.microsoft.com/office/drawing/2014/main" id="{EA419153-E96E-4BB3-BBB3-E097D11F50D3}"/>
              </a:ext>
            </a:extLst>
          </p:cNvPr>
          <p:cNvSpPr>
            <a:spLocks xmlns:a="http://schemas.openxmlformats.org/drawingml/2006/main" noGrp="1"/>
          </p:cNvSpPr>
          <p:nvPr/>
        </p:nvSpPr>
        <p:spPr>
          <a:xfrm xmlns:a="http://schemas.openxmlformats.org/drawingml/2006/main">
            <a:off x="533400" y="645795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06056"/>
                </a:solidFill>
                <a:latin typeface="Arial"/>
                <a:ea typeface="Arial"/>
                <a:cs typeface="Arial"/>
              </a:defRPr>
            </a:pPr>
            <a:r>
              <a:rPr sz="975" b="0">
                <a:solidFill>
                  <a:srgbClr val="506056"/>
                </a:solidFill>
                <a:latin typeface="Arial"/>
                <a:ea typeface="Arial"/>
                <a:cs typeface="Arial"/>
              </a:rPr>
              <a:t>NIVRA / BAL BHARATI HACKATHON 3.0</a:t>
            </a:r>
          </a:p>
        </p:txBody>
      </p:sp>
      <p:sp>
        <p:nvSpPr>
          <p:cNvPr id="2" name="text-2">
            <a:extLst xmlns:a="http://schemas.openxmlformats.org/drawingml/2006/main">
              <a:ext uri="{FF2B5EF4-FFF2-40B4-BE49-F238E27FC236}">
                <a16:creationId xmlns:a16="http://schemas.microsoft.com/office/drawing/2014/main" id="{43C59819-0AE2-4CA2-A764-CFB45C9ECFF6}"/>
              </a:ext>
            </a:extLst>
          </p:cNvPr>
          <p:cNvSpPr>
            <a:spLocks xmlns:a="http://schemas.openxmlformats.org/drawingml/2006/main" noGrp="1"/>
          </p:cNvSpPr>
          <p:nvPr/>
        </p:nvSpPr>
        <p:spPr>
          <a:xfrm xmlns:a="http://schemas.openxmlformats.org/drawingml/2006/main">
            <a:off x="11239500" y="64198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14251D"/>
                </a:solidFill>
                <a:latin typeface="Arial"/>
                <a:ea typeface="Arial"/>
                <a:cs typeface="Arial"/>
              </a:defRPr>
            </a:pPr>
            <a:r>
              <a:rPr sz="1200" b="0">
                <a:solidFill>
                  <a:srgbClr val="14251D"/>
                </a:solidFill>
                <a:latin typeface="Arial"/>
                <a:ea typeface="Arial"/>
                <a:cs typeface="Arial"/>
              </a:rPr>
              <a:t>01</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2695356d2a84ec3"/>
          <a:srcRect xmlns:a="http://schemas.openxmlformats.org/drawingml/2006/main" l="7870" t="0" r="7870"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5cabbbfd6504823"/>
          <a:stretch xmlns:a="http://schemas.openxmlformats.org/drawingml/2006/main"/>
        </p:blipFill>
        <p:spPr>
          <a:xfrm xmlns:a="http://schemas.openxmlformats.org/drawingml/2006/main">
            <a:off x="457200" y="314325"/>
            <a:ext cx="781050" cy="78105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9D630E50-0A15-40B8-993E-55BCA0951CED}"/>
              </a:ext>
            </a:extLst>
          </p:cNvPr>
          <p:cNvSpPr>
            <a:spLocks xmlns:a="http://schemas.openxmlformats.org/drawingml/2006/main" noGrp="1"/>
          </p:cNvSpPr>
          <p:nvPr/>
        </p:nvSpPr>
        <p:spPr>
          <a:xfrm xmlns:a="http://schemas.openxmlformats.org/drawingml/2006/main">
            <a:off x="1304925" y="438150"/>
            <a:ext cx="600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100" b="1">
                <a:solidFill>
                  <a:srgbClr val="14251D"/>
                </a:solidFill>
                <a:latin typeface="Arial"/>
                <a:ea typeface="Arial"/>
                <a:cs typeface="Arial"/>
              </a:defRPr>
            </a:pPr>
            <a:r>
              <a:rPr sz="5100" b="1">
                <a:solidFill>
                  <a:srgbClr val="14251D"/>
                </a:solidFill>
                <a:latin typeface="Arial"/>
                <a:ea typeface="Arial"/>
                <a:cs typeface="Arial"/>
              </a:rPr>
              <a:t>NIVRA</a:t>
            </a:r>
          </a:p>
        </p:txBody>
      </p:sp>
      <p:sp>
        <p:nvSpPr>
          <p:cNvPr id="6" name="text-4">
            <a:extLst xmlns:a="http://schemas.openxmlformats.org/drawingml/2006/main">
              <a:ext uri="{FF2B5EF4-FFF2-40B4-BE49-F238E27FC236}">
                <a16:creationId xmlns:a16="http://schemas.microsoft.com/office/drawing/2014/main" id="{2D43F181-EF6A-4F6E-AD43-49E1C097DEC5}"/>
              </a:ext>
            </a:extLst>
          </p:cNvPr>
          <p:cNvSpPr>
            <a:spLocks xmlns:a="http://schemas.openxmlformats.org/drawingml/2006/main" noGrp="1"/>
          </p:cNvSpPr>
          <p:nvPr/>
        </p:nvSpPr>
        <p:spPr>
          <a:xfrm xmlns:a="http://schemas.openxmlformats.org/drawingml/2006/main">
            <a:off x="533400" y="1466850"/>
            <a:ext cx="70961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250" b="1">
                <a:solidFill>
                  <a:srgbClr val="14251D"/>
                </a:solidFill>
                <a:latin typeface="Arial"/>
                <a:ea typeface="Arial"/>
                <a:cs typeface="Arial"/>
              </a:defRPr>
            </a:pPr>
            <a:r>
              <a:rPr sz="5250" b="1">
                <a:solidFill>
                  <a:srgbClr val="14251D"/>
                </a:solidFill>
                <a:latin typeface="Arial"/>
                <a:ea typeface="Arial"/>
                <a:cs typeface="Arial"/>
              </a:rPr>
              <a:t>Before impact.</a:t>
            </a:r>
          </a:p>
        </p:txBody>
      </p:sp>
      <p:sp>
        <p:nvSpPr>
          <p:cNvPr id="7" name="text-5">
            <a:extLst xmlns:a="http://schemas.openxmlformats.org/drawingml/2006/main">
              <a:ext uri="{FF2B5EF4-FFF2-40B4-BE49-F238E27FC236}">
                <a16:creationId xmlns:a16="http://schemas.microsoft.com/office/drawing/2014/main" id="{07A1ABF1-8567-459C-AAD1-D196D3F5C525}"/>
              </a:ext>
            </a:extLst>
          </p:cNvPr>
          <p:cNvSpPr>
            <a:spLocks xmlns:a="http://schemas.openxmlformats.org/drawingml/2006/main" noGrp="1"/>
          </p:cNvSpPr>
          <p:nvPr/>
        </p:nvSpPr>
        <p:spPr>
          <a:xfrm xmlns:a="http://schemas.openxmlformats.org/drawingml/2006/main">
            <a:off x="561975" y="2514600"/>
            <a:ext cx="6972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06056"/>
                </a:solidFill>
                <a:latin typeface="Arial"/>
                <a:ea typeface="Arial"/>
                <a:cs typeface="Arial"/>
              </a:defRPr>
            </a:pPr>
            <a:r>
              <a:rPr sz="1575" b="0">
                <a:solidFill>
                  <a:srgbClr val="506056"/>
                </a:solidFill>
                <a:latin typeface="Arial"/>
                <a:ea typeface="Arial"/>
                <a:cs typeface="Arial"/>
              </a:rPr>
              <a:t>Bal Bharati Hackathon 3.0 / Idea Submission</a:t>
            </a:r>
          </a:p>
        </p:txBody>
      </p:sp>
      <p:sp>
        <p:nvSpPr>
          <p:cNvPr id="8" name="text-6">
            <a:extLst xmlns:a="http://schemas.openxmlformats.org/drawingml/2006/main">
              <a:ext uri="{FF2B5EF4-FFF2-40B4-BE49-F238E27FC236}">
                <a16:creationId xmlns:a16="http://schemas.microsoft.com/office/drawing/2014/main" id="{254C7B49-1229-46E2-BCA2-5D2D3EAB08D8}"/>
              </a:ext>
            </a:extLst>
          </p:cNvPr>
          <p:cNvSpPr>
            <a:spLocks xmlns:a="http://schemas.openxmlformats.org/drawingml/2006/main" noGrp="1"/>
          </p:cNvSpPr>
          <p:nvPr/>
        </p:nvSpPr>
        <p:spPr>
          <a:xfrm xmlns:a="http://schemas.openxmlformats.org/drawingml/2006/main">
            <a:off x="561975" y="3124200"/>
            <a:ext cx="676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506056"/>
                </a:solidFill>
                <a:latin typeface="Arial"/>
                <a:ea typeface="Arial"/>
                <a:cs typeface="Arial"/>
              </a:defRPr>
            </a:pPr>
            <a:r>
              <a:rPr sz="1200" b="1">
                <a:solidFill>
                  <a:srgbClr val="506056"/>
                </a:solidFill>
                <a:latin typeface="Arial"/>
                <a:ea typeface="Arial"/>
                <a:cs typeface="Arial"/>
              </a:rPr>
              <a:t>PROBLEM STATEMENT</a:t>
            </a:r>
          </a:p>
        </p:txBody>
      </p:sp>
      <p:sp>
        <p:nvSpPr>
          <p:cNvPr id="9" name="text-7">
            <a:extLst xmlns:a="http://schemas.openxmlformats.org/drawingml/2006/main">
              <a:ext uri="{FF2B5EF4-FFF2-40B4-BE49-F238E27FC236}">
                <a16:creationId xmlns:a16="http://schemas.microsoft.com/office/drawing/2014/main" id="{BF20DE4D-0B16-46C5-872D-E48B559E606D}"/>
              </a:ext>
            </a:extLst>
          </p:cNvPr>
          <p:cNvSpPr>
            <a:spLocks xmlns:a="http://schemas.openxmlformats.org/drawingml/2006/main" noGrp="1"/>
          </p:cNvSpPr>
          <p:nvPr/>
        </p:nvSpPr>
        <p:spPr>
          <a:xfrm xmlns:a="http://schemas.openxmlformats.org/drawingml/2006/main">
            <a:off x="561975" y="3476625"/>
            <a:ext cx="676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4251D"/>
                </a:solidFill>
                <a:latin typeface="Arial"/>
                <a:ea typeface="Arial"/>
                <a:cs typeface="Arial"/>
              </a:defRPr>
            </a:pPr>
            <a:r>
              <a:rPr sz="2100" b="1">
                <a:solidFill>
                  <a:srgbClr val="14251D"/>
                </a:solidFill>
                <a:latin typeface="Arial"/>
                <a:ea typeface="Arial"/>
                <a:cs typeface="Arial"/>
              </a:rPr>
              <a:t>Developing incidents can go unnoticed;</a:t>
            </a:r>
          </a:p>
          <a:p xmlns:a="http://schemas.openxmlformats.org/drawingml/2006/main">
            <a:pPr>
              <a:defRPr sz="2100" b="1">
                <a:solidFill>
                  <a:srgbClr val="14251D"/>
                </a:solidFill>
                <a:latin typeface="Arial"/>
                <a:ea typeface="Arial"/>
                <a:cs typeface="Arial"/>
              </a:defRPr>
            </a:pPr>
            <a:r>
              <a:rPr sz="2100" b="1">
                <a:solidFill>
                  <a:srgbClr val="14251D"/>
                </a:solidFill>
                <a:latin typeface="Arial"/>
                <a:ea typeface="Arial"/>
                <a:cs typeface="Arial"/>
              </a:rPr>
              <a:t>camera footage alone cannot bring help.</a:t>
            </a:r>
          </a:p>
        </p:txBody>
      </p:sp>
      <p:sp>
        <p:nvSpPr>
          <p:cNvPr id="10" name="text-8">
            <a:extLst xmlns:a="http://schemas.openxmlformats.org/drawingml/2006/main">
              <a:ext uri="{FF2B5EF4-FFF2-40B4-BE49-F238E27FC236}">
                <a16:creationId xmlns:a16="http://schemas.microsoft.com/office/drawing/2014/main" id="{80BAFC1B-BAAE-4721-A5C8-C01504B7A1F3}"/>
              </a:ext>
            </a:extLst>
          </p:cNvPr>
          <p:cNvSpPr>
            <a:spLocks xmlns:a="http://schemas.openxmlformats.org/drawingml/2006/main" noGrp="1"/>
          </p:cNvSpPr>
          <p:nvPr/>
        </p:nvSpPr>
        <p:spPr>
          <a:xfrm xmlns:a="http://schemas.openxmlformats.org/drawingml/2006/main">
            <a:off x="561975" y="4552950"/>
            <a:ext cx="6838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4251D"/>
                </a:solidFill>
                <a:latin typeface="Arial"/>
                <a:ea typeface="Arial"/>
                <a:cs typeface="Arial"/>
              </a:defRPr>
            </a:pPr>
            <a:r>
              <a:rPr sz="1725" b="0">
                <a:solidFill>
                  <a:srgbClr val="14251D"/>
                </a:solidFill>
                <a:latin typeface="Arial"/>
                <a:ea typeface="Arial"/>
                <a:cs typeface="Arial"/>
              </a:rPr>
              <a:t>Theme: T3 — AI for Good</a:t>
            </a:r>
          </a:p>
        </p:txBody>
      </p:sp>
      <p:sp>
        <p:nvSpPr>
          <p:cNvPr id="11" name="text-9">
            <a:extLst xmlns:a="http://schemas.openxmlformats.org/drawingml/2006/main">
              <a:ext uri="{FF2B5EF4-FFF2-40B4-BE49-F238E27FC236}">
                <a16:creationId xmlns:a16="http://schemas.microsoft.com/office/drawing/2014/main" id="{053B0968-1ADA-4753-8787-A0EF9C9150B4}"/>
              </a:ext>
            </a:extLst>
          </p:cNvPr>
          <p:cNvSpPr>
            <a:spLocks xmlns:a="http://schemas.openxmlformats.org/drawingml/2006/main" noGrp="1"/>
          </p:cNvSpPr>
          <p:nvPr/>
        </p:nvSpPr>
        <p:spPr>
          <a:xfrm xmlns:a="http://schemas.openxmlformats.org/drawingml/2006/main">
            <a:off x="561975" y="4943475"/>
            <a:ext cx="6838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4251D"/>
                </a:solidFill>
                <a:latin typeface="Arial"/>
                <a:ea typeface="Arial"/>
                <a:cs typeface="Arial"/>
              </a:defRPr>
            </a:pPr>
            <a:r>
              <a:rPr sz="1725" b="0">
                <a:solidFill>
                  <a:srgbClr val="14251D"/>
                </a:solidFill>
                <a:latin typeface="Arial"/>
                <a:ea typeface="Arial"/>
                <a:cs typeface="Arial"/>
              </a:rPr>
              <a:t>Team: Damage Control</a:t>
            </a:r>
          </a:p>
        </p:txBody>
      </p:sp>
      <p:sp>
        <p:nvSpPr>
          <p:cNvPr id="12" name="text-10">
            <a:extLst xmlns:a="http://schemas.openxmlformats.org/drawingml/2006/main">
              <a:ext uri="{FF2B5EF4-FFF2-40B4-BE49-F238E27FC236}">
                <a16:creationId xmlns:a16="http://schemas.microsoft.com/office/drawing/2014/main" id="{291E40F0-4304-45E2-AB2C-F0DE97D44513}"/>
              </a:ext>
            </a:extLst>
          </p:cNvPr>
          <p:cNvSpPr>
            <a:spLocks xmlns:a="http://schemas.openxmlformats.org/drawingml/2006/main" noGrp="1"/>
          </p:cNvSpPr>
          <p:nvPr/>
        </p:nvSpPr>
        <p:spPr>
          <a:xfrm xmlns:a="http://schemas.openxmlformats.org/drawingml/2006/main">
            <a:off x="561975" y="533400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14251D"/>
                </a:solidFill>
                <a:latin typeface="Arial"/>
                <a:ea typeface="Arial"/>
                <a:cs typeface="Arial"/>
              </a:defRPr>
            </a:pPr>
            <a:r>
              <a:rPr sz="1650" b="0">
                <a:solidFill>
                  <a:srgbClr val="14251D"/>
                </a:solidFill>
                <a:latin typeface="Arial"/>
                <a:ea typeface="Arial"/>
                <a:cs typeface="Arial"/>
              </a:rPr>
              <a:t>School: Bal Bharati Public School, Pitampura</a:t>
            </a:r>
          </a:p>
        </p:txBody>
      </p:sp>
      <p:sp>
        <p:nvSpPr>
          <p:cNvPr id="13" name="text-11">
            <a:extLst xmlns:a="http://schemas.openxmlformats.org/drawingml/2006/main">
              <a:ext uri="{FF2B5EF4-FFF2-40B4-BE49-F238E27FC236}">
                <a16:creationId xmlns:a16="http://schemas.microsoft.com/office/drawing/2014/main" id="{6F4F7746-7423-4A4B-B5C9-CD5DB10AE6DC}"/>
              </a:ext>
            </a:extLst>
          </p:cNvPr>
          <p:cNvSpPr>
            <a:spLocks xmlns:a="http://schemas.openxmlformats.org/drawingml/2006/main" noGrp="1"/>
          </p:cNvSpPr>
          <p:nvPr/>
        </p:nvSpPr>
        <p:spPr>
          <a:xfrm xmlns:a="http://schemas.openxmlformats.org/drawingml/2006/main">
            <a:off x="561975" y="5734050"/>
            <a:ext cx="6838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14251D"/>
                </a:solidFill>
                <a:latin typeface="Arial"/>
                <a:ea typeface="Arial"/>
                <a:cs typeface="Arial"/>
              </a:defRPr>
            </a:pPr>
            <a:r>
              <a:rPr sz="1650" b="0">
                <a:solidFill>
                  <a:srgbClr val="14251D"/>
                </a:solidFill>
                <a:latin typeface="Arial"/>
                <a:ea typeface="Arial"/>
                <a:cs typeface="Arial"/>
              </a:rPr>
              <a:t>Team leader: __________________________</a:t>
            </a:r>
          </a:p>
        </p:txBody>
      </p:sp>
      <p:sp>
        <p:nvSpPr>
          <p:cNvPr id="14" name="text-12">
            <a:extLst xmlns:a="http://schemas.openxmlformats.org/drawingml/2006/main">
              <a:ext uri="{FF2B5EF4-FFF2-40B4-BE49-F238E27FC236}">
                <a16:creationId xmlns:a16="http://schemas.microsoft.com/office/drawing/2014/main" id="{1B30937C-48B0-41F6-B81F-98EEECF3B0CB}"/>
              </a:ext>
            </a:extLst>
          </p:cNvPr>
          <p:cNvSpPr>
            <a:spLocks xmlns:a="http://schemas.openxmlformats.org/drawingml/2006/main" noGrp="1"/>
          </p:cNvSpPr>
          <p:nvPr/>
        </p:nvSpPr>
        <p:spPr>
          <a:xfrm xmlns:a="http://schemas.openxmlformats.org/drawingml/2006/main">
            <a:off x="561975" y="6096000"/>
            <a:ext cx="708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6056"/>
                </a:solidFill>
                <a:latin typeface="Arial"/>
                <a:ea typeface="Arial"/>
                <a:cs typeface="Arial"/>
              </a:defRPr>
            </a:pPr>
            <a:r>
              <a:rPr sz="1425" b="0">
                <a:solidFill>
                  <a:srgbClr val="506056"/>
                </a:solidFill>
                <a:latin typeface="Arial"/>
                <a:ea typeface="Arial"/>
                <a:cs typeface="Arial"/>
              </a:rPr>
              <a:t>Team size (excluding mentor): 5     Category: ____</a:t>
            </a:r>
          </a:p>
        </p:txBody>
      </p:sp>
    </p:spTree>
    <p:extLst>
      <p:ext uri="{BB962C8B-B14F-4D97-AF65-F5344CB8AC3E}">
        <p14:creationId xmlns:p14="http://schemas.microsoft.com/office/powerpoint/2010/main" val="1318016559"/>
      </p:ext>
    </p:extLst>
  </p:cSld>
</p:sld>
</file>

<file path=ppt/slides/slide2.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sp>
        <p:nvSpPr>
          <p:cNvPr id="13" name="text-13">
            <a:extLst xmlns:a="http://schemas.openxmlformats.org/drawingml/2006/main">
              <a:ext uri="{FF2B5EF4-FFF2-40B4-BE49-F238E27FC236}">
                <a16:creationId xmlns:a16="http://schemas.microsoft.com/office/drawing/2014/main" id="{5CBB599C-2D49-4382-9B87-817C8D7E27AF}"/>
              </a:ext>
            </a:extLst>
          </p:cNvPr>
          <p:cNvSpPr>
            <a:spLocks xmlns:a="http://schemas.openxmlformats.org/drawingml/2006/main" noGrp="1"/>
          </p:cNvSpPr>
          <p:nvPr/>
        </p:nvSpPr>
        <p:spPr>
          <a:xfrm xmlns:a="http://schemas.openxmlformats.org/drawingml/2006/main">
            <a:off x="533400" y="4476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4251D"/>
                </a:solidFill>
                <a:latin typeface="Arial"/>
                <a:ea typeface="Arial"/>
                <a:cs typeface="Arial"/>
              </a:defRPr>
            </a:pPr>
            <a:r>
              <a:rPr sz="3600" b="1">
                <a:solidFill>
                  <a:srgbClr val="14251D"/>
                </a:solidFill>
                <a:latin typeface="Arial"/>
                <a:ea typeface="Arial"/>
                <a:cs typeface="Arial"/>
              </a:rPr>
              <a:t>Your Idea</a:t>
            </a:r>
          </a:p>
        </p:txBody>
      </p:sp>
      <p:sp>
        <p:nvSpPr>
          <p:cNvPr id="2" name="text-14">
            <a:extLst xmlns:a="http://schemas.openxmlformats.org/drawingml/2006/main">
              <a:ext uri="{FF2B5EF4-FFF2-40B4-BE49-F238E27FC236}">
                <a16:creationId xmlns:a16="http://schemas.microsoft.com/office/drawing/2014/main" id="{C8BBE34B-D830-4AAD-A7D2-8AA8C5D6B327}"/>
              </a:ext>
            </a:extLst>
          </p:cNvPr>
          <p:cNvSpPr>
            <a:spLocks xmlns:a="http://schemas.openxmlformats.org/drawingml/2006/main" noGrp="1"/>
          </p:cNvSpPr>
          <p:nvPr/>
        </p:nvSpPr>
        <p:spPr>
          <a:xfrm xmlns:a="http://schemas.openxmlformats.org/drawingml/2006/main">
            <a:off x="533400" y="645795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06056"/>
                </a:solidFill>
                <a:latin typeface="Arial"/>
                <a:ea typeface="Arial"/>
                <a:cs typeface="Arial"/>
              </a:defRPr>
            </a:pPr>
            <a:r>
              <a:rPr sz="975" b="0">
                <a:solidFill>
                  <a:srgbClr val="506056"/>
                </a:solidFill>
                <a:latin typeface="Arial"/>
                <a:ea typeface="Arial"/>
                <a:cs typeface="Arial"/>
              </a:rPr>
              <a:t>NIVRA / BAL BHARATI HACKATHON 3.0</a:t>
            </a:r>
          </a:p>
        </p:txBody>
      </p:sp>
      <p:sp>
        <p:nvSpPr>
          <p:cNvPr id="3" name="text-15">
            <a:extLst xmlns:a="http://schemas.openxmlformats.org/drawingml/2006/main">
              <a:ext uri="{FF2B5EF4-FFF2-40B4-BE49-F238E27FC236}">
                <a16:creationId xmlns:a16="http://schemas.microsoft.com/office/drawing/2014/main" id="{6638A358-E028-45D8-95F7-098E7169ED72}"/>
              </a:ext>
            </a:extLst>
          </p:cNvPr>
          <p:cNvSpPr>
            <a:spLocks xmlns:a="http://schemas.openxmlformats.org/drawingml/2006/main" noGrp="1"/>
          </p:cNvSpPr>
          <p:nvPr/>
        </p:nvSpPr>
        <p:spPr>
          <a:xfrm xmlns:a="http://schemas.openxmlformats.org/drawingml/2006/main">
            <a:off x="11239500" y="64198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14251D"/>
                </a:solidFill>
                <a:latin typeface="Arial"/>
                <a:ea typeface="Arial"/>
                <a:cs typeface="Arial"/>
              </a:defRPr>
            </a:pPr>
            <a:r>
              <a:rPr sz="1200" b="0">
                <a:solidFill>
                  <a:srgbClr val="14251D"/>
                </a:solidFill>
                <a:latin typeface="Arial"/>
                <a:ea typeface="Arial"/>
                <a:cs typeface="Arial"/>
              </a:rPr>
              <a:t>02</a:t>
            </a:r>
          </a:p>
        </p:txBody>
      </p:sp>
      <p:sp>
        <p:nvSpPr>
          <p:cNvPr id="4" name="text-16">
            <a:extLst xmlns:a="http://schemas.openxmlformats.org/drawingml/2006/main">
              <a:ext uri="{FF2B5EF4-FFF2-40B4-BE49-F238E27FC236}">
                <a16:creationId xmlns:a16="http://schemas.microsoft.com/office/drawing/2014/main" id="{00311AEB-CAB7-45B2-BBF4-61989D183A50}"/>
              </a:ext>
            </a:extLst>
          </p:cNvPr>
          <p:cNvSpPr>
            <a:spLocks xmlns:a="http://schemas.openxmlformats.org/drawingml/2006/main" noGrp="1"/>
          </p:cNvSpPr>
          <p:nvPr/>
        </p:nvSpPr>
        <p:spPr>
          <a:xfrm xmlns:a="http://schemas.openxmlformats.org/drawingml/2006/main">
            <a:off x="552450" y="1200150"/>
            <a:ext cx="11096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506056"/>
                </a:solidFill>
                <a:latin typeface="Arial"/>
                <a:ea typeface="Arial"/>
                <a:cs typeface="Arial"/>
              </a:defRPr>
            </a:pPr>
            <a:r>
              <a:rPr sz="2100" b="0">
                <a:solidFill>
                  <a:srgbClr val="506056"/>
                </a:solidFill>
                <a:latin typeface="Arial"/>
                <a:ea typeface="Arial"/>
                <a:cs typeface="Arial"/>
              </a:rPr>
              <a:t>AI-assisted early intervention, with a human in charge.</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b5b7231f8f247aa"/>
          <a:srcRect xmlns:a="http://schemas.openxmlformats.org/drawingml/2006/main" l="0" t="15719" r="0" b="15719"/>
          <a:stretch xmlns:a="http://schemas.openxmlformats.org/drawingml/2006/main">
            <a:fillRect l="0" t="0" r="0" b="0"/>
          </a:stretch>
        </p:blipFill>
        <p:spPr>
          <a:xfrm xmlns:a="http://schemas.openxmlformats.org/drawingml/2006/main">
            <a:off x="533400" y="1819275"/>
            <a:ext cx="5257800" cy="2028825"/>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628a2d298784c09"/>
          <a:stretch xmlns:a="http://schemas.openxmlformats.org/drawingml/2006/main"/>
        </p:blipFill>
        <p:spPr>
          <a:xfrm xmlns:a="http://schemas.openxmlformats.org/drawingml/2006/main">
            <a:off x="7227258" y="1819275"/>
            <a:ext cx="3604884" cy="2028825"/>
          </a:xfrm>
          <a:prstGeom xmlns:a="http://schemas.openxmlformats.org/drawingml/2006/main" prst="rect">
            <a:avLst/>
          </a:prstGeom>
        </p:spPr>
      </p:pic>
      <p:sp>
        <p:nvSpPr>
          <p:cNvPr id="7" name="text-17">
            <a:extLst xmlns:a="http://schemas.openxmlformats.org/drawingml/2006/main">
              <a:ext uri="{FF2B5EF4-FFF2-40B4-BE49-F238E27FC236}">
                <a16:creationId xmlns:a16="http://schemas.microsoft.com/office/drawing/2014/main" id="{46B89BF4-3E29-4115-947A-C9D5CF98D203}"/>
              </a:ext>
            </a:extLst>
          </p:cNvPr>
          <p:cNvSpPr>
            <a:spLocks xmlns:a="http://schemas.openxmlformats.org/drawingml/2006/main" noGrp="1"/>
          </p:cNvSpPr>
          <p:nvPr/>
        </p:nvSpPr>
        <p:spPr>
          <a:xfrm xmlns:a="http://schemas.openxmlformats.org/drawingml/2006/main">
            <a:off x="533400" y="4086225"/>
            <a:ext cx="52482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Idea / Solution</a:t>
            </a:r>
          </a:p>
        </p:txBody>
      </p:sp>
      <p:sp>
        <p:nvSpPr>
          <p:cNvPr id="8" name="text-18">
            <a:extLst xmlns:a="http://schemas.openxmlformats.org/drawingml/2006/main">
              <a:ext uri="{FF2B5EF4-FFF2-40B4-BE49-F238E27FC236}">
                <a16:creationId xmlns:a16="http://schemas.microsoft.com/office/drawing/2014/main" id="{7851B2B3-F87D-46F7-B24D-85431EDF8CBD}"/>
              </a:ext>
            </a:extLst>
          </p:cNvPr>
          <p:cNvSpPr>
            <a:spLocks xmlns:a="http://schemas.openxmlformats.org/drawingml/2006/main" noGrp="1"/>
          </p:cNvSpPr>
          <p:nvPr/>
        </p:nvSpPr>
        <p:spPr>
          <a:xfrm xmlns:a="http://schemas.openxmlformats.org/drawingml/2006/main">
            <a:off x="533400" y="4495800"/>
            <a:ext cx="52482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Use a phone or camera feed to flag visible movement patterns that may need attention.</a:t>
            </a:r>
          </a:p>
        </p:txBody>
      </p:sp>
      <p:sp>
        <p:nvSpPr>
          <p:cNvPr id="9" name="text-19">
            <a:extLst xmlns:a="http://schemas.openxmlformats.org/drawingml/2006/main">
              <a:ext uri="{FF2B5EF4-FFF2-40B4-BE49-F238E27FC236}">
                <a16:creationId xmlns:a16="http://schemas.microsoft.com/office/drawing/2014/main" id="{904F25BF-9E22-4CB2-9755-804F5F697A79}"/>
              </a:ext>
            </a:extLst>
          </p:cNvPr>
          <p:cNvSpPr>
            <a:spLocks xmlns:a="http://schemas.openxmlformats.org/drawingml/2006/main" noGrp="1"/>
          </p:cNvSpPr>
          <p:nvPr/>
        </p:nvSpPr>
        <p:spPr>
          <a:xfrm xmlns:a="http://schemas.openxmlformats.org/drawingml/2006/main">
            <a:off x="6400800" y="408622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Problem Resolution</a:t>
            </a:r>
          </a:p>
        </p:txBody>
      </p:sp>
      <p:sp>
        <p:nvSpPr>
          <p:cNvPr id="10" name="text-20">
            <a:extLst xmlns:a="http://schemas.openxmlformats.org/drawingml/2006/main">
              <a:ext uri="{FF2B5EF4-FFF2-40B4-BE49-F238E27FC236}">
                <a16:creationId xmlns:a16="http://schemas.microsoft.com/office/drawing/2014/main" id="{D4A2DC3A-2BB7-4B61-92E6-D0B71A04B006}"/>
              </a:ext>
            </a:extLst>
          </p:cNvPr>
          <p:cNvSpPr>
            <a:spLocks xmlns:a="http://schemas.openxmlformats.org/drawingml/2006/main" noGrp="1"/>
          </p:cNvSpPr>
          <p:nvPr/>
        </p:nvSpPr>
        <p:spPr>
          <a:xfrm xmlns:a="http://schemas.openxmlformats.org/drawingml/2006/main">
            <a:off x="6400800" y="4495800"/>
            <a:ext cx="5238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Give staff a short replay and location, then connect a confirmed alert to a responder.</a:t>
            </a:r>
          </a:p>
        </p:txBody>
      </p:sp>
      <p:sp>
        <p:nvSpPr>
          <p:cNvPr id="11" name="text-21">
            <a:extLst xmlns:a="http://schemas.openxmlformats.org/drawingml/2006/main">
              <a:ext uri="{FF2B5EF4-FFF2-40B4-BE49-F238E27FC236}">
                <a16:creationId xmlns:a16="http://schemas.microsoft.com/office/drawing/2014/main" id="{3E4B1A03-A01E-419F-89FD-449F8F31416B}"/>
              </a:ext>
            </a:extLst>
          </p:cNvPr>
          <p:cNvSpPr>
            <a:spLocks xmlns:a="http://schemas.openxmlformats.org/drawingml/2006/main" noGrp="1"/>
          </p:cNvSpPr>
          <p:nvPr/>
        </p:nvSpPr>
        <p:spPr>
          <a:xfrm xmlns:a="http://schemas.openxmlformats.org/drawingml/2006/main">
            <a:off x="533400" y="5667375"/>
            <a:ext cx="52482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4251D"/>
                </a:solidFill>
                <a:latin typeface="Arial"/>
                <a:ea typeface="Arial"/>
                <a:cs typeface="Arial"/>
              </a:defRPr>
            </a:pPr>
            <a:r>
              <a:rPr sz="1800" b="1">
                <a:solidFill>
                  <a:srgbClr val="14251D"/>
                </a:solidFill>
                <a:latin typeface="Arial"/>
                <a:ea typeface="Arial"/>
                <a:cs typeface="Arial"/>
              </a:rPr>
              <a:t>Observe → flag → human review</a:t>
            </a:r>
          </a:p>
        </p:txBody>
      </p:sp>
      <p:sp>
        <p:nvSpPr>
          <p:cNvPr id="12" name="text-22">
            <a:extLst xmlns:a="http://schemas.openxmlformats.org/drawingml/2006/main">
              <a:ext uri="{FF2B5EF4-FFF2-40B4-BE49-F238E27FC236}">
                <a16:creationId xmlns:a16="http://schemas.microsoft.com/office/drawing/2014/main" id="{7E5A20E1-B06D-403F-9B71-12F5D03E8AB9}"/>
              </a:ext>
            </a:extLst>
          </p:cNvPr>
          <p:cNvSpPr>
            <a:spLocks xmlns:a="http://schemas.openxmlformats.org/drawingml/2006/main" noGrp="1"/>
          </p:cNvSpPr>
          <p:nvPr/>
        </p:nvSpPr>
        <p:spPr>
          <a:xfrm xmlns:a="http://schemas.openxmlformats.org/drawingml/2006/main">
            <a:off x="6400800" y="5667375"/>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4251D"/>
                </a:solidFill>
                <a:latin typeface="Arial"/>
                <a:ea typeface="Arial"/>
                <a:cs typeface="Arial"/>
              </a:defRPr>
            </a:pPr>
            <a:r>
              <a:rPr sz="1800" b="1">
                <a:solidFill>
                  <a:srgbClr val="14251D"/>
                </a:solidFill>
                <a:latin typeface="Arial"/>
                <a:ea typeface="Arial"/>
                <a:cs typeface="Arial"/>
              </a:rPr>
              <a:t>Decide → dispatch → acknowledge</a:t>
            </a:r>
          </a:p>
        </p:txBody>
      </p:sp>
    </p:spTree>
    <p:extLst>
      <p:ext uri="{BB962C8B-B14F-4D97-AF65-F5344CB8AC3E}">
        <p14:creationId xmlns:p14="http://schemas.microsoft.com/office/powerpoint/2010/main" val="361321882"/>
      </p:ext>
    </p:extLst>
  </p:cSld>
</p:sld>
</file>

<file path=ppt/slides/slide3.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sp>
        <p:nvSpPr>
          <p:cNvPr id="13" name="text-23">
            <a:extLst xmlns:a="http://schemas.openxmlformats.org/drawingml/2006/main">
              <a:ext uri="{FF2B5EF4-FFF2-40B4-BE49-F238E27FC236}">
                <a16:creationId xmlns:a16="http://schemas.microsoft.com/office/drawing/2014/main" id="{1D67E743-8D84-4D0E-947E-A8CDBDBCADE9}"/>
              </a:ext>
            </a:extLst>
          </p:cNvPr>
          <p:cNvSpPr>
            <a:spLocks xmlns:a="http://schemas.openxmlformats.org/drawingml/2006/main" noGrp="1"/>
          </p:cNvSpPr>
          <p:nvPr/>
        </p:nvSpPr>
        <p:spPr>
          <a:xfrm xmlns:a="http://schemas.openxmlformats.org/drawingml/2006/main">
            <a:off x="533400" y="4476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4251D"/>
                </a:solidFill>
                <a:latin typeface="Arial"/>
                <a:ea typeface="Arial"/>
                <a:cs typeface="Arial"/>
              </a:defRPr>
            </a:pPr>
            <a:r>
              <a:rPr sz="3600" b="1">
                <a:solidFill>
                  <a:srgbClr val="14251D"/>
                </a:solidFill>
                <a:latin typeface="Arial"/>
                <a:ea typeface="Arial"/>
                <a:cs typeface="Arial"/>
              </a:rPr>
              <a:t>Warning patterns, seen over time</a:t>
            </a:r>
          </a:p>
        </p:txBody>
      </p:sp>
      <p:sp>
        <p:nvSpPr>
          <p:cNvPr id="2" name="text-24">
            <a:extLst xmlns:a="http://schemas.openxmlformats.org/drawingml/2006/main">
              <a:ext uri="{FF2B5EF4-FFF2-40B4-BE49-F238E27FC236}">
                <a16:creationId xmlns:a16="http://schemas.microsoft.com/office/drawing/2014/main" id="{4066FAF9-9743-44C7-A920-4A75B7864EC2}"/>
              </a:ext>
            </a:extLst>
          </p:cNvPr>
          <p:cNvSpPr>
            <a:spLocks xmlns:a="http://schemas.openxmlformats.org/drawingml/2006/main" noGrp="1"/>
          </p:cNvSpPr>
          <p:nvPr/>
        </p:nvSpPr>
        <p:spPr>
          <a:xfrm xmlns:a="http://schemas.openxmlformats.org/drawingml/2006/main">
            <a:off x="533400" y="645795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06056"/>
                </a:solidFill>
                <a:latin typeface="Arial"/>
                <a:ea typeface="Arial"/>
                <a:cs typeface="Arial"/>
              </a:defRPr>
            </a:pPr>
            <a:r>
              <a:rPr sz="975" b="0">
                <a:solidFill>
                  <a:srgbClr val="506056"/>
                </a:solidFill>
                <a:latin typeface="Arial"/>
                <a:ea typeface="Arial"/>
                <a:cs typeface="Arial"/>
              </a:rPr>
              <a:t>NIVRA / BAL BHARATI HACKATHON 3.0</a:t>
            </a:r>
          </a:p>
        </p:txBody>
      </p:sp>
      <p:sp>
        <p:nvSpPr>
          <p:cNvPr id="3" name="text-25">
            <a:extLst xmlns:a="http://schemas.openxmlformats.org/drawingml/2006/main">
              <a:ext uri="{FF2B5EF4-FFF2-40B4-BE49-F238E27FC236}">
                <a16:creationId xmlns:a16="http://schemas.microsoft.com/office/drawing/2014/main" id="{7817AEB7-DAE5-4406-B068-E7AA725A2DE5}"/>
              </a:ext>
            </a:extLst>
          </p:cNvPr>
          <p:cNvSpPr>
            <a:spLocks xmlns:a="http://schemas.openxmlformats.org/drawingml/2006/main" noGrp="1"/>
          </p:cNvSpPr>
          <p:nvPr/>
        </p:nvSpPr>
        <p:spPr>
          <a:xfrm xmlns:a="http://schemas.openxmlformats.org/drawingml/2006/main">
            <a:off x="11239500" y="64198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14251D"/>
                </a:solidFill>
                <a:latin typeface="Arial"/>
                <a:ea typeface="Arial"/>
                <a:cs typeface="Arial"/>
              </a:defRPr>
            </a:pPr>
            <a:r>
              <a:rPr sz="1200" b="0">
                <a:solidFill>
                  <a:srgbClr val="14251D"/>
                </a:solidFill>
                <a:latin typeface="Arial"/>
                <a:ea typeface="Arial"/>
                <a:cs typeface="Arial"/>
              </a:rPr>
              <a:t>03</a:t>
            </a:r>
          </a:p>
        </p:txBody>
      </p:sp>
      <p:sp>
        <p:nvSpPr>
          <p:cNvPr id="4" name="text-26">
            <a:extLst xmlns:a="http://schemas.openxmlformats.org/drawingml/2006/main">
              <a:ext uri="{FF2B5EF4-FFF2-40B4-BE49-F238E27FC236}">
                <a16:creationId xmlns:a16="http://schemas.microsoft.com/office/drawing/2014/main" id="{61E22A4D-335E-4939-8FCE-2E1C156E05B7}"/>
              </a:ext>
            </a:extLst>
          </p:cNvPr>
          <p:cNvSpPr>
            <a:spLocks xmlns:a="http://schemas.openxmlformats.org/drawingml/2006/main" noGrp="1"/>
          </p:cNvSpPr>
          <p:nvPr/>
        </p:nvSpPr>
        <p:spPr>
          <a:xfrm xmlns:a="http://schemas.openxmlformats.org/drawingml/2006/main">
            <a:off x="552450" y="1238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506056"/>
                </a:solidFill>
                <a:latin typeface="Arial"/>
                <a:ea typeface="Arial"/>
                <a:cs typeface="Arial"/>
              </a:defRPr>
            </a:pPr>
            <a:r>
              <a:rPr sz="1350" b="1">
                <a:solidFill>
                  <a:srgbClr val="506056"/>
                </a:solidFill>
                <a:latin typeface="Arial"/>
                <a:ea typeface="Arial"/>
                <a:cs typeface="Arial"/>
              </a:rPr>
              <a:t>YOUR IDEA / WHAT NIVRA WOULD LOOK FOR</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3a1486560f14323"/>
          <a:srcRect xmlns:a="http://schemas.openxmlformats.org/drawingml/2006/main" l="0" t="25171" r="0" b="25171"/>
          <a:stretch xmlns:a="http://schemas.openxmlformats.org/drawingml/2006/main">
            <a:fillRect l="0" t="0" r="0" b="0"/>
          </a:stretch>
        </p:blipFill>
        <p:spPr>
          <a:xfrm xmlns:a="http://schemas.openxmlformats.org/drawingml/2006/main">
            <a:off x="533400" y="1819275"/>
            <a:ext cx="11125200" cy="2762250"/>
          </a:xfrm>
          <a:prstGeom xmlns:a="http://schemas.openxmlformats.org/drawingml/2006/main" prst="rect">
            <a:avLst/>
          </a:prstGeom>
        </p:spPr>
      </p:pic>
      <p:sp>
        <p:nvSpPr>
          <p:cNvPr id="6" name="text-27">
            <a:extLst xmlns:a="http://schemas.openxmlformats.org/drawingml/2006/main">
              <a:ext uri="{FF2B5EF4-FFF2-40B4-BE49-F238E27FC236}">
                <a16:creationId xmlns:a16="http://schemas.microsoft.com/office/drawing/2014/main" id="{ABF617E9-86E0-4764-95FC-A4BAC5A4E37A}"/>
              </a:ext>
            </a:extLst>
          </p:cNvPr>
          <p:cNvSpPr>
            <a:spLocks xmlns:a="http://schemas.openxmlformats.org/drawingml/2006/main" noGrp="1"/>
          </p:cNvSpPr>
          <p:nvPr/>
        </p:nvSpPr>
        <p:spPr>
          <a:xfrm xmlns:a="http://schemas.openxmlformats.org/drawingml/2006/main">
            <a:off x="533400" y="4857750"/>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Closing distance</a:t>
            </a:r>
          </a:p>
        </p:txBody>
      </p:sp>
      <p:sp>
        <p:nvSpPr>
          <p:cNvPr id="7" name="text-28">
            <a:extLst xmlns:a="http://schemas.openxmlformats.org/drawingml/2006/main">
              <a:ext uri="{FF2B5EF4-FFF2-40B4-BE49-F238E27FC236}">
                <a16:creationId xmlns:a16="http://schemas.microsoft.com/office/drawing/2014/main" id="{B045C889-EE50-435D-AF2E-AB640647B9E3}"/>
              </a:ext>
            </a:extLst>
          </p:cNvPr>
          <p:cNvSpPr>
            <a:spLocks xmlns:a="http://schemas.openxmlformats.org/drawingml/2006/main" noGrp="1"/>
          </p:cNvSpPr>
          <p:nvPr/>
        </p:nvSpPr>
        <p:spPr>
          <a:xfrm xmlns:a="http://schemas.openxmlformats.org/drawingml/2006/main">
            <a:off x="533400" y="5267325"/>
            <a:ext cx="3476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People rapidly move closer.</a:t>
            </a:r>
          </a:p>
        </p:txBody>
      </p:sp>
      <p:sp>
        <p:nvSpPr>
          <p:cNvPr id="8" name="text-29">
            <a:extLst xmlns:a="http://schemas.openxmlformats.org/drawingml/2006/main">
              <a:ext uri="{FF2B5EF4-FFF2-40B4-BE49-F238E27FC236}">
                <a16:creationId xmlns:a16="http://schemas.microsoft.com/office/drawing/2014/main" id="{64EA0A9E-440C-4E80-A1CA-0C03BBFB9AD8}"/>
              </a:ext>
            </a:extLst>
          </p:cNvPr>
          <p:cNvSpPr>
            <a:spLocks xmlns:a="http://schemas.openxmlformats.org/drawingml/2006/main" noGrp="1"/>
          </p:cNvSpPr>
          <p:nvPr/>
        </p:nvSpPr>
        <p:spPr>
          <a:xfrm xmlns:a="http://schemas.openxmlformats.org/drawingml/2006/main">
            <a:off x="4333875" y="4857750"/>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Aggressive gestures</a:t>
            </a:r>
          </a:p>
        </p:txBody>
      </p:sp>
      <p:sp>
        <p:nvSpPr>
          <p:cNvPr id="9" name="text-30">
            <a:extLst xmlns:a="http://schemas.openxmlformats.org/drawingml/2006/main">
              <a:ext uri="{FF2B5EF4-FFF2-40B4-BE49-F238E27FC236}">
                <a16:creationId xmlns:a16="http://schemas.microsoft.com/office/drawing/2014/main" id="{F3EC0D0A-257B-4023-8D07-30659842C91A}"/>
              </a:ext>
            </a:extLst>
          </p:cNvPr>
          <p:cNvSpPr>
            <a:spLocks xmlns:a="http://schemas.openxmlformats.org/drawingml/2006/main" noGrp="1"/>
          </p:cNvSpPr>
          <p:nvPr/>
        </p:nvSpPr>
        <p:spPr>
          <a:xfrm xmlns:a="http://schemas.openxmlformats.org/drawingml/2006/main">
            <a:off x="4333875" y="5267325"/>
            <a:ext cx="3476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Sudden, repeated body movements.</a:t>
            </a:r>
          </a:p>
        </p:txBody>
      </p:sp>
      <p:sp>
        <p:nvSpPr>
          <p:cNvPr id="10" name="text-31">
            <a:extLst xmlns:a="http://schemas.openxmlformats.org/drawingml/2006/main">
              <a:ext uri="{FF2B5EF4-FFF2-40B4-BE49-F238E27FC236}">
                <a16:creationId xmlns:a16="http://schemas.microsoft.com/office/drawing/2014/main" id="{8B028B82-791A-46E2-BA2E-56743069D2C2}"/>
              </a:ext>
            </a:extLst>
          </p:cNvPr>
          <p:cNvSpPr>
            <a:spLocks xmlns:a="http://schemas.openxmlformats.org/drawingml/2006/main" noGrp="1"/>
          </p:cNvSpPr>
          <p:nvPr/>
        </p:nvSpPr>
        <p:spPr>
          <a:xfrm xmlns:a="http://schemas.openxmlformats.org/drawingml/2006/main">
            <a:off x="8134350" y="4857750"/>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Crowd convergence</a:t>
            </a:r>
          </a:p>
        </p:txBody>
      </p:sp>
      <p:sp>
        <p:nvSpPr>
          <p:cNvPr id="11" name="text-32">
            <a:extLst xmlns:a="http://schemas.openxmlformats.org/drawingml/2006/main">
              <a:ext uri="{FF2B5EF4-FFF2-40B4-BE49-F238E27FC236}">
                <a16:creationId xmlns:a16="http://schemas.microsoft.com/office/drawing/2014/main" id="{F15DCB6C-9C53-4D79-ABA6-D2BB6AD76678}"/>
              </a:ext>
            </a:extLst>
          </p:cNvPr>
          <p:cNvSpPr>
            <a:spLocks xmlns:a="http://schemas.openxmlformats.org/drawingml/2006/main" noGrp="1"/>
          </p:cNvSpPr>
          <p:nvPr/>
        </p:nvSpPr>
        <p:spPr>
          <a:xfrm xmlns:a="http://schemas.openxmlformats.org/drawingml/2006/main">
            <a:off x="8134350" y="5267325"/>
            <a:ext cx="3476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Several people gather around an event.</a:t>
            </a:r>
          </a:p>
        </p:txBody>
      </p:sp>
      <p:sp>
        <p:nvSpPr>
          <p:cNvPr id="12" name="text-33">
            <a:extLst xmlns:a="http://schemas.openxmlformats.org/drawingml/2006/main">
              <a:ext uri="{FF2B5EF4-FFF2-40B4-BE49-F238E27FC236}">
                <a16:creationId xmlns:a16="http://schemas.microsoft.com/office/drawing/2014/main" id="{1375E4E9-7F77-4AD4-B8B6-0DDCC8EF0A8D}"/>
              </a:ext>
            </a:extLst>
          </p:cNvPr>
          <p:cNvSpPr>
            <a:spLocks xmlns:a="http://schemas.openxmlformats.org/drawingml/2006/main" noGrp="1"/>
          </p:cNvSpPr>
          <p:nvPr/>
        </p:nvSpPr>
        <p:spPr>
          <a:xfrm xmlns:a="http://schemas.openxmlformats.org/drawingml/2006/main">
            <a:off x="552450" y="60388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6056"/>
                </a:solidFill>
                <a:latin typeface="Arial"/>
                <a:ea typeface="Arial"/>
                <a:cs typeface="Arial"/>
              </a:defRPr>
            </a:pPr>
            <a:r>
              <a:rPr sz="1425" b="0">
                <a:solidFill>
                  <a:srgbClr val="506056"/>
                </a:solidFill>
                <a:latin typeface="Arial"/>
                <a:ea typeface="Arial"/>
                <a:cs typeface="Arial"/>
              </a:rPr>
              <a:t>Multiple cues would request a review. A movement pattern alone does not establish intent.</a:t>
            </a:r>
          </a:p>
        </p:txBody>
      </p:sp>
    </p:spTree>
    <p:extLst>
      <p:ext uri="{BB962C8B-B14F-4D97-AF65-F5344CB8AC3E}">
        <p14:creationId xmlns:p14="http://schemas.microsoft.com/office/powerpoint/2010/main" val="1019981519"/>
      </p:ext>
    </p:extLst>
  </p:cSld>
</p:sld>
</file>

<file path=ppt/slides/slide4.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sp>
        <p:nvSpPr>
          <p:cNvPr id="14" name="text-34">
            <a:extLst xmlns:a="http://schemas.openxmlformats.org/drawingml/2006/main">
              <a:ext uri="{FF2B5EF4-FFF2-40B4-BE49-F238E27FC236}">
                <a16:creationId xmlns:a16="http://schemas.microsoft.com/office/drawing/2014/main" id="{64C28707-7FDA-4417-9851-61BCCA585C64}"/>
              </a:ext>
            </a:extLst>
          </p:cNvPr>
          <p:cNvSpPr>
            <a:spLocks xmlns:a="http://schemas.openxmlformats.org/drawingml/2006/main" noGrp="1"/>
          </p:cNvSpPr>
          <p:nvPr/>
        </p:nvSpPr>
        <p:spPr>
          <a:xfrm xmlns:a="http://schemas.openxmlformats.org/drawingml/2006/main">
            <a:off x="533400" y="4476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4251D"/>
                </a:solidFill>
                <a:latin typeface="Arial"/>
                <a:ea typeface="Arial"/>
                <a:cs typeface="Arial"/>
              </a:defRPr>
            </a:pPr>
            <a:r>
              <a:rPr sz="3600" b="1">
                <a:solidFill>
                  <a:srgbClr val="14251D"/>
                </a:solidFill>
                <a:latin typeface="Arial"/>
                <a:ea typeface="Arial"/>
                <a:cs typeface="Arial"/>
              </a:rPr>
              <a:t>Eight seconds of context. A human decision.</a:t>
            </a:r>
          </a:p>
        </p:txBody>
      </p:sp>
      <p:sp>
        <p:nvSpPr>
          <p:cNvPr id="2" name="text-35">
            <a:extLst xmlns:a="http://schemas.openxmlformats.org/drawingml/2006/main">
              <a:ext uri="{FF2B5EF4-FFF2-40B4-BE49-F238E27FC236}">
                <a16:creationId xmlns:a16="http://schemas.microsoft.com/office/drawing/2014/main" id="{303FCFF4-C472-452A-AFBA-D78EA90551A1}"/>
              </a:ext>
            </a:extLst>
          </p:cNvPr>
          <p:cNvSpPr>
            <a:spLocks xmlns:a="http://schemas.openxmlformats.org/drawingml/2006/main" noGrp="1"/>
          </p:cNvSpPr>
          <p:nvPr/>
        </p:nvSpPr>
        <p:spPr>
          <a:xfrm xmlns:a="http://schemas.openxmlformats.org/drawingml/2006/main">
            <a:off x="533400" y="645795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06056"/>
                </a:solidFill>
                <a:latin typeface="Arial"/>
                <a:ea typeface="Arial"/>
                <a:cs typeface="Arial"/>
              </a:defRPr>
            </a:pPr>
            <a:r>
              <a:rPr sz="975" b="0">
                <a:solidFill>
                  <a:srgbClr val="506056"/>
                </a:solidFill>
                <a:latin typeface="Arial"/>
                <a:ea typeface="Arial"/>
                <a:cs typeface="Arial"/>
              </a:rPr>
              <a:t>NIVRA / BAL BHARATI HACKATHON 3.0</a:t>
            </a:r>
          </a:p>
        </p:txBody>
      </p:sp>
      <p:sp>
        <p:nvSpPr>
          <p:cNvPr id="3" name="text-36">
            <a:extLst xmlns:a="http://schemas.openxmlformats.org/drawingml/2006/main">
              <a:ext uri="{FF2B5EF4-FFF2-40B4-BE49-F238E27FC236}">
                <a16:creationId xmlns:a16="http://schemas.microsoft.com/office/drawing/2014/main" id="{8E333E29-A321-4AF5-ACB6-141BA8481B88}"/>
              </a:ext>
            </a:extLst>
          </p:cNvPr>
          <p:cNvSpPr>
            <a:spLocks xmlns:a="http://schemas.openxmlformats.org/drawingml/2006/main" noGrp="1"/>
          </p:cNvSpPr>
          <p:nvPr/>
        </p:nvSpPr>
        <p:spPr>
          <a:xfrm xmlns:a="http://schemas.openxmlformats.org/drawingml/2006/main">
            <a:off x="11239500" y="64198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14251D"/>
                </a:solidFill>
                <a:latin typeface="Arial"/>
                <a:ea typeface="Arial"/>
                <a:cs typeface="Arial"/>
              </a:defRPr>
            </a:pPr>
            <a:r>
              <a:rPr sz="1200" b="0">
                <a:solidFill>
                  <a:srgbClr val="14251D"/>
                </a:solidFill>
                <a:latin typeface="Arial"/>
                <a:ea typeface="Arial"/>
                <a:cs typeface="Arial"/>
              </a:rPr>
              <a:t>04</a:t>
            </a:r>
          </a:p>
        </p:txBody>
      </p:sp>
      <p:sp>
        <p:nvSpPr>
          <p:cNvPr id="4" name="text-37">
            <a:extLst xmlns:a="http://schemas.openxmlformats.org/drawingml/2006/main">
              <a:ext uri="{FF2B5EF4-FFF2-40B4-BE49-F238E27FC236}">
                <a16:creationId xmlns:a16="http://schemas.microsoft.com/office/drawing/2014/main" id="{485D00E9-09FE-4BA4-B037-3572B59A0AEF}"/>
              </a:ext>
            </a:extLst>
          </p:cNvPr>
          <p:cNvSpPr>
            <a:spLocks xmlns:a="http://schemas.openxmlformats.org/drawingml/2006/main" noGrp="1"/>
          </p:cNvSpPr>
          <p:nvPr/>
        </p:nvSpPr>
        <p:spPr>
          <a:xfrm xmlns:a="http://schemas.openxmlformats.org/drawingml/2006/main">
            <a:off x="552450" y="12382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506056"/>
                </a:solidFill>
                <a:latin typeface="Arial"/>
                <a:ea typeface="Arial"/>
                <a:cs typeface="Arial"/>
              </a:defRPr>
            </a:pPr>
            <a:r>
              <a:rPr sz="1350" b="1">
                <a:solidFill>
                  <a:srgbClr val="506056"/>
                </a:solidFill>
                <a:latin typeface="Arial"/>
                <a:ea typeface="Arial"/>
                <a:cs typeface="Arial"/>
              </a:rPr>
              <a:t>YOUR IDEA / PROPOSED OPERATOR WORKFLOW</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72407b454f246c9"/>
          <a:srcRect xmlns:a="http://schemas.openxmlformats.org/drawingml/2006/main" l="0" t="10339" r="0" b="10339"/>
          <a:stretch xmlns:a="http://schemas.openxmlformats.org/drawingml/2006/main">
            <a:fillRect l="0" t="0" r="0" b="0"/>
          </a:stretch>
        </p:blipFill>
        <p:spPr>
          <a:xfrm xmlns:a="http://schemas.openxmlformats.org/drawingml/2006/main">
            <a:off x="533400" y="1866900"/>
            <a:ext cx="6400800" cy="2857500"/>
          </a:xfrm>
          <a:prstGeom xmlns:a="http://schemas.openxmlformats.org/drawingml/2006/main" prst="rect">
            <a:avLst/>
          </a:prstGeom>
        </p:spPr>
      </p:pic>
      <p:sp>
        <p:nvSpPr>
          <p:cNvPr id="6" name="text-38">
            <a:extLst xmlns:a="http://schemas.openxmlformats.org/drawingml/2006/main">
              <a:ext uri="{FF2B5EF4-FFF2-40B4-BE49-F238E27FC236}">
                <a16:creationId xmlns:a16="http://schemas.microsoft.com/office/drawing/2014/main" id="{6A4181EC-0FE3-461B-B549-F1E8FCDFBD0E}"/>
              </a:ext>
            </a:extLst>
          </p:cNvPr>
          <p:cNvSpPr>
            <a:spLocks xmlns:a="http://schemas.openxmlformats.org/drawingml/2006/main" noGrp="1"/>
          </p:cNvSpPr>
          <p:nvPr/>
        </p:nvSpPr>
        <p:spPr>
          <a:xfrm xmlns:a="http://schemas.openxmlformats.org/drawingml/2006/main">
            <a:off x="7400925" y="2000250"/>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4251D"/>
                </a:solidFill>
                <a:latin typeface="Arial"/>
                <a:ea typeface="Arial"/>
                <a:cs typeface="Arial"/>
              </a:defRPr>
            </a:pPr>
            <a:r>
              <a:rPr sz="2325" b="1">
                <a:solidFill>
                  <a:srgbClr val="14251D"/>
                </a:solidFill>
                <a:latin typeface="Arial"/>
                <a:ea typeface="Arial"/>
                <a:cs typeface="Arial"/>
              </a:rPr>
              <a:t>Review the previous 8 seconds</a:t>
            </a:r>
          </a:p>
        </p:txBody>
      </p:sp>
      <p:sp>
        <p:nvSpPr>
          <p:cNvPr id="7" name="text-39">
            <a:extLst xmlns:a="http://schemas.openxmlformats.org/drawingml/2006/main">
              <a:ext uri="{FF2B5EF4-FFF2-40B4-BE49-F238E27FC236}">
                <a16:creationId xmlns:a16="http://schemas.microsoft.com/office/drawing/2014/main" id="{AE6EF5C0-822A-441E-B182-F0DCDFB61B94}"/>
              </a:ext>
            </a:extLst>
          </p:cNvPr>
          <p:cNvSpPr>
            <a:spLocks xmlns:a="http://schemas.openxmlformats.org/drawingml/2006/main" noGrp="1"/>
          </p:cNvSpPr>
          <p:nvPr/>
        </p:nvSpPr>
        <p:spPr>
          <a:xfrm xmlns:a="http://schemas.openxmlformats.org/drawingml/2006/main">
            <a:off x="7400925" y="2933700"/>
            <a:ext cx="41814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506056"/>
                </a:solidFill>
                <a:latin typeface="Arial"/>
                <a:ea typeface="Arial"/>
                <a:cs typeface="Arial"/>
              </a:defRPr>
            </a:pPr>
            <a:r>
              <a:rPr sz="1950" b="0">
                <a:solidFill>
                  <a:srgbClr val="506056"/>
                </a:solidFill>
                <a:latin typeface="Arial"/>
                <a:ea typeface="Arial"/>
                <a:cs typeface="Arial"/>
              </a:rPr>
              <a:t>See the location and warning signals, then choose the next action.</a:t>
            </a:r>
          </a:p>
        </p:txBody>
      </p:sp>
      <p:sp>
        <p:nvSpPr>
          <p:cNvPr id="8" name="text-40">
            <a:extLst xmlns:a="http://schemas.openxmlformats.org/drawingml/2006/main">
              <a:ext uri="{FF2B5EF4-FFF2-40B4-BE49-F238E27FC236}">
                <a16:creationId xmlns:a16="http://schemas.microsoft.com/office/drawing/2014/main" id="{1AD0C8A4-22BB-40B4-8FB8-F577E1960E43}"/>
              </a:ext>
            </a:extLst>
          </p:cNvPr>
          <p:cNvSpPr>
            <a:spLocks xmlns:a="http://schemas.openxmlformats.org/drawingml/2006/main" noGrp="1"/>
          </p:cNvSpPr>
          <p:nvPr/>
        </p:nvSpPr>
        <p:spPr>
          <a:xfrm xmlns:a="http://schemas.openxmlformats.org/drawingml/2006/main">
            <a:off x="533400" y="4991100"/>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Dismiss</a:t>
            </a:r>
          </a:p>
        </p:txBody>
      </p:sp>
      <p:sp>
        <p:nvSpPr>
          <p:cNvPr id="9" name="text-41">
            <a:extLst xmlns:a="http://schemas.openxmlformats.org/drawingml/2006/main">
              <a:ext uri="{FF2B5EF4-FFF2-40B4-BE49-F238E27FC236}">
                <a16:creationId xmlns:a16="http://schemas.microsoft.com/office/drawing/2014/main" id="{86133130-04E0-4B06-9CD0-A88481D576D2}"/>
              </a:ext>
            </a:extLst>
          </p:cNvPr>
          <p:cNvSpPr>
            <a:spLocks xmlns:a="http://schemas.openxmlformats.org/drawingml/2006/main" noGrp="1"/>
          </p:cNvSpPr>
          <p:nvPr/>
        </p:nvSpPr>
        <p:spPr>
          <a:xfrm xmlns:a="http://schemas.openxmlformats.org/drawingml/2006/main">
            <a:off x="533400" y="5400675"/>
            <a:ext cx="3476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Close a false or harmless alert.</a:t>
            </a:r>
          </a:p>
        </p:txBody>
      </p:sp>
      <p:sp>
        <p:nvSpPr>
          <p:cNvPr id="10" name="text-42">
            <a:extLst xmlns:a="http://schemas.openxmlformats.org/drawingml/2006/main">
              <a:ext uri="{FF2B5EF4-FFF2-40B4-BE49-F238E27FC236}">
                <a16:creationId xmlns:a16="http://schemas.microsoft.com/office/drawing/2014/main" id="{2315B695-478D-48DE-9320-E1EC1617855F}"/>
              </a:ext>
            </a:extLst>
          </p:cNvPr>
          <p:cNvSpPr>
            <a:spLocks xmlns:a="http://schemas.openxmlformats.org/drawingml/2006/main" noGrp="1"/>
          </p:cNvSpPr>
          <p:nvPr/>
        </p:nvSpPr>
        <p:spPr>
          <a:xfrm xmlns:a="http://schemas.openxmlformats.org/drawingml/2006/main">
            <a:off x="4333875" y="4991100"/>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Monitor</a:t>
            </a:r>
          </a:p>
        </p:txBody>
      </p:sp>
      <p:sp>
        <p:nvSpPr>
          <p:cNvPr id="11" name="text-43">
            <a:extLst xmlns:a="http://schemas.openxmlformats.org/drawingml/2006/main">
              <a:ext uri="{FF2B5EF4-FFF2-40B4-BE49-F238E27FC236}">
                <a16:creationId xmlns:a16="http://schemas.microsoft.com/office/drawing/2014/main" id="{7790A9F6-F960-4758-9A51-672B028D3B70}"/>
              </a:ext>
            </a:extLst>
          </p:cNvPr>
          <p:cNvSpPr>
            <a:spLocks xmlns:a="http://schemas.openxmlformats.org/drawingml/2006/main" noGrp="1"/>
          </p:cNvSpPr>
          <p:nvPr/>
        </p:nvSpPr>
        <p:spPr>
          <a:xfrm xmlns:a="http://schemas.openxmlformats.org/drawingml/2006/main">
            <a:off x="4333875" y="5400675"/>
            <a:ext cx="3476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Keep watching when context is unclear.</a:t>
            </a:r>
          </a:p>
        </p:txBody>
      </p:sp>
      <p:sp>
        <p:nvSpPr>
          <p:cNvPr id="12" name="text-44">
            <a:extLst xmlns:a="http://schemas.openxmlformats.org/drawingml/2006/main">
              <a:ext uri="{FF2B5EF4-FFF2-40B4-BE49-F238E27FC236}">
                <a16:creationId xmlns:a16="http://schemas.microsoft.com/office/drawing/2014/main" id="{EDB0184F-9A44-464D-8CBC-3059C25FAD8D}"/>
              </a:ext>
            </a:extLst>
          </p:cNvPr>
          <p:cNvSpPr>
            <a:spLocks xmlns:a="http://schemas.openxmlformats.org/drawingml/2006/main" noGrp="1"/>
          </p:cNvSpPr>
          <p:nvPr/>
        </p:nvSpPr>
        <p:spPr>
          <a:xfrm xmlns:a="http://schemas.openxmlformats.org/drawingml/2006/main">
            <a:off x="8134350" y="4991100"/>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Dispatch</a:t>
            </a:r>
          </a:p>
        </p:txBody>
      </p:sp>
      <p:sp>
        <p:nvSpPr>
          <p:cNvPr id="13" name="text-45">
            <a:extLst xmlns:a="http://schemas.openxmlformats.org/drawingml/2006/main">
              <a:ext uri="{FF2B5EF4-FFF2-40B4-BE49-F238E27FC236}">
                <a16:creationId xmlns:a16="http://schemas.microsoft.com/office/drawing/2014/main" id="{59451E86-CECE-4DCC-BBC0-94B8F5B9A9F1}"/>
              </a:ext>
            </a:extLst>
          </p:cNvPr>
          <p:cNvSpPr>
            <a:spLocks xmlns:a="http://schemas.openxmlformats.org/drawingml/2006/main" noGrp="1"/>
          </p:cNvSpPr>
          <p:nvPr/>
        </p:nvSpPr>
        <p:spPr>
          <a:xfrm xmlns:a="http://schemas.openxmlformats.org/drawingml/2006/main">
            <a:off x="8134350" y="5400675"/>
            <a:ext cx="3476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Send an available responder and record acknowledgement.</a:t>
            </a:r>
          </a:p>
        </p:txBody>
      </p:sp>
    </p:spTree>
    <p:extLst>
      <p:ext uri="{BB962C8B-B14F-4D97-AF65-F5344CB8AC3E}">
        <p14:creationId xmlns:p14="http://schemas.microsoft.com/office/powerpoint/2010/main" val="135938626"/>
      </p:ext>
    </p:extLst>
  </p:cSld>
</p:sld>
</file>

<file path=ppt/slides/slide5.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sp>
        <p:nvSpPr>
          <p:cNvPr id="29" name="text-46">
            <a:extLst xmlns:a="http://schemas.openxmlformats.org/drawingml/2006/main">
              <a:ext uri="{FF2B5EF4-FFF2-40B4-BE49-F238E27FC236}">
                <a16:creationId xmlns:a16="http://schemas.microsoft.com/office/drawing/2014/main" id="{D8BD6109-7B83-45C5-8D05-DF989F71311B}"/>
              </a:ext>
            </a:extLst>
          </p:cNvPr>
          <p:cNvSpPr>
            <a:spLocks xmlns:a="http://schemas.openxmlformats.org/drawingml/2006/main" noGrp="1"/>
          </p:cNvSpPr>
          <p:nvPr/>
        </p:nvSpPr>
        <p:spPr>
          <a:xfrm xmlns:a="http://schemas.openxmlformats.org/drawingml/2006/main">
            <a:off x="533400" y="4476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4251D"/>
                </a:solidFill>
                <a:latin typeface="Arial"/>
                <a:ea typeface="Arial"/>
                <a:cs typeface="Arial"/>
              </a:defRPr>
            </a:pPr>
            <a:r>
              <a:rPr sz="3600" b="1">
                <a:solidFill>
                  <a:srgbClr val="14251D"/>
                </a:solidFill>
                <a:latin typeface="Arial"/>
                <a:ea typeface="Arial"/>
                <a:cs typeface="Arial"/>
              </a:rPr>
              <a:t>Technical Approach</a:t>
            </a:r>
          </a:p>
        </p:txBody>
      </p:sp>
      <p:sp>
        <p:nvSpPr>
          <p:cNvPr id="2" name="text-47">
            <a:extLst xmlns:a="http://schemas.openxmlformats.org/drawingml/2006/main">
              <a:ext uri="{FF2B5EF4-FFF2-40B4-BE49-F238E27FC236}">
                <a16:creationId xmlns:a16="http://schemas.microsoft.com/office/drawing/2014/main" id="{6058AFDA-232D-42FC-8B22-956234E59A23}"/>
              </a:ext>
            </a:extLst>
          </p:cNvPr>
          <p:cNvSpPr>
            <a:spLocks xmlns:a="http://schemas.openxmlformats.org/drawingml/2006/main" noGrp="1"/>
          </p:cNvSpPr>
          <p:nvPr/>
        </p:nvSpPr>
        <p:spPr>
          <a:xfrm xmlns:a="http://schemas.openxmlformats.org/drawingml/2006/main">
            <a:off x="533400" y="645795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06056"/>
                </a:solidFill>
                <a:latin typeface="Arial"/>
                <a:ea typeface="Arial"/>
                <a:cs typeface="Arial"/>
              </a:defRPr>
            </a:pPr>
            <a:r>
              <a:rPr sz="975" b="0">
                <a:solidFill>
                  <a:srgbClr val="506056"/>
                </a:solidFill>
                <a:latin typeface="Arial"/>
                <a:ea typeface="Arial"/>
                <a:cs typeface="Arial"/>
              </a:rPr>
              <a:t>NIVRA / BAL BHARATI HACKATHON 3.0</a:t>
            </a:r>
          </a:p>
        </p:txBody>
      </p:sp>
      <p:sp>
        <p:nvSpPr>
          <p:cNvPr id="3" name="text-48">
            <a:extLst xmlns:a="http://schemas.openxmlformats.org/drawingml/2006/main">
              <a:ext uri="{FF2B5EF4-FFF2-40B4-BE49-F238E27FC236}">
                <a16:creationId xmlns:a16="http://schemas.microsoft.com/office/drawing/2014/main" id="{930ECDD0-4CB2-4C38-B52B-3F0E3D9BBAF8}"/>
              </a:ext>
            </a:extLst>
          </p:cNvPr>
          <p:cNvSpPr>
            <a:spLocks xmlns:a="http://schemas.openxmlformats.org/drawingml/2006/main" noGrp="1"/>
          </p:cNvSpPr>
          <p:nvPr/>
        </p:nvSpPr>
        <p:spPr>
          <a:xfrm xmlns:a="http://schemas.openxmlformats.org/drawingml/2006/main">
            <a:off x="11239500" y="64198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14251D"/>
                </a:solidFill>
                <a:latin typeface="Arial"/>
                <a:ea typeface="Arial"/>
                <a:cs typeface="Arial"/>
              </a:defRPr>
            </a:pPr>
            <a:r>
              <a:rPr sz="1200" b="0">
                <a:solidFill>
                  <a:srgbClr val="14251D"/>
                </a:solidFill>
                <a:latin typeface="Arial"/>
                <a:ea typeface="Arial"/>
                <a:cs typeface="Arial"/>
              </a:rPr>
              <a:t>05</a:t>
            </a:r>
          </a:p>
        </p:txBody>
      </p:sp>
      <p:sp>
        <p:nvSpPr>
          <p:cNvPr id="4" name="text-49">
            <a:extLst xmlns:a="http://schemas.openxmlformats.org/drawingml/2006/main">
              <a:ext uri="{FF2B5EF4-FFF2-40B4-BE49-F238E27FC236}">
                <a16:creationId xmlns:a16="http://schemas.microsoft.com/office/drawing/2014/main" id="{565CF4E9-D56B-4B62-950E-E17D3B920F34}"/>
              </a:ext>
            </a:extLst>
          </p:cNvPr>
          <p:cNvSpPr>
            <a:spLocks xmlns:a="http://schemas.openxmlformats.org/drawingml/2006/main" noGrp="1"/>
          </p:cNvSpPr>
          <p:nvPr/>
        </p:nvSpPr>
        <p:spPr>
          <a:xfrm xmlns:a="http://schemas.openxmlformats.org/drawingml/2006/main">
            <a:off x="552450" y="120015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506056"/>
                </a:solidFill>
                <a:latin typeface="Arial"/>
                <a:ea typeface="Arial"/>
                <a:cs typeface="Arial"/>
              </a:defRPr>
            </a:pPr>
            <a:r>
              <a:rPr sz="1950" b="0">
                <a:solidFill>
                  <a:srgbClr val="506056"/>
                </a:solidFill>
                <a:latin typeface="Arial"/>
                <a:ea typeface="Arial"/>
                <a:cs typeface="Arial"/>
              </a:rPr>
              <a:t>Proposed architecture / one supervised demo</a:t>
            </a:r>
          </a:p>
        </p:txBody>
      </p:sp>
      <p:sp>
        <p:nvSpPr>
          <p:cNvPr id="5" name="">
            <a:extLst xmlns:a="http://schemas.openxmlformats.org/drawingml/2006/main">
              <a:ext uri="{FF2B5EF4-FFF2-40B4-BE49-F238E27FC236}">
                <a16:creationId xmlns:a16="http://schemas.microsoft.com/office/drawing/2014/main" id="{EAF0041D-E45B-4F78-99B3-3B35DD100EF2}"/>
              </a:ext>
            </a:extLst>
          </p:cNvPr>
          <p:cNvSpPr>
            <a:spLocks xmlns:a="http://schemas.openxmlformats.org/drawingml/2006/main" noGrp="1"/>
          </p:cNvSpPr>
          <p:nvPr/>
        </p:nvSpPr>
        <p:spPr>
          <a:xfrm xmlns:a="http://schemas.openxmlformats.org/drawingml/2006/main">
            <a:off x="533400" y="1990725"/>
            <a:ext cx="2581275" cy="2143125"/>
          </a:xfrm>
          <a:prstGeom xmlns:a="http://schemas.openxmlformats.org/drawingml/2006/main" prst="rect">
            <a:avLst/>
          </a:prstGeom>
          <a:solidFill xmlns:a="http://schemas.openxmlformats.org/drawingml/2006/main">
            <a:srgbClr val="14251D"/>
          </a:solidFill>
          <a:ln xmlns:a="http://schemas.openxmlformats.org/drawingml/2006/main" w="0">
            <a:noFill/>
          </a:ln>
        </p:spPr>
      </p:sp>
      <p:sp>
        <p:nvSpPr>
          <p:cNvPr id="6" name="text-50">
            <a:extLst xmlns:a="http://schemas.openxmlformats.org/drawingml/2006/main">
              <a:ext uri="{FF2B5EF4-FFF2-40B4-BE49-F238E27FC236}">
                <a16:creationId xmlns:a16="http://schemas.microsoft.com/office/drawing/2014/main" id="{A76922DA-414C-44C3-A0B7-CAD1D1CB9875}"/>
              </a:ext>
            </a:extLst>
          </p:cNvPr>
          <p:cNvSpPr>
            <a:spLocks xmlns:a="http://schemas.openxmlformats.org/drawingml/2006/main" noGrp="1"/>
          </p:cNvSpPr>
          <p:nvPr/>
        </p:nvSpPr>
        <p:spPr>
          <a:xfrm xmlns:a="http://schemas.openxmlformats.org/drawingml/2006/main">
            <a:off x="714375" y="2181225"/>
            <a:ext cx="2238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D2F56A"/>
                </a:solidFill>
                <a:latin typeface="Arial"/>
                <a:ea typeface="Arial"/>
                <a:cs typeface="Arial"/>
              </a:defRPr>
            </a:pPr>
            <a:r>
              <a:rPr sz="1200" b="1">
                <a:solidFill>
                  <a:srgbClr val="D2F56A"/>
                </a:solidFill>
                <a:latin typeface="Arial"/>
                <a:ea typeface="Arial"/>
                <a:cs typeface="Arial"/>
              </a:rPr>
              <a:t>01 / CAPTURE</a:t>
            </a:r>
          </a:p>
        </p:txBody>
      </p:sp>
      <p:sp>
        <p:nvSpPr>
          <p:cNvPr id="7" name="text-51">
            <a:extLst xmlns:a="http://schemas.openxmlformats.org/drawingml/2006/main">
              <a:ext uri="{FF2B5EF4-FFF2-40B4-BE49-F238E27FC236}">
                <a16:creationId xmlns:a16="http://schemas.microsoft.com/office/drawing/2014/main" id="{56D4709B-3959-4F87-88B8-9972EE0177AB}"/>
              </a:ext>
            </a:extLst>
          </p:cNvPr>
          <p:cNvSpPr>
            <a:spLocks xmlns:a="http://schemas.openxmlformats.org/drawingml/2006/main" noGrp="1"/>
          </p:cNvSpPr>
          <p:nvPr/>
        </p:nvSpPr>
        <p:spPr>
          <a:xfrm xmlns:a="http://schemas.openxmlformats.org/drawingml/2006/main">
            <a:off x="714375" y="2667000"/>
            <a:ext cx="2257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F7FAF5"/>
                </a:solidFill>
                <a:latin typeface="Arial"/>
                <a:ea typeface="Arial"/>
                <a:cs typeface="Arial"/>
              </a:defRPr>
            </a:pPr>
            <a:r>
              <a:rPr sz="1875" b="1">
                <a:solidFill>
                  <a:srgbClr val="F7FAF5"/>
                </a:solidFill>
                <a:latin typeface="Arial"/>
                <a:ea typeface="Arial"/>
                <a:cs typeface="Arial"/>
              </a:rPr>
              <a:t>Camera or video</a:t>
            </a:r>
          </a:p>
        </p:txBody>
      </p:sp>
      <p:sp>
        <p:nvSpPr>
          <p:cNvPr id="8" name="text-52">
            <a:extLst xmlns:a="http://schemas.openxmlformats.org/drawingml/2006/main">
              <a:ext uri="{FF2B5EF4-FFF2-40B4-BE49-F238E27FC236}">
                <a16:creationId xmlns:a16="http://schemas.microsoft.com/office/drawing/2014/main" id="{0F0EFB7C-0C4C-4EA2-9171-552B3DE7A555}"/>
              </a:ext>
            </a:extLst>
          </p:cNvPr>
          <p:cNvSpPr>
            <a:spLocks xmlns:a="http://schemas.openxmlformats.org/drawingml/2006/main" noGrp="1"/>
          </p:cNvSpPr>
          <p:nvPr/>
        </p:nvSpPr>
        <p:spPr>
          <a:xfrm xmlns:a="http://schemas.openxmlformats.org/drawingml/2006/main">
            <a:off x="714375" y="3248025"/>
            <a:ext cx="2257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F7FAF5"/>
                </a:solidFill>
                <a:latin typeface="Arial"/>
                <a:ea typeface="Arial"/>
                <a:cs typeface="Arial"/>
              </a:defRPr>
            </a:pPr>
            <a:r>
              <a:rPr sz="1575" b="0">
                <a:solidFill>
                  <a:srgbClr val="F7FAF5"/>
                </a:solidFill>
                <a:latin typeface="Arial"/>
                <a:ea typeface="Arial"/>
                <a:cs typeface="Arial"/>
              </a:rPr>
              <a:t>Browser camera or local video</a:t>
            </a:r>
          </a:p>
          <a:p xmlns:a="http://schemas.openxmlformats.org/drawingml/2006/main">
            <a:pPr>
              <a:defRPr sz="1575" b="0">
                <a:solidFill>
                  <a:srgbClr val="F7FAF5"/>
                </a:solidFill>
                <a:latin typeface="Arial"/>
                <a:ea typeface="Arial"/>
                <a:cs typeface="Arial"/>
              </a:defRPr>
            </a:pPr>
            <a:r>
              <a:rPr sz="1575" b="0">
                <a:solidFill>
                  <a:srgbClr val="F7FAF5"/>
                </a:solidFill>
                <a:latin typeface="Arial"/>
                <a:ea typeface="Arial"/>
                <a:cs typeface="Arial"/>
              </a:rPr>
              <a:t>a permitted scene.</a:t>
            </a:r>
          </a:p>
        </p:txBody>
      </p:sp>
      <p:sp>
        <p:nvSpPr>
          <p:cNvPr id="9" name="text-53">
            <a:extLst xmlns:a="http://schemas.openxmlformats.org/drawingml/2006/main">
              <a:ext uri="{FF2B5EF4-FFF2-40B4-BE49-F238E27FC236}">
                <a16:creationId xmlns:a16="http://schemas.microsoft.com/office/drawing/2014/main" id="{3180F0ED-1216-47B7-BA05-B88CE953EC53}"/>
              </a:ext>
            </a:extLst>
          </p:cNvPr>
          <p:cNvSpPr>
            <a:spLocks xmlns:a="http://schemas.openxmlformats.org/drawingml/2006/main" noGrp="1"/>
          </p:cNvSpPr>
          <p:nvPr/>
        </p:nvSpPr>
        <p:spPr>
          <a:xfrm xmlns:a="http://schemas.openxmlformats.org/drawingml/2006/main">
            <a:off x="3143250" y="2743200"/>
            <a:ext cx="257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4251D"/>
                </a:solidFill>
                <a:latin typeface="Arial"/>
                <a:ea typeface="Arial"/>
                <a:cs typeface="Arial"/>
              </a:defRPr>
            </a:pPr>
            <a:r>
              <a:rPr sz="2025" b="1">
                <a:solidFill>
                  <a:srgbClr val="14251D"/>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4D8D7792-F213-439B-AA4F-3CB2DF61BC3D}"/>
              </a:ext>
            </a:extLst>
          </p:cNvPr>
          <p:cNvSpPr>
            <a:spLocks xmlns:a="http://schemas.openxmlformats.org/drawingml/2006/main" noGrp="1"/>
          </p:cNvSpPr>
          <p:nvPr/>
        </p:nvSpPr>
        <p:spPr>
          <a:xfrm xmlns:a="http://schemas.openxmlformats.org/drawingml/2006/main">
            <a:off x="3381375" y="1990725"/>
            <a:ext cx="2581275" cy="2143125"/>
          </a:xfrm>
          <a:prstGeom xmlns:a="http://schemas.openxmlformats.org/drawingml/2006/main" prst="rect">
            <a:avLst/>
          </a:prstGeom>
          <a:solidFill xmlns:a="http://schemas.openxmlformats.org/drawingml/2006/main">
            <a:srgbClr val="14251D"/>
          </a:solidFill>
          <a:ln xmlns:a="http://schemas.openxmlformats.org/drawingml/2006/main" w="0">
            <a:noFill/>
          </a:ln>
        </p:spPr>
      </p:sp>
      <p:sp>
        <p:nvSpPr>
          <p:cNvPr id="11" name="text-54">
            <a:extLst xmlns:a="http://schemas.openxmlformats.org/drawingml/2006/main">
              <a:ext uri="{FF2B5EF4-FFF2-40B4-BE49-F238E27FC236}">
                <a16:creationId xmlns:a16="http://schemas.microsoft.com/office/drawing/2014/main" id="{4591665D-D966-4193-90E1-AE5FF7635562}"/>
              </a:ext>
            </a:extLst>
          </p:cNvPr>
          <p:cNvSpPr>
            <a:spLocks xmlns:a="http://schemas.openxmlformats.org/drawingml/2006/main" noGrp="1"/>
          </p:cNvSpPr>
          <p:nvPr/>
        </p:nvSpPr>
        <p:spPr>
          <a:xfrm xmlns:a="http://schemas.openxmlformats.org/drawingml/2006/main">
            <a:off x="3562350" y="2181225"/>
            <a:ext cx="2238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D2F56A"/>
                </a:solidFill>
                <a:latin typeface="Arial"/>
                <a:ea typeface="Arial"/>
                <a:cs typeface="Arial"/>
              </a:defRPr>
            </a:pPr>
            <a:r>
              <a:rPr sz="1200" b="1">
                <a:solidFill>
                  <a:srgbClr val="D2F56A"/>
                </a:solidFill>
                <a:latin typeface="Arial"/>
                <a:ea typeface="Arial"/>
                <a:cs typeface="Arial"/>
              </a:rPr>
              <a:t>02 / ANALYSE</a:t>
            </a:r>
          </a:p>
        </p:txBody>
      </p:sp>
      <p:sp>
        <p:nvSpPr>
          <p:cNvPr id="12" name="text-55">
            <a:extLst xmlns:a="http://schemas.openxmlformats.org/drawingml/2006/main">
              <a:ext uri="{FF2B5EF4-FFF2-40B4-BE49-F238E27FC236}">
                <a16:creationId xmlns:a16="http://schemas.microsoft.com/office/drawing/2014/main" id="{D526D0D6-23ED-4E11-B413-5450F4934473}"/>
              </a:ext>
            </a:extLst>
          </p:cNvPr>
          <p:cNvSpPr>
            <a:spLocks xmlns:a="http://schemas.openxmlformats.org/drawingml/2006/main" noGrp="1"/>
          </p:cNvSpPr>
          <p:nvPr/>
        </p:nvSpPr>
        <p:spPr>
          <a:xfrm xmlns:a="http://schemas.openxmlformats.org/drawingml/2006/main">
            <a:off x="3562350" y="2667000"/>
            <a:ext cx="2257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F7FAF5"/>
                </a:solidFill>
                <a:latin typeface="Arial"/>
                <a:ea typeface="Arial"/>
                <a:cs typeface="Arial"/>
              </a:defRPr>
            </a:pPr>
            <a:r>
              <a:rPr sz="1875" b="1">
                <a:solidFill>
                  <a:srgbClr val="F7FAF5"/>
                </a:solidFill>
                <a:latin typeface="Arial"/>
                <a:ea typeface="Arial"/>
                <a:cs typeface="Arial"/>
              </a:rPr>
              <a:t>Worker pipeline</a:t>
            </a:r>
          </a:p>
        </p:txBody>
      </p:sp>
      <p:sp>
        <p:nvSpPr>
          <p:cNvPr id="13" name="text-56">
            <a:extLst xmlns:a="http://schemas.openxmlformats.org/drawingml/2006/main">
              <a:ext uri="{FF2B5EF4-FFF2-40B4-BE49-F238E27FC236}">
                <a16:creationId xmlns:a16="http://schemas.microsoft.com/office/drawing/2014/main" id="{0A19C2B8-166F-4D45-B07F-ED2F6CF666E4}"/>
              </a:ext>
            </a:extLst>
          </p:cNvPr>
          <p:cNvSpPr>
            <a:spLocks xmlns:a="http://schemas.openxmlformats.org/drawingml/2006/main" noGrp="1"/>
          </p:cNvSpPr>
          <p:nvPr/>
        </p:nvSpPr>
        <p:spPr>
          <a:xfrm xmlns:a="http://schemas.openxmlformats.org/drawingml/2006/main">
            <a:off x="3562350" y="3248025"/>
            <a:ext cx="2257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F7FAF5"/>
                </a:solidFill>
                <a:latin typeface="Arial"/>
                <a:ea typeface="Arial"/>
                <a:cs typeface="Arial"/>
              </a:defRPr>
            </a:pPr>
            <a:r>
              <a:rPr sz="1575" b="0">
                <a:solidFill>
                  <a:srgbClr val="F7FAF5"/>
                </a:solidFill>
                <a:latin typeface="Arial"/>
                <a:ea typeface="Arial"/>
                <a:cs typeface="Arial"/>
              </a:rPr>
              <a:t>MediaPipe Pose Landmarker and EfficientDet-Lite0</a:t>
            </a:r>
          </a:p>
          <a:p xmlns:a="http://schemas.openxmlformats.org/drawingml/2006/main">
            <a:r>
              <a:t/>
            </a:r>
          </a:p>
        </p:txBody>
      </p:sp>
      <p:sp>
        <p:nvSpPr>
          <p:cNvPr id="14" name="text-57">
            <a:extLst xmlns:a="http://schemas.openxmlformats.org/drawingml/2006/main">
              <a:ext uri="{FF2B5EF4-FFF2-40B4-BE49-F238E27FC236}">
                <a16:creationId xmlns:a16="http://schemas.microsoft.com/office/drawing/2014/main" id="{0348F831-E1F0-4F7C-96E3-6FA9F49A9AC8}"/>
              </a:ext>
            </a:extLst>
          </p:cNvPr>
          <p:cNvSpPr>
            <a:spLocks xmlns:a="http://schemas.openxmlformats.org/drawingml/2006/main" noGrp="1"/>
          </p:cNvSpPr>
          <p:nvPr/>
        </p:nvSpPr>
        <p:spPr>
          <a:xfrm xmlns:a="http://schemas.openxmlformats.org/drawingml/2006/main">
            <a:off x="5991225" y="2743200"/>
            <a:ext cx="257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4251D"/>
                </a:solidFill>
                <a:latin typeface="Arial"/>
                <a:ea typeface="Arial"/>
                <a:cs typeface="Arial"/>
              </a:defRPr>
            </a:pPr>
            <a:r>
              <a:rPr sz="2025" b="1">
                <a:solidFill>
                  <a:srgbClr val="14251D"/>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8616CFC3-B054-4725-9CA3-80227BF0D138}"/>
              </a:ext>
            </a:extLst>
          </p:cNvPr>
          <p:cNvSpPr>
            <a:spLocks xmlns:a="http://schemas.openxmlformats.org/drawingml/2006/main" noGrp="1"/>
          </p:cNvSpPr>
          <p:nvPr/>
        </p:nvSpPr>
        <p:spPr>
          <a:xfrm xmlns:a="http://schemas.openxmlformats.org/drawingml/2006/main">
            <a:off x="6229350" y="1990725"/>
            <a:ext cx="2581275" cy="2143125"/>
          </a:xfrm>
          <a:prstGeom xmlns:a="http://schemas.openxmlformats.org/drawingml/2006/main" prst="rect">
            <a:avLst/>
          </a:prstGeom>
          <a:solidFill xmlns:a="http://schemas.openxmlformats.org/drawingml/2006/main">
            <a:srgbClr val="D2F56A"/>
          </a:solidFill>
          <a:ln xmlns:a="http://schemas.openxmlformats.org/drawingml/2006/main" w="0">
            <a:noFill/>
          </a:ln>
        </p:spPr>
      </p:sp>
      <p:sp>
        <p:nvSpPr>
          <p:cNvPr id="16" name="text-58">
            <a:extLst xmlns:a="http://schemas.openxmlformats.org/drawingml/2006/main">
              <a:ext uri="{FF2B5EF4-FFF2-40B4-BE49-F238E27FC236}">
                <a16:creationId xmlns:a16="http://schemas.microsoft.com/office/drawing/2014/main" id="{8BEF0CEC-7B6E-4BB1-8643-E1DD37FD0E33}"/>
              </a:ext>
            </a:extLst>
          </p:cNvPr>
          <p:cNvSpPr>
            <a:spLocks xmlns:a="http://schemas.openxmlformats.org/drawingml/2006/main" noGrp="1"/>
          </p:cNvSpPr>
          <p:nvPr/>
        </p:nvSpPr>
        <p:spPr>
          <a:xfrm xmlns:a="http://schemas.openxmlformats.org/drawingml/2006/main">
            <a:off x="6410325" y="2181225"/>
            <a:ext cx="2238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4251D"/>
                </a:solidFill>
                <a:latin typeface="Arial"/>
                <a:ea typeface="Arial"/>
                <a:cs typeface="Arial"/>
              </a:defRPr>
            </a:pPr>
            <a:r>
              <a:rPr sz="1200" b="1">
                <a:solidFill>
                  <a:srgbClr val="14251D"/>
                </a:solidFill>
                <a:latin typeface="Arial"/>
                <a:ea typeface="Arial"/>
                <a:cs typeface="Arial"/>
              </a:rPr>
              <a:t>03 / REVIEW</a:t>
            </a:r>
          </a:p>
        </p:txBody>
      </p:sp>
      <p:sp>
        <p:nvSpPr>
          <p:cNvPr id="17" name="text-59">
            <a:extLst xmlns:a="http://schemas.openxmlformats.org/drawingml/2006/main">
              <a:ext uri="{FF2B5EF4-FFF2-40B4-BE49-F238E27FC236}">
                <a16:creationId xmlns:a16="http://schemas.microsoft.com/office/drawing/2014/main" id="{98198392-C55D-4964-A422-2FC63830E61A}"/>
              </a:ext>
            </a:extLst>
          </p:cNvPr>
          <p:cNvSpPr>
            <a:spLocks xmlns:a="http://schemas.openxmlformats.org/drawingml/2006/main" noGrp="1"/>
          </p:cNvSpPr>
          <p:nvPr/>
        </p:nvSpPr>
        <p:spPr>
          <a:xfrm xmlns:a="http://schemas.openxmlformats.org/drawingml/2006/main">
            <a:off x="6410325" y="2667000"/>
            <a:ext cx="2257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Scene + rail</a:t>
            </a:r>
          </a:p>
        </p:txBody>
      </p:sp>
      <p:sp>
        <p:nvSpPr>
          <p:cNvPr id="18" name="text-60">
            <a:extLst xmlns:a="http://schemas.openxmlformats.org/drawingml/2006/main">
              <a:ext uri="{FF2B5EF4-FFF2-40B4-BE49-F238E27FC236}">
                <a16:creationId xmlns:a16="http://schemas.microsoft.com/office/drawing/2014/main" id="{34D734BF-75AC-478C-B870-E7DA3BDA8B3B}"/>
              </a:ext>
            </a:extLst>
          </p:cNvPr>
          <p:cNvSpPr>
            <a:spLocks xmlns:a="http://schemas.openxmlformats.org/drawingml/2006/main" noGrp="1"/>
          </p:cNvSpPr>
          <p:nvPr/>
        </p:nvSpPr>
        <p:spPr>
          <a:xfrm xmlns:a="http://schemas.openxmlformats.org/drawingml/2006/main">
            <a:off x="6410325" y="3248025"/>
            <a:ext cx="2257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14251D"/>
                </a:solidFill>
                <a:latin typeface="Arial"/>
                <a:ea typeface="Arial"/>
                <a:cs typeface="Arial"/>
              </a:defRPr>
            </a:pPr>
            <a:r>
              <a:rPr sz="1575" b="0">
                <a:solidFill>
                  <a:srgbClr val="14251D"/>
                </a:solidFill>
                <a:latin typeface="Arial"/>
                <a:ea typeface="Arial"/>
                <a:cs typeface="Arial"/>
              </a:rPr>
              <a:t>Canvas skeletons, object boxes and</a:t>
            </a:r>
          </a:p>
          <a:p xmlns:a="http://schemas.openxmlformats.org/drawingml/2006/main">
            <a:pPr>
              <a:defRPr sz="1575" b="0">
                <a:solidFill>
                  <a:srgbClr val="14251D"/>
                </a:solidFill>
                <a:latin typeface="Arial"/>
                <a:ea typeface="Arial"/>
                <a:cs typeface="Arial"/>
              </a:defRPr>
            </a:pPr>
            <a:r>
              <a:rPr sz="1575" b="0">
                <a:solidFill>
                  <a:srgbClr val="14251D"/>
                </a:solidFill>
                <a:latin typeface="Arial"/>
                <a:ea typeface="Arial"/>
                <a:cs typeface="Arial"/>
              </a:rPr>
              <a:t>reasoned review event.</a:t>
            </a:r>
          </a:p>
        </p:txBody>
      </p:sp>
      <p:sp>
        <p:nvSpPr>
          <p:cNvPr id="19" name="text-61">
            <a:extLst xmlns:a="http://schemas.openxmlformats.org/drawingml/2006/main">
              <a:ext uri="{FF2B5EF4-FFF2-40B4-BE49-F238E27FC236}">
                <a16:creationId xmlns:a16="http://schemas.microsoft.com/office/drawing/2014/main" id="{584C0F0F-E789-4BE0-9559-BC8EA98E2404}"/>
              </a:ext>
            </a:extLst>
          </p:cNvPr>
          <p:cNvSpPr>
            <a:spLocks xmlns:a="http://schemas.openxmlformats.org/drawingml/2006/main" noGrp="1"/>
          </p:cNvSpPr>
          <p:nvPr/>
        </p:nvSpPr>
        <p:spPr>
          <a:xfrm xmlns:a="http://schemas.openxmlformats.org/drawingml/2006/main">
            <a:off x="8839200" y="2743200"/>
            <a:ext cx="257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4251D"/>
                </a:solidFill>
                <a:latin typeface="Arial"/>
                <a:ea typeface="Arial"/>
                <a:cs typeface="Arial"/>
              </a:defRPr>
            </a:pPr>
            <a:r>
              <a:rPr sz="2025" b="1">
                <a:solidFill>
                  <a:srgbClr val="14251D"/>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3CE869F6-17E4-4DEB-BB02-195165B11867}"/>
              </a:ext>
            </a:extLst>
          </p:cNvPr>
          <p:cNvSpPr>
            <a:spLocks xmlns:a="http://schemas.openxmlformats.org/drawingml/2006/main" noGrp="1"/>
          </p:cNvSpPr>
          <p:nvPr/>
        </p:nvSpPr>
        <p:spPr>
          <a:xfrm xmlns:a="http://schemas.openxmlformats.org/drawingml/2006/main">
            <a:off x="9077325" y="1990725"/>
            <a:ext cx="2581275" cy="2143125"/>
          </a:xfrm>
          <a:prstGeom xmlns:a="http://schemas.openxmlformats.org/drawingml/2006/main" prst="rect">
            <a:avLst/>
          </a:prstGeom>
          <a:solidFill xmlns:a="http://schemas.openxmlformats.org/drawingml/2006/main">
            <a:srgbClr val="14251D"/>
          </a:solidFill>
          <a:ln xmlns:a="http://schemas.openxmlformats.org/drawingml/2006/main" w="0">
            <a:noFill/>
          </a:ln>
        </p:spPr>
      </p:sp>
      <p:sp>
        <p:nvSpPr>
          <p:cNvPr id="21" name="text-62">
            <a:extLst xmlns:a="http://schemas.openxmlformats.org/drawingml/2006/main">
              <a:ext uri="{FF2B5EF4-FFF2-40B4-BE49-F238E27FC236}">
                <a16:creationId xmlns:a16="http://schemas.microsoft.com/office/drawing/2014/main" id="{F0727CB0-7414-445A-B87A-ABED50DD6640}"/>
              </a:ext>
            </a:extLst>
          </p:cNvPr>
          <p:cNvSpPr>
            <a:spLocks xmlns:a="http://schemas.openxmlformats.org/drawingml/2006/main" noGrp="1"/>
          </p:cNvSpPr>
          <p:nvPr/>
        </p:nvSpPr>
        <p:spPr>
          <a:xfrm xmlns:a="http://schemas.openxmlformats.org/drawingml/2006/main">
            <a:off x="9258300" y="2181225"/>
            <a:ext cx="2238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D2F56A"/>
                </a:solidFill>
                <a:latin typeface="Arial"/>
                <a:ea typeface="Arial"/>
                <a:cs typeface="Arial"/>
              </a:defRPr>
            </a:pPr>
            <a:r>
              <a:rPr sz="1200" b="1">
                <a:solidFill>
                  <a:srgbClr val="D2F56A"/>
                </a:solidFill>
                <a:latin typeface="Arial"/>
                <a:ea typeface="Arial"/>
                <a:cs typeface="Arial"/>
              </a:rPr>
              <a:t>04 / RESPOND</a:t>
            </a:r>
          </a:p>
        </p:txBody>
      </p:sp>
      <p:sp>
        <p:nvSpPr>
          <p:cNvPr id="22" name="text-63">
            <a:extLst xmlns:a="http://schemas.openxmlformats.org/drawingml/2006/main">
              <a:ext uri="{FF2B5EF4-FFF2-40B4-BE49-F238E27FC236}">
                <a16:creationId xmlns:a16="http://schemas.microsoft.com/office/drawing/2014/main" id="{76EE56A7-87F6-4627-8BF9-E57CEA7A16ED}"/>
              </a:ext>
            </a:extLst>
          </p:cNvPr>
          <p:cNvSpPr>
            <a:spLocks xmlns:a="http://schemas.openxmlformats.org/drawingml/2006/main" noGrp="1"/>
          </p:cNvSpPr>
          <p:nvPr/>
        </p:nvSpPr>
        <p:spPr>
          <a:xfrm xmlns:a="http://schemas.openxmlformats.org/drawingml/2006/main">
            <a:off x="9258300" y="2667000"/>
            <a:ext cx="2257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F7FAF5"/>
                </a:solidFill>
                <a:latin typeface="Arial"/>
                <a:ea typeface="Arial"/>
                <a:cs typeface="Arial"/>
              </a:defRPr>
            </a:pPr>
            <a:r>
              <a:rPr sz="1875" b="1">
                <a:solidFill>
                  <a:srgbClr val="F7FAF5"/>
                </a:solidFill>
                <a:latin typeface="Arial"/>
                <a:ea typeface="Arial"/>
                <a:cs typeface="Arial"/>
              </a:rPr>
              <a:t>Local session</a:t>
            </a:r>
          </a:p>
        </p:txBody>
      </p:sp>
      <p:sp>
        <p:nvSpPr>
          <p:cNvPr id="23" name="text-64">
            <a:extLst xmlns:a="http://schemas.openxmlformats.org/drawingml/2006/main">
              <a:ext uri="{FF2B5EF4-FFF2-40B4-BE49-F238E27FC236}">
                <a16:creationId xmlns:a16="http://schemas.microsoft.com/office/drawing/2014/main" id="{4086F31C-1B95-4483-9BC4-DE69763F82B6}"/>
              </a:ext>
            </a:extLst>
          </p:cNvPr>
          <p:cNvSpPr>
            <a:spLocks xmlns:a="http://schemas.openxmlformats.org/drawingml/2006/main" noGrp="1"/>
          </p:cNvSpPr>
          <p:nvPr/>
        </p:nvSpPr>
        <p:spPr>
          <a:xfrm xmlns:a="http://schemas.openxmlformats.org/drawingml/2006/main">
            <a:off x="9258300" y="3248025"/>
            <a:ext cx="2257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F7FAF5"/>
                </a:solidFill>
                <a:latin typeface="Arial"/>
                <a:ea typeface="Arial"/>
                <a:cs typeface="Arial"/>
              </a:defRPr>
            </a:pPr>
            <a:r>
              <a:rPr sz="1575" b="0">
                <a:solidFill>
                  <a:srgbClr val="F7FAF5"/>
                </a:solidFill>
                <a:latin typeface="Arial"/>
                <a:ea typeface="Arial"/>
                <a:cs typeface="Arial"/>
              </a:rPr>
              <a:t>Tone, acknowledge and replay;</a:t>
            </a:r>
          </a:p>
          <a:p xmlns:a="http://schemas.openxmlformats.org/drawingml/2006/main">
            <a:pPr>
              <a:defRPr sz="1575" b="0">
                <a:solidFill>
                  <a:srgbClr val="F7FAF5"/>
                </a:solidFill>
                <a:latin typeface="Arial"/>
                <a:ea typeface="Arial"/>
                <a:cs typeface="Arial"/>
              </a:defRPr>
            </a:pPr>
            <a:r>
              <a:rPr sz="1575" b="0">
                <a:solidFill>
                  <a:srgbClr val="F7FAF5"/>
                </a:solidFill>
                <a:latin typeface="Arial"/>
                <a:ea typeface="Arial"/>
                <a:cs typeface="Arial"/>
              </a:rPr>
              <a:t>session log and close.</a:t>
            </a:r>
          </a:p>
        </p:txBody>
      </p:sp>
      <p:sp>
        <p:nvSpPr>
          <p:cNvPr id="24" name="text-65">
            <a:extLst xmlns:a="http://schemas.openxmlformats.org/drawingml/2006/main">
              <a:ext uri="{FF2B5EF4-FFF2-40B4-BE49-F238E27FC236}">
                <a16:creationId xmlns:a16="http://schemas.microsoft.com/office/drawing/2014/main" id="{98CB26EC-C063-48A9-8219-EB7A233BB1DD}"/>
              </a:ext>
            </a:extLst>
          </p:cNvPr>
          <p:cNvSpPr>
            <a:spLocks xmlns:a="http://schemas.openxmlformats.org/drawingml/2006/main" noGrp="1"/>
          </p:cNvSpPr>
          <p:nvPr/>
        </p:nvSpPr>
        <p:spPr>
          <a:xfrm xmlns:a="http://schemas.openxmlformats.org/drawingml/2006/main">
            <a:off x="533400" y="4581525"/>
            <a:ext cx="52482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Frontend / runtime</a:t>
            </a:r>
          </a:p>
        </p:txBody>
      </p:sp>
      <p:sp>
        <p:nvSpPr>
          <p:cNvPr id="25" name="text-66">
            <a:extLst xmlns:a="http://schemas.openxmlformats.org/drawingml/2006/main">
              <a:ext uri="{FF2B5EF4-FFF2-40B4-BE49-F238E27FC236}">
                <a16:creationId xmlns:a16="http://schemas.microsoft.com/office/drawing/2014/main" id="{29073C0C-5391-406B-9DD4-7FBDACCC502D}"/>
              </a:ext>
            </a:extLst>
          </p:cNvPr>
          <p:cNvSpPr>
            <a:spLocks xmlns:a="http://schemas.openxmlformats.org/drawingml/2006/main" noGrp="1"/>
          </p:cNvSpPr>
          <p:nvPr/>
        </p:nvSpPr>
        <p:spPr>
          <a:xfrm xmlns:a="http://schemas.openxmlformats.org/drawingml/2006/main">
            <a:off x="533400" y="4991100"/>
            <a:ext cx="52482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React 19 + TypeScript + Vite. Canvas draws aligned skeletons and object boxes.</a:t>
            </a:r>
          </a:p>
        </p:txBody>
      </p:sp>
      <p:sp>
        <p:nvSpPr>
          <p:cNvPr id="26" name="text-67">
            <a:extLst xmlns:a="http://schemas.openxmlformats.org/drawingml/2006/main">
              <a:ext uri="{FF2B5EF4-FFF2-40B4-BE49-F238E27FC236}">
                <a16:creationId xmlns:a16="http://schemas.microsoft.com/office/drawing/2014/main" id="{E0DD66AC-3D2B-4BB7-91C3-324E6108EF33}"/>
              </a:ext>
            </a:extLst>
          </p:cNvPr>
          <p:cNvSpPr>
            <a:spLocks xmlns:a="http://schemas.openxmlformats.org/drawingml/2006/main" noGrp="1"/>
          </p:cNvSpPr>
          <p:nvPr/>
        </p:nvSpPr>
        <p:spPr>
          <a:xfrm xmlns:a="http://schemas.openxmlformats.org/drawingml/2006/main">
            <a:off x="6400800" y="4581525"/>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Workers / models</a:t>
            </a:r>
          </a:p>
        </p:txBody>
      </p:sp>
      <p:sp>
        <p:nvSpPr>
          <p:cNvPr id="27" name="text-68">
            <a:extLst xmlns:a="http://schemas.openxmlformats.org/drawingml/2006/main">
              <a:ext uri="{FF2B5EF4-FFF2-40B4-BE49-F238E27FC236}">
                <a16:creationId xmlns:a16="http://schemas.microsoft.com/office/drawing/2014/main" id="{34427DD5-61D0-408E-9E3F-EBA6EAFDB6D6}"/>
              </a:ext>
            </a:extLst>
          </p:cNvPr>
          <p:cNvSpPr>
            <a:spLocks xmlns:a="http://schemas.openxmlformats.org/drawingml/2006/main" noGrp="1"/>
          </p:cNvSpPr>
          <p:nvPr/>
        </p:nvSpPr>
        <p:spPr>
          <a:xfrm xmlns:a="http://schemas.openxmlformats.org/drawingml/2006/main">
            <a:off x="6400800" y="4991100"/>
            <a:ext cx="5257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Two MediaPipe workers isolate pose runtimes; an EfficientDet-Lite0 CPU worker runs object analysis. No backend or cloud service is required.</a:t>
            </a:r>
          </a:p>
        </p:txBody>
      </p:sp>
      <p:sp>
        <p:nvSpPr>
          <p:cNvPr id="28" name="text-69">
            <a:extLst xmlns:a="http://schemas.openxmlformats.org/drawingml/2006/main">
              <a:ext uri="{FF2B5EF4-FFF2-40B4-BE49-F238E27FC236}">
                <a16:creationId xmlns:a16="http://schemas.microsoft.com/office/drawing/2014/main" id="{8042826D-1EB1-4837-ABED-102084AF8B5F}"/>
              </a:ext>
            </a:extLst>
          </p:cNvPr>
          <p:cNvSpPr>
            <a:spLocks xmlns:a="http://schemas.openxmlformats.org/drawingml/2006/main" noGrp="1"/>
          </p:cNvSpPr>
          <p:nvPr/>
        </p:nvSpPr>
        <p:spPr>
          <a:xfrm xmlns:a="http://schemas.openxmlformats.org/drawingml/2006/main">
            <a:off x="552450" y="5953125"/>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06056"/>
                </a:solidFill>
                <a:latin typeface="Arial"/>
                <a:ea typeface="Arial"/>
                <a:cs typeface="Arial"/>
              </a:defRPr>
            </a:pPr>
            <a:r>
              <a:rPr sz="1575" b="0">
                <a:solidFill>
                  <a:srgbClr val="506056"/>
                </a:solidFill>
                <a:latin typeface="Arial"/>
                <a:ea typeface="Arial"/>
                <a:cs typeface="Arial"/>
              </a:rPr>
              <a:t>Local browser inference. Frames, tracks and review events stay in the session.</a:t>
            </a:r>
          </a:p>
        </p:txBody>
      </p:sp>
    </p:spTree>
    <p:extLst>
      <p:ext uri="{BB962C8B-B14F-4D97-AF65-F5344CB8AC3E}">
        <p14:creationId xmlns:p14="http://schemas.microsoft.com/office/powerpoint/2010/main" val="887753216"/>
      </p:ext>
    </p:extLst>
  </p:cSld>
</p:sld>
</file>

<file path=ppt/slides/slide6.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sp>
        <p:nvSpPr>
          <p:cNvPr id="13" name="text-70">
            <a:extLst xmlns:a="http://schemas.openxmlformats.org/drawingml/2006/main">
              <a:ext uri="{FF2B5EF4-FFF2-40B4-BE49-F238E27FC236}">
                <a16:creationId xmlns:a16="http://schemas.microsoft.com/office/drawing/2014/main" id="{28181AC9-E9E8-4EB2-9B1E-C628E5863B8D}"/>
              </a:ext>
            </a:extLst>
          </p:cNvPr>
          <p:cNvSpPr>
            <a:spLocks xmlns:a="http://schemas.openxmlformats.org/drawingml/2006/main" noGrp="1"/>
          </p:cNvSpPr>
          <p:nvPr/>
        </p:nvSpPr>
        <p:spPr>
          <a:xfrm xmlns:a="http://schemas.openxmlformats.org/drawingml/2006/main">
            <a:off x="533400" y="4476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4251D"/>
                </a:solidFill>
                <a:latin typeface="Arial"/>
                <a:ea typeface="Arial"/>
                <a:cs typeface="Arial"/>
              </a:defRPr>
            </a:pPr>
            <a:r>
              <a:rPr sz="3600" b="1">
                <a:solidFill>
                  <a:srgbClr val="14251D"/>
                </a:solidFill>
                <a:latin typeface="Arial"/>
                <a:ea typeface="Arial"/>
                <a:cs typeface="Arial"/>
              </a:rPr>
              <a:t>Feasibility and Viability</a:t>
            </a:r>
          </a:p>
        </p:txBody>
      </p:sp>
      <p:sp>
        <p:nvSpPr>
          <p:cNvPr id="2" name="text-71">
            <a:extLst xmlns:a="http://schemas.openxmlformats.org/drawingml/2006/main">
              <a:ext uri="{FF2B5EF4-FFF2-40B4-BE49-F238E27FC236}">
                <a16:creationId xmlns:a16="http://schemas.microsoft.com/office/drawing/2014/main" id="{B66D8544-9921-4BBE-BE8B-D9A352865482}"/>
              </a:ext>
            </a:extLst>
          </p:cNvPr>
          <p:cNvSpPr>
            <a:spLocks xmlns:a="http://schemas.openxmlformats.org/drawingml/2006/main" noGrp="1"/>
          </p:cNvSpPr>
          <p:nvPr/>
        </p:nvSpPr>
        <p:spPr>
          <a:xfrm xmlns:a="http://schemas.openxmlformats.org/drawingml/2006/main">
            <a:off x="533400" y="645795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06056"/>
                </a:solidFill>
                <a:latin typeface="Arial"/>
                <a:ea typeface="Arial"/>
                <a:cs typeface="Arial"/>
              </a:defRPr>
            </a:pPr>
            <a:r>
              <a:rPr sz="975" b="0">
                <a:solidFill>
                  <a:srgbClr val="506056"/>
                </a:solidFill>
                <a:latin typeface="Arial"/>
                <a:ea typeface="Arial"/>
                <a:cs typeface="Arial"/>
              </a:rPr>
              <a:t>NIVRA / BAL BHARATI HACKATHON 3.0</a:t>
            </a:r>
          </a:p>
        </p:txBody>
      </p:sp>
      <p:sp>
        <p:nvSpPr>
          <p:cNvPr id="3" name="text-72">
            <a:extLst xmlns:a="http://schemas.openxmlformats.org/drawingml/2006/main">
              <a:ext uri="{FF2B5EF4-FFF2-40B4-BE49-F238E27FC236}">
                <a16:creationId xmlns:a16="http://schemas.microsoft.com/office/drawing/2014/main" id="{03337516-425C-46AC-8B05-CFA58C60EEA7}"/>
              </a:ext>
            </a:extLst>
          </p:cNvPr>
          <p:cNvSpPr>
            <a:spLocks xmlns:a="http://schemas.openxmlformats.org/drawingml/2006/main" noGrp="1"/>
          </p:cNvSpPr>
          <p:nvPr/>
        </p:nvSpPr>
        <p:spPr>
          <a:xfrm xmlns:a="http://schemas.openxmlformats.org/drawingml/2006/main">
            <a:off x="11239500" y="64198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14251D"/>
                </a:solidFill>
                <a:latin typeface="Arial"/>
                <a:ea typeface="Arial"/>
                <a:cs typeface="Arial"/>
              </a:defRPr>
            </a:pPr>
            <a:r>
              <a:rPr sz="1200" b="0">
                <a:solidFill>
                  <a:srgbClr val="14251D"/>
                </a:solidFill>
                <a:latin typeface="Arial"/>
                <a:ea typeface="Arial"/>
                <a:cs typeface="Arial"/>
              </a:rPr>
              <a:t>06</a:t>
            </a:r>
          </a:p>
        </p:txBody>
      </p:sp>
      <p:sp>
        <p:nvSpPr>
          <p:cNvPr id="4" name="text-73">
            <a:extLst xmlns:a="http://schemas.openxmlformats.org/drawingml/2006/main">
              <a:ext uri="{FF2B5EF4-FFF2-40B4-BE49-F238E27FC236}">
                <a16:creationId xmlns:a16="http://schemas.microsoft.com/office/drawing/2014/main" id="{A643BC8E-81BB-4114-B892-14CFF4546606}"/>
              </a:ext>
            </a:extLst>
          </p:cNvPr>
          <p:cNvSpPr>
            <a:spLocks xmlns:a="http://schemas.openxmlformats.org/drawingml/2006/main" noGrp="1"/>
          </p:cNvSpPr>
          <p:nvPr/>
        </p:nvSpPr>
        <p:spPr>
          <a:xfrm xmlns:a="http://schemas.openxmlformats.org/drawingml/2006/main">
            <a:off x="533400" y="1381125"/>
            <a:ext cx="52482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Technical</a:t>
            </a:r>
          </a:p>
        </p:txBody>
      </p:sp>
      <p:sp>
        <p:nvSpPr>
          <p:cNvPr id="5" name="text-74">
            <a:extLst xmlns:a="http://schemas.openxmlformats.org/drawingml/2006/main">
              <a:ext uri="{FF2B5EF4-FFF2-40B4-BE49-F238E27FC236}">
                <a16:creationId xmlns:a16="http://schemas.microsoft.com/office/drawing/2014/main" id="{6926AFD8-3D9F-4776-88CE-482FD5C9817B}"/>
              </a:ext>
            </a:extLst>
          </p:cNvPr>
          <p:cNvSpPr>
            <a:spLocks xmlns:a="http://schemas.openxmlformats.org/drawingml/2006/main" noGrp="1"/>
          </p:cNvSpPr>
          <p:nvPr/>
        </p:nvSpPr>
        <p:spPr>
          <a:xfrm xmlns:a="http://schemas.openxmlformats.org/drawingml/2006/main">
            <a:off x="533400" y="1790700"/>
            <a:ext cx="52482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MediaPipe and EfficientDet assets are bundled locally. Pose and object rules are implemented; real-world accuracy remains unvalidated.</a:t>
            </a:r>
          </a:p>
        </p:txBody>
      </p:sp>
      <p:sp>
        <p:nvSpPr>
          <p:cNvPr id="6" name="text-75">
            <a:extLst xmlns:a="http://schemas.openxmlformats.org/drawingml/2006/main">
              <a:ext uri="{FF2B5EF4-FFF2-40B4-BE49-F238E27FC236}">
                <a16:creationId xmlns:a16="http://schemas.microsoft.com/office/drawing/2014/main" id="{4C078EF5-692E-40E2-8EC0-D85FF600B138}"/>
              </a:ext>
            </a:extLst>
          </p:cNvPr>
          <p:cNvSpPr>
            <a:spLocks xmlns:a="http://schemas.openxmlformats.org/drawingml/2006/main" noGrp="1"/>
          </p:cNvSpPr>
          <p:nvPr/>
        </p:nvSpPr>
        <p:spPr>
          <a:xfrm xmlns:a="http://schemas.openxmlformats.org/drawingml/2006/main">
            <a:off x="6400800" y="1381125"/>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Operational</a:t>
            </a:r>
          </a:p>
        </p:txBody>
      </p:sp>
      <p:sp>
        <p:nvSpPr>
          <p:cNvPr id="7" name="text-76">
            <a:extLst xmlns:a="http://schemas.openxmlformats.org/drawingml/2006/main">
              <a:ext uri="{FF2B5EF4-FFF2-40B4-BE49-F238E27FC236}">
                <a16:creationId xmlns:a16="http://schemas.microsoft.com/office/drawing/2014/main" id="{2681ECFC-6927-42A1-9D99-3AABAA1009B6}"/>
              </a:ext>
            </a:extLst>
          </p:cNvPr>
          <p:cNvSpPr>
            <a:spLocks xmlns:a="http://schemas.openxmlformats.org/drawingml/2006/main" noGrp="1"/>
          </p:cNvSpPr>
          <p:nvPr/>
        </p:nvSpPr>
        <p:spPr>
          <a:xfrm xmlns:a="http://schemas.openxmlformats.org/drawingml/2006/main">
            <a:off x="6400800" y="1790700"/>
            <a:ext cx="5257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Camera, local video or scripted test scenario. Operator reviews one event at a time and acknowledges it.</a:t>
            </a:r>
          </a:p>
        </p:txBody>
      </p:sp>
      <p:sp>
        <p:nvSpPr>
          <p:cNvPr id="8" name="text-77">
            <a:extLst xmlns:a="http://schemas.openxmlformats.org/drawingml/2006/main">
              <a:ext uri="{FF2B5EF4-FFF2-40B4-BE49-F238E27FC236}">
                <a16:creationId xmlns:a16="http://schemas.microsoft.com/office/drawing/2014/main" id="{B0E406B1-B919-4CC0-8573-4E206E43ACE7}"/>
              </a:ext>
            </a:extLst>
          </p:cNvPr>
          <p:cNvSpPr>
            <a:spLocks xmlns:a="http://schemas.openxmlformats.org/drawingml/2006/main" noGrp="1"/>
          </p:cNvSpPr>
          <p:nvPr/>
        </p:nvSpPr>
        <p:spPr>
          <a:xfrm xmlns:a="http://schemas.openxmlformats.org/drawingml/2006/main">
            <a:off x="533400" y="2790825"/>
            <a:ext cx="52482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Resources needed</a:t>
            </a:r>
          </a:p>
        </p:txBody>
      </p:sp>
      <p:sp>
        <p:nvSpPr>
          <p:cNvPr id="9" name="text-78">
            <a:extLst xmlns:a="http://schemas.openxmlformats.org/drawingml/2006/main">
              <a:ext uri="{FF2B5EF4-FFF2-40B4-BE49-F238E27FC236}">
                <a16:creationId xmlns:a16="http://schemas.microsoft.com/office/drawing/2014/main" id="{99D94711-3252-49BD-BC8A-E5176FF038A5}"/>
              </a:ext>
            </a:extLst>
          </p:cNvPr>
          <p:cNvSpPr>
            <a:spLocks xmlns:a="http://schemas.openxmlformats.org/drawingml/2006/main" noGrp="1"/>
          </p:cNvSpPr>
          <p:nvPr/>
        </p:nvSpPr>
        <p:spPr>
          <a:xfrm xmlns:a="http://schemas.openxmlformats.org/drawingml/2006/main">
            <a:off x="533400" y="3200400"/>
            <a:ext cx="52482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Node 24, Chrome, browser camera/video, local model assets and a capable CPU/GPU. No cloud backend.</a:t>
            </a:r>
          </a:p>
        </p:txBody>
      </p:sp>
      <p:sp>
        <p:nvSpPr>
          <p:cNvPr id="10" name="text-79">
            <a:extLst xmlns:a="http://schemas.openxmlformats.org/drawingml/2006/main">
              <a:ext uri="{FF2B5EF4-FFF2-40B4-BE49-F238E27FC236}">
                <a16:creationId xmlns:a16="http://schemas.microsoft.com/office/drawing/2014/main" id="{4DA9C633-ECE3-4E06-964E-B3D451B7589E}"/>
              </a:ext>
            </a:extLst>
          </p:cNvPr>
          <p:cNvSpPr>
            <a:spLocks xmlns:a="http://schemas.openxmlformats.org/drawingml/2006/main" noGrp="1"/>
          </p:cNvSpPr>
          <p:nvPr/>
        </p:nvSpPr>
        <p:spPr>
          <a:xfrm xmlns:a="http://schemas.openxmlformats.org/drawingml/2006/main">
            <a:off x="6400800" y="2790825"/>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Data &amp; build plan</a:t>
            </a:r>
          </a:p>
        </p:txBody>
      </p:sp>
      <p:sp>
        <p:nvSpPr>
          <p:cNvPr id="11" name="text-80">
            <a:extLst xmlns:a="http://schemas.openxmlformats.org/drawingml/2006/main">
              <a:ext uri="{FF2B5EF4-FFF2-40B4-BE49-F238E27FC236}">
                <a16:creationId xmlns:a16="http://schemas.microsoft.com/office/drawing/2014/main" id="{A873BFD9-86AD-4F69-AA81-94A085E2541E}"/>
              </a:ext>
            </a:extLst>
          </p:cNvPr>
          <p:cNvSpPr>
            <a:spLocks xmlns:a="http://schemas.openxmlformats.org/drawingml/2006/main" noGrp="1"/>
          </p:cNvSpPr>
          <p:nvPr/>
        </p:nvSpPr>
        <p:spPr>
          <a:xfrm xmlns:a="http://schemas.openxmlformats.org/drawingml/2006/main">
            <a:off x="6400800" y="3200400"/>
            <a:ext cx="5257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Frames are not uploaded, recorded or persisted. Use permitted staged footage and the repository’s scripted scenarios.</a:t>
            </a:r>
          </a:p>
        </p:txBody>
      </p:sp>
      <p:graphicFrame>
        <p:nvGraphicFramePr>
          <p:cNvPr id="24" name=""/>
          <p:cNvGraphicFramePr/>
          <p:nvPr/>
        </p:nvGraphicFramePr>
        <p:xfrm>
          <a:off xmlns:a="http://schemas.openxmlformats.org/drawingml/2006/main" x="533400" y="4295775"/>
          <a:ext xmlns:a="http://schemas.openxmlformats.org/drawingml/2006/main" cx="11125200" cy="1924050"/>
        </p:xfrm>
        <a:graphic xmlns:a="http://schemas.openxmlformats.org/drawingml/2006/main">
          <a:graphicData uri="http://schemas.openxmlformats.org/drawingml/2006/table">
            <a:tbl>
              <a:tblPr/>
              <a:tblGrid>
                <a:gridCol w="4048125"/>
                <a:gridCol w="7077075"/>
              </a:tblGrid>
              <a:tr h="381000">
                <a:tc>
                  <a:txBody>
                    <a:bodyPr/>
                    <a:lstStyle/>
                    <a:p>
                      <a:r>
                        <a:rPr sz="1350" b="1">
                          <a:solidFill>
                            <a:srgbClr val="F7FAF5"/>
                          </a:solidFill>
                          <a:latin typeface="Arial"/>
                          <a:ea typeface="Arial"/>
                          <a:cs typeface="Arial"/>
                        </a:rPr>
                        <a:t>Challenge / risk</a:t>
                      </a:r>
                    </a:p>
                  </a:txBody>
                  <a:tcPr marL="91440" marR="91440" marT="45720" marB="45720">
                    <a:solidFill>
                      <a:srgbClr val="14251D"/>
                    </a:solidFill>
                  </a:tcPr>
                </a:tc>
                <a:tc>
                  <a:txBody>
                    <a:bodyPr/>
                    <a:lstStyle/>
                    <a:p>
                      <a:r>
                        <a:rPr sz="1350" b="1">
                          <a:solidFill>
                            <a:srgbClr val="F7FAF5"/>
                          </a:solidFill>
                          <a:latin typeface="Arial"/>
                          <a:ea typeface="Arial"/>
                          <a:cs typeface="Arial"/>
                        </a:rPr>
                        <a:t>Proposed mitigation</a:t>
                      </a:r>
                    </a:p>
                  </a:txBody>
                  <a:tcPr marL="91440" marR="91440" marT="45720" marB="45720">
                    <a:solidFill>
                      <a:srgbClr val="14251D"/>
                    </a:solidFill>
                  </a:tcPr>
                </a:tc>
              </a:tr>
              <a:tr h="466725">
                <a:tc>
                  <a:txBody>
                    <a:bodyPr/>
                    <a:lstStyle/>
                    <a:p>
                      <a:r>
                        <a:rPr sz="1350" b="0">
                          <a:solidFill>
                            <a:srgbClr val="14251D"/>
                          </a:solidFill>
                          <a:latin typeface="Arial"/>
                          <a:ea typeface="Arial"/>
                          <a:cs typeface="Arial"/>
                        </a:rPr>
                        <a:t>Ordinary play creates false alerts</a:t>
                      </a:r>
                    </a:p>
                  </a:txBody>
                  <a:tcPr marL="91440" marR="91440" marT="45720" marB="45720">
                    <a:solidFill>
                      <a:srgbClr val="F7FAF5"/>
                    </a:solidFill>
                  </a:tcPr>
                </a:tc>
                <a:tc>
                  <a:txBody>
                    <a:bodyPr/>
                    <a:lstStyle/>
                    <a:p>
                      <a:r>
                        <a:rPr sz="1350" b="0">
                          <a:solidFill>
                            <a:srgbClr val="14251D"/>
                          </a:solidFill>
                          <a:latin typeface="Arial"/>
                          <a:ea typeface="Arial"/>
                          <a:cs typeface="Arial"/>
                        </a:rPr>
                        <a:t>Use temporal rules; require human review before dispatch.</a:t>
                      </a:r>
                    </a:p>
                  </a:txBody>
                  <a:tcPr marL="91440" marR="91440" marT="45720" marB="45720">
                    <a:solidFill>
                      <a:srgbClr val="F7FAF5"/>
                    </a:solidFill>
                  </a:tcPr>
                </a:tc>
              </a:tr>
              <a:tr h="466725">
                <a:tc>
                  <a:txBody>
                    <a:bodyPr/>
                    <a:lstStyle/>
                    <a:p>
                      <a:r>
                        <a:rPr sz="1350" b="0">
                          <a:solidFill>
                            <a:srgbClr val="14251D"/>
                          </a:solidFill>
                          <a:latin typeface="Arial"/>
                          <a:ea typeface="Arial"/>
                          <a:cs typeface="Arial"/>
                        </a:rPr>
                        <a:t>Occlusion, poor light or network loss</a:t>
                      </a:r>
                    </a:p>
                  </a:txBody>
                  <a:tcPr marL="91440" marR="91440" marT="45720" marB="45720">
                    <a:solidFill>
                      <a:srgbClr val="F7FAF5"/>
                    </a:solidFill>
                  </a:tcPr>
                </a:tc>
                <a:tc>
                  <a:txBody>
                    <a:bodyPr/>
                    <a:lstStyle/>
                    <a:p>
                      <a:r>
                        <a:rPr sz="1350" b="0">
                          <a:solidFill>
                            <a:srgbClr val="14251D"/>
                          </a:solidFill>
                          <a:latin typeface="Arial"/>
                          <a:ea typeface="Arial"/>
                          <a:cs typeface="Arial"/>
                        </a:rPr>
                        <a:t>Show confidence / offline state; test varied scenes.</a:t>
                      </a:r>
                    </a:p>
                  </a:txBody>
                  <a:tcPr marL="91440" marR="91440" marT="45720" marB="45720">
                    <a:solidFill>
                      <a:srgbClr val="F7FAF5"/>
                    </a:solidFill>
                  </a:tcPr>
                </a:tc>
              </a:tr>
              <a:tr h="609600">
                <a:tc>
                  <a:txBody>
                    <a:bodyPr/>
                    <a:lstStyle/>
                    <a:p>
                      <a:r>
                        <a:rPr sz="1350" b="0">
                          <a:solidFill>
                            <a:srgbClr val="14251D"/>
                          </a:solidFill>
                          <a:latin typeface="Arial"/>
                          <a:ea typeface="Arial"/>
                          <a:cs typeface="Arial"/>
                        </a:rPr>
                        <a:t>Video privacy and child data</a:t>
                      </a:r>
                    </a:p>
                  </a:txBody>
                  <a:tcPr marL="91440" marR="91440" marT="45720" marB="45720">
                    <a:solidFill>
                      <a:srgbClr val="F7FAF5"/>
                    </a:solidFill>
                  </a:tcPr>
                </a:tc>
                <a:tc>
                  <a:txBody>
                    <a:bodyPr/>
                    <a:lstStyle/>
                    <a:p>
                      <a:r>
                        <a:rPr sz="1350" b="0">
                          <a:solidFill>
                            <a:srgbClr val="14251D"/>
                          </a:solidFill>
                          <a:latin typeface="Arial"/>
                          <a:ea typeface="Arial"/>
                          <a:cs typeface="Arial"/>
                        </a:rPr>
                        <a:t>Minimise retention and access; obtain school approval and review applicable rules.</a:t>
                      </a:r>
                    </a:p>
                  </a:txBody>
                  <a:tcPr marL="91440" marR="91440" marT="45720" marB="45720">
                    <a:solidFill>
                      <a:srgbClr val="F7FAF5"/>
                    </a:solidFill>
                  </a:tcPr>
                </a:tc>
              </a:tr>
            </a:tbl>
          </a:graphicData>
        </a:graphic>
      </p:graphicFrame>
    </p:spTree>
    <p:extLst>
      <p:ext uri="{BB962C8B-B14F-4D97-AF65-F5344CB8AC3E}">
        <p14:creationId xmlns:p14="http://schemas.microsoft.com/office/powerpoint/2010/main" val="1388088283"/>
      </p:ext>
    </p:extLst>
  </p:cSld>
</p:sld>
</file>

<file path=ppt/slides/slide7.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sp>
        <p:nvSpPr>
          <p:cNvPr id="20" name="text-81">
            <a:extLst xmlns:a="http://schemas.openxmlformats.org/drawingml/2006/main">
              <a:ext uri="{FF2B5EF4-FFF2-40B4-BE49-F238E27FC236}">
                <a16:creationId xmlns:a16="http://schemas.microsoft.com/office/drawing/2014/main" id="{7A3C07B3-7790-491C-AB99-96ED62BB53D4}"/>
              </a:ext>
            </a:extLst>
          </p:cNvPr>
          <p:cNvSpPr>
            <a:spLocks xmlns:a="http://schemas.openxmlformats.org/drawingml/2006/main" noGrp="1"/>
          </p:cNvSpPr>
          <p:nvPr/>
        </p:nvSpPr>
        <p:spPr>
          <a:xfrm xmlns:a="http://schemas.openxmlformats.org/drawingml/2006/main">
            <a:off x="533400" y="4476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4251D"/>
                </a:solidFill>
                <a:latin typeface="Arial"/>
                <a:ea typeface="Arial"/>
                <a:cs typeface="Arial"/>
              </a:defRPr>
            </a:pPr>
            <a:r>
              <a:rPr sz="3600" b="1">
                <a:solidFill>
                  <a:srgbClr val="14251D"/>
                </a:solidFill>
                <a:latin typeface="Arial"/>
                <a:ea typeface="Arial"/>
                <a:cs typeface="Arial"/>
              </a:rPr>
              <a:t>Build small. Test the complete response.</a:t>
            </a:r>
          </a:p>
        </p:txBody>
      </p:sp>
      <p:sp>
        <p:nvSpPr>
          <p:cNvPr id="2" name="text-82">
            <a:extLst xmlns:a="http://schemas.openxmlformats.org/drawingml/2006/main">
              <a:ext uri="{FF2B5EF4-FFF2-40B4-BE49-F238E27FC236}">
                <a16:creationId xmlns:a16="http://schemas.microsoft.com/office/drawing/2014/main" id="{431C9800-F8B4-43E0-A2C3-E980219E323F}"/>
              </a:ext>
            </a:extLst>
          </p:cNvPr>
          <p:cNvSpPr>
            <a:spLocks xmlns:a="http://schemas.openxmlformats.org/drawingml/2006/main" noGrp="1"/>
          </p:cNvSpPr>
          <p:nvPr/>
        </p:nvSpPr>
        <p:spPr>
          <a:xfrm xmlns:a="http://schemas.openxmlformats.org/drawingml/2006/main">
            <a:off x="533400" y="645795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06056"/>
                </a:solidFill>
                <a:latin typeface="Arial"/>
                <a:ea typeface="Arial"/>
                <a:cs typeface="Arial"/>
              </a:defRPr>
            </a:pPr>
            <a:r>
              <a:rPr sz="975" b="0">
                <a:solidFill>
                  <a:srgbClr val="506056"/>
                </a:solidFill>
                <a:latin typeface="Arial"/>
                <a:ea typeface="Arial"/>
                <a:cs typeface="Arial"/>
              </a:rPr>
              <a:t>NIVRA / BAL BHARATI HACKATHON 3.0</a:t>
            </a:r>
          </a:p>
        </p:txBody>
      </p:sp>
      <p:sp>
        <p:nvSpPr>
          <p:cNvPr id="3" name="text-83">
            <a:extLst xmlns:a="http://schemas.openxmlformats.org/drawingml/2006/main">
              <a:ext uri="{FF2B5EF4-FFF2-40B4-BE49-F238E27FC236}">
                <a16:creationId xmlns:a16="http://schemas.microsoft.com/office/drawing/2014/main" id="{E9796086-E842-4237-B131-303EE675A216}"/>
              </a:ext>
            </a:extLst>
          </p:cNvPr>
          <p:cNvSpPr>
            <a:spLocks xmlns:a="http://schemas.openxmlformats.org/drawingml/2006/main" noGrp="1"/>
          </p:cNvSpPr>
          <p:nvPr/>
        </p:nvSpPr>
        <p:spPr>
          <a:xfrm xmlns:a="http://schemas.openxmlformats.org/drawingml/2006/main">
            <a:off x="11239500" y="64198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14251D"/>
                </a:solidFill>
                <a:latin typeface="Arial"/>
                <a:ea typeface="Arial"/>
                <a:cs typeface="Arial"/>
              </a:defRPr>
            </a:pPr>
            <a:r>
              <a:rPr sz="1200" b="0">
                <a:solidFill>
                  <a:srgbClr val="14251D"/>
                </a:solidFill>
                <a:latin typeface="Arial"/>
                <a:ea typeface="Arial"/>
                <a:cs typeface="Arial"/>
              </a:rPr>
              <a:t>07</a:t>
            </a:r>
          </a:p>
        </p:txBody>
      </p:sp>
      <p:sp>
        <p:nvSpPr>
          <p:cNvPr id="4" name="text-84">
            <a:extLst xmlns:a="http://schemas.openxmlformats.org/drawingml/2006/main">
              <a:ext uri="{FF2B5EF4-FFF2-40B4-BE49-F238E27FC236}">
                <a16:creationId xmlns:a16="http://schemas.microsoft.com/office/drawing/2014/main" id="{0D69276A-D456-4EE9-B419-0DED0761630D}"/>
              </a:ext>
            </a:extLst>
          </p:cNvPr>
          <p:cNvSpPr>
            <a:spLocks xmlns:a="http://schemas.openxmlformats.org/drawingml/2006/main" noGrp="1"/>
          </p:cNvSpPr>
          <p:nvPr/>
        </p:nvSpPr>
        <p:spPr>
          <a:xfrm xmlns:a="http://schemas.openxmlformats.org/drawingml/2006/main">
            <a:off x="552450" y="12382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506056"/>
                </a:solidFill>
                <a:latin typeface="Arial"/>
                <a:ea typeface="Arial"/>
                <a:cs typeface="Arial"/>
              </a:defRPr>
            </a:pPr>
            <a:r>
              <a:rPr sz="1350" b="1">
                <a:solidFill>
                  <a:srgbClr val="506056"/>
                </a:solidFill>
                <a:latin typeface="Arial"/>
                <a:ea typeface="Arial"/>
                <a:cs typeface="Arial"/>
              </a:rPr>
              <a:t>FEASIBILITY / PROPOSED VALIDATION PLAN</a:t>
            </a:r>
          </a:p>
        </p:txBody>
      </p:sp>
      <p:sp>
        <p:nvSpPr>
          <p:cNvPr id="5" name="text-85">
            <a:extLst xmlns:a="http://schemas.openxmlformats.org/drawingml/2006/main">
              <a:ext uri="{FF2B5EF4-FFF2-40B4-BE49-F238E27FC236}">
                <a16:creationId xmlns:a16="http://schemas.microsoft.com/office/drawing/2014/main" id="{B273EE99-703E-4B33-AC6D-BFF9469B77F8}"/>
              </a:ext>
            </a:extLst>
          </p:cNvPr>
          <p:cNvSpPr>
            <a:spLocks xmlns:a="http://schemas.openxmlformats.org/drawingml/2006/main" noGrp="1"/>
          </p:cNvSpPr>
          <p:nvPr/>
        </p:nvSpPr>
        <p:spPr>
          <a:xfrm xmlns:a="http://schemas.openxmlformats.org/drawingml/2006/main">
            <a:off x="533400" y="1981200"/>
            <a:ext cx="7715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4251D"/>
                </a:solidFill>
                <a:latin typeface="Arial"/>
                <a:ea typeface="Arial"/>
                <a:cs typeface="Arial"/>
              </a:defRPr>
            </a:pPr>
            <a:r>
              <a:rPr sz="3900" b="1">
                <a:solidFill>
                  <a:srgbClr val="14251D"/>
                </a:solidFill>
                <a:latin typeface="Arial"/>
                <a:ea typeface="Arial"/>
                <a:cs typeface="Arial"/>
              </a:rPr>
              <a:t>01</a:t>
            </a:r>
          </a:p>
        </p:txBody>
      </p:sp>
      <p:sp>
        <p:nvSpPr>
          <p:cNvPr id="6" name="text-86">
            <a:extLst xmlns:a="http://schemas.openxmlformats.org/drawingml/2006/main">
              <a:ext uri="{FF2B5EF4-FFF2-40B4-BE49-F238E27FC236}">
                <a16:creationId xmlns:a16="http://schemas.microsoft.com/office/drawing/2014/main" id="{FFEBF7F8-D7F1-4DD0-932D-B61F50A199CE}"/>
              </a:ext>
            </a:extLst>
          </p:cNvPr>
          <p:cNvSpPr>
            <a:spLocks xmlns:a="http://schemas.openxmlformats.org/drawingml/2006/main" noGrp="1"/>
          </p:cNvSpPr>
          <p:nvPr/>
        </p:nvSpPr>
        <p:spPr>
          <a:xfrm xmlns:a="http://schemas.openxmlformats.org/drawingml/2006/main">
            <a:off x="1514475" y="2000250"/>
            <a:ext cx="4267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4251D"/>
                </a:solidFill>
                <a:latin typeface="Arial"/>
                <a:ea typeface="Arial"/>
                <a:cs typeface="Arial"/>
              </a:defRPr>
            </a:pPr>
            <a:r>
              <a:rPr sz="2100" b="1">
                <a:solidFill>
                  <a:srgbClr val="14251D"/>
                </a:solidFill>
                <a:latin typeface="Arial"/>
                <a:ea typeface="Arial"/>
                <a:cs typeface="Arial"/>
              </a:rPr>
              <a:t>Connect</a:t>
            </a:r>
          </a:p>
        </p:txBody>
      </p:sp>
      <p:sp>
        <p:nvSpPr>
          <p:cNvPr id="7" name="text-87">
            <a:extLst xmlns:a="http://schemas.openxmlformats.org/drawingml/2006/main">
              <a:ext uri="{FF2B5EF4-FFF2-40B4-BE49-F238E27FC236}">
                <a16:creationId xmlns:a16="http://schemas.microsoft.com/office/drawing/2014/main" id="{40490C59-E622-44A5-BE23-ABC71200FB08}"/>
              </a:ext>
            </a:extLst>
          </p:cNvPr>
          <p:cNvSpPr>
            <a:spLocks xmlns:a="http://schemas.openxmlformats.org/drawingml/2006/main" noGrp="1"/>
          </p:cNvSpPr>
          <p:nvPr/>
        </p:nvSpPr>
        <p:spPr>
          <a:xfrm xmlns:a="http://schemas.openxmlformats.org/drawingml/2006/main">
            <a:off x="1514475" y="2476500"/>
            <a:ext cx="4267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06056"/>
                </a:solidFill>
                <a:latin typeface="Arial"/>
                <a:ea typeface="Arial"/>
                <a:cs typeface="Arial"/>
              </a:defRPr>
            </a:pPr>
            <a:r>
              <a:rPr sz="1800" b="0">
                <a:solidFill>
                  <a:srgbClr val="506056"/>
                </a:solidFill>
                <a:latin typeface="Arial"/>
                <a:ea typeface="Arial"/>
                <a:cs typeface="Arial"/>
              </a:rPr>
              <a:t>Open camera or local video in Chrome; no cloud connection.</a:t>
            </a:r>
          </a:p>
        </p:txBody>
      </p:sp>
      <p:sp>
        <p:nvSpPr>
          <p:cNvPr id="8" name="text-88">
            <a:extLst xmlns:a="http://schemas.openxmlformats.org/drawingml/2006/main">
              <a:ext uri="{FF2B5EF4-FFF2-40B4-BE49-F238E27FC236}">
                <a16:creationId xmlns:a16="http://schemas.microsoft.com/office/drawing/2014/main" id="{72CAA89E-DF01-4504-8335-595808649B62}"/>
              </a:ext>
            </a:extLst>
          </p:cNvPr>
          <p:cNvSpPr>
            <a:spLocks xmlns:a="http://schemas.openxmlformats.org/drawingml/2006/main" noGrp="1"/>
          </p:cNvSpPr>
          <p:nvPr/>
        </p:nvSpPr>
        <p:spPr>
          <a:xfrm xmlns:a="http://schemas.openxmlformats.org/drawingml/2006/main">
            <a:off x="6400800" y="1981200"/>
            <a:ext cx="7715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4251D"/>
                </a:solidFill>
                <a:latin typeface="Arial"/>
                <a:ea typeface="Arial"/>
                <a:cs typeface="Arial"/>
              </a:defRPr>
            </a:pPr>
            <a:r>
              <a:rPr sz="3900" b="1">
                <a:solidFill>
                  <a:srgbClr val="14251D"/>
                </a:solidFill>
                <a:latin typeface="Arial"/>
                <a:ea typeface="Arial"/>
                <a:cs typeface="Arial"/>
              </a:rPr>
              <a:t>02</a:t>
            </a:r>
          </a:p>
        </p:txBody>
      </p:sp>
      <p:sp>
        <p:nvSpPr>
          <p:cNvPr id="9" name="text-89">
            <a:extLst xmlns:a="http://schemas.openxmlformats.org/drawingml/2006/main">
              <a:ext uri="{FF2B5EF4-FFF2-40B4-BE49-F238E27FC236}">
                <a16:creationId xmlns:a16="http://schemas.microsoft.com/office/drawing/2014/main" id="{70913B7A-B14C-4125-AB06-DEE31A3781B1}"/>
              </a:ext>
            </a:extLst>
          </p:cNvPr>
          <p:cNvSpPr>
            <a:spLocks xmlns:a="http://schemas.openxmlformats.org/drawingml/2006/main" noGrp="1"/>
          </p:cNvSpPr>
          <p:nvPr/>
        </p:nvSpPr>
        <p:spPr>
          <a:xfrm xmlns:a="http://schemas.openxmlformats.org/drawingml/2006/main">
            <a:off x="7381875" y="2000250"/>
            <a:ext cx="4267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4251D"/>
                </a:solidFill>
                <a:latin typeface="Arial"/>
                <a:ea typeface="Arial"/>
                <a:cs typeface="Arial"/>
              </a:defRPr>
            </a:pPr>
            <a:r>
              <a:rPr sz="2100" b="1">
                <a:solidFill>
                  <a:srgbClr val="14251D"/>
                </a:solidFill>
                <a:latin typeface="Arial"/>
                <a:ea typeface="Arial"/>
                <a:cs typeface="Arial"/>
              </a:rPr>
              <a:t>Stage</a:t>
            </a:r>
          </a:p>
        </p:txBody>
      </p:sp>
      <p:sp>
        <p:nvSpPr>
          <p:cNvPr id="10" name="text-90">
            <a:extLst xmlns:a="http://schemas.openxmlformats.org/drawingml/2006/main">
              <a:ext uri="{FF2B5EF4-FFF2-40B4-BE49-F238E27FC236}">
                <a16:creationId xmlns:a16="http://schemas.microsoft.com/office/drawing/2014/main" id="{526208EA-4076-4D3D-8AFF-19B64A1FC49B}"/>
              </a:ext>
            </a:extLst>
          </p:cNvPr>
          <p:cNvSpPr>
            <a:spLocks xmlns:a="http://schemas.openxmlformats.org/drawingml/2006/main" noGrp="1"/>
          </p:cNvSpPr>
          <p:nvPr/>
        </p:nvSpPr>
        <p:spPr>
          <a:xfrm xmlns:a="http://schemas.openxmlformats.org/drawingml/2006/main">
            <a:off x="7381875" y="2476500"/>
            <a:ext cx="4267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06056"/>
                </a:solidFill>
                <a:latin typeface="Arial"/>
                <a:ea typeface="Arial"/>
                <a:cs typeface="Arial"/>
              </a:defRPr>
            </a:pPr>
            <a:r>
              <a:rPr sz="1800" b="0">
                <a:solidFill>
                  <a:srgbClr val="506056"/>
                </a:solidFill>
                <a:latin typeface="Arial"/>
                <a:ea typeface="Arial"/>
                <a:cs typeface="Arial"/>
              </a:rPr>
              <a:t>Use permitted footage or the repository’s scripted test scenes.</a:t>
            </a:r>
          </a:p>
        </p:txBody>
      </p:sp>
      <p:sp>
        <p:nvSpPr>
          <p:cNvPr id="11" name="text-91">
            <a:extLst xmlns:a="http://schemas.openxmlformats.org/drawingml/2006/main">
              <a:ext uri="{FF2B5EF4-FFF2-40B4-BE49-F238E27FC236}">
                <a16:creationId xmlns:a16="http://schemas.microsoft.com/office/drawing/2014/main" id="{D4D25B1D-8711-4D1C-A3C9-EF2E9996F1F6}"/>
              </a:ext>
            </a:extLst>
          </p:cNvPr>
          <p:cNvSpPr>
            <a:spLocks xmlns:a="http://schemas.openxmlformats.org/drawingml/2006/main" noGrp="1"/>
          </p:cNvSpPr>
          <p:nvPr/>
        </p:nvSpPr>
        <p:spPr>
          <a:xfrm xmlns:a="http://schemas.openxmlformats.org/drawingml/2006/main">
            <a:off x="533400" y="3533775"/>
            <a:ext cx="7715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4251D"/>
                </a:solidFill>
                <a:latin typeface="Arial"/>
                <a:ea typeface="Arial"/>
                <a:cs typeface="Arial"/>
              </a:defRPr>
            </a:pPr>
            <a:r>
              <a:rPr sz="3900" b="1">
                <a:solidFill>
                  <a:srgbClr val="14251D"/>
                </a:solidFill>
                <a:latin typeface="Arial"/>
                <a:ea typeface="Arial"/>
                <a:cs typeface="Arial"/>
              </a:rPr>
              <a:t>03</a:t>
            </a:r>
          </a:p>
        </p:txBody>
      </p:sp>
      <p:sp>
        <p:nvSpPr>
          <p:cNvPr id="12" name="text-92">
            <a:extLst xmlns:a="http://schemas.openxmlformats.org/drawingml/2006/main">
              <a:ext uri="{FF2B5EF4-FFF2-40B4-BE49-F238E27FC236}">
                <a16:creationId xmlns:a16="http://schemas.microsoft.com/office/drawing/2014/main" id="{D74C6781-7FFF-4D93-821D-526A5C6909C8}"/>
              </a:ext>
            </a:extLst>
          </p:cNvPr>
          <p:cNvSpPr>
            <a:spLocks xmlns:a="http://schemas.openxmlformats.org/drawingml/2006/main" noGrp="1"/>
          </p:cNvSpPr>
          <p:nvPr/>
        </p:nvSpPr>
        <p:spPr>
          <a:xfrm xmlns:a="http://schemas.openxmlformats.org/drawingml/2006/main">
            <a:off x="1514475" y="3552825"/>
            <a:ext cx="4267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4251D"/>
                </a:solidFill>
                <a:latin typeface="Arial"/>
                <a:ea typeface="Arial"/>
                <a:cs typeface="Arial"/>
              </a:defRPr>
            </a:pPr>
            <a:r>
              <a:rPr sz="2100" b="1">
                <a:solidFill>
                  <a:srgbClr val="14251D"/>
                </a:solidFill>
                <a:latin typeface="Arial"/>
                <a:ea typeface="Arial"/>
                <a:cs typeface="Arial"/>
              </a:rPr>
              <a:t>Review</a:t>
            </a:r>
          </a:p>
        </p:txBody>
      </p:sp>
      <p:sp>
        <p:nvSpPr>
          <p:cNvPr id="13" name="text-93">
            <a:extLst xmlns:a="http://schemas.openxmlformats.org/drawingml/2006/main">
              <a:ext uri="{FF2B5EF4-FFF2-40B4-BE49-F238E27FC236}">
                <a16:creationId xmlns:a16="http://schemas.microsoft.com/office/drawing/2014/main" id="{220D9B9E-4B3B-4769-B99E-4476F78AEFD4}"/>
              </a:ext>
            </a:extLst>
          </p:cNvPr>
          <p:cNvSpPr>
            <a:spLocks xmlns:a="http://schemas.openxmlformats.org/drawingml/2006/main" noGrp="1"/>
          </p:cNvSpPr>
          <p:nvPr/>
        </p:nvSpPr>
        <p:spPr>
          <a:xfrm xmlns:a="http://schemas.openxmlformats.org/drawingml/2006/main">
            <a:off x="1514475" y="4029075"/>
            <a:ext cx="4267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06056"/>
                </a:solidFill>
                <a:latin typeface="Arial"/>
                <a:ea typeface="Arial"/>
                <a:cs typeface="Arial"/>
              </a:defRPr>
            </a:pPr>
            <a:r>
              <a:rPr sz="1800" b="0">
                <a:solidFill>
                  <a:srgbClr val="506056"/>
                </a:solidFill>
                <a:latin typeface="Arial"/>
                <a:ea typeface="Arial"/>
                <a:cs typeface="Arial"/>
              </a:rPr>
              <a:t>Test alerts, the 8-second replay and operator choices.</a:t>
            </a:r>
          </a:p>
        </p:txBody>
      </p:sp>
      <p:sp>
        <p:nvSpPr>
          <p:cNvPr id="14" name="text-94">
            <a:extLst xmlns:a="http://schemas.openxmlformats.org/drawingml/2006/main">
              <a:ext uri="{FF2B5EF4-FFF2-40B4-BE49-F238E27FC236}">
                <a16:creationId xmlns:a16="http://schemas.microsoft.com/office/drawing/2014/main" id="{D7271CB8-9419-46D4-98B1-6F62AC3CDFA6}"/>
              </a:ext>
            </a:extLst>
          </p:cNvPr>
          <p:cNvSpPr>
            <a:spLocks xmlns:a="http://schemas.openxmlformats.org/drawingml/2006/main" noGrp="1"/>
          </p:cNvSpPr>
          <p:nvPr/>
        </p:nvSpPr>
        <p:spPr>
          <a:xfrm xmlns:a="http://schemas.openxmlformats.org/drawingml/2006/main">
            <a:off x="6400800" y="3533775"/>
            <a:ext cx="7715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4251D"/>
                </a:solidFill>
                <a:latin typeface="Arial"/>
                <a:ea typeface="Arial"/>
                <a:cs typeface="Arial"/>
              </a:defRPr>
            </a:pPr>
            <a:r>
              <a:rPr sz="3900" b="1">
                <a:solidFill>
                  <a:srgbClr val="14251D"/>
                </a:solidFill>
                <a:latin typeface="Arial"/>
                <a:ea typeface="Arial"/>
                <a:cs typeface="Arial"/>
              </a:rPr>
              <a:t>04</a:t>
            </a:r>
          </a:p>
        </p:txBody>
      </p:sp>
      <p:sp>
        <p:nvSpPr>
          <p:cNvPr id="15" name="text-95">
            <a:extLst xmlns:a="http://schemas.openxmlformats.org/drawingml/2006/main">
              <a:ext uri="{FF2B5EF4-FFF2-40B4-BE49-F238E27FC236}">
                <a16:creationId xmlns:a16="http://schemas.microsoft.com/office/drawing/2014/main" id="{B2C93D2B-55B5-4312-881A-99F0310A5FB0}"/>
              </a:ext>
            </a:extLst>
          </p:cNvPr>
          <p:cNvSpPr>
            <a:spLocks xmlns:a="http://schemas.openxmlformats.org/drawingml/2006/main" noGrp="1"/>
          </p:cNvSpPr>
          <p:nvPr/>
        </p:nvSpPr>
        <p:spPr>
          <a:xfrm xmlns:a="http://schemas.openxmlformats.org/drawingml/2006/main">
            <a:off x="7381875" y="3552825"/>
            <a:ext cx="4267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4251D"/>
                </a:solidFill>
                <a:latin typeface="Arial"/>
                <a:ea typeface="Arial"/>
                <a:cs typeface="Arial"/>
              </a:defRPr>
            </a:pPr>
            <a:r>
              <a:rPr sz="2100" b="1">
                <a:solidFill>
                  <a:srgbClr val="14251D"/>
                </a:solidFill>
                <a:latin typeface="Arial"/>
                <a:ea typeface="Arial"/>
                <a:cs typeface="Arial"/>
              </a:rPr>
              <a:t>Respond</a:t>
            </a:r>
          </a:p>
        </p:txBody>
      </p:sp>
      <p:sp>
        <p:nvSpPr>
          <p:cNvPr id="16" name="text-96">
            <a:extLst xmlns:a="http://schemas.openxmlformats.org/drawingml/2006/main">
              <a:ext uri="{FF2B5EF4-FFF2-40B4-BE49-F238E27FC236}">
                <a16:creationId xmlns:a16="http://schemas.microsoft.com/office/drawing/2014/main" id="{5C862EC0-71A4-4A42-9CB0-6EE32234DE6D}"/>
              </a:ext>
            </a:extLst>
          </p:cNvPr>
          <p:cNvSpPr>
            <a:spLocks xmlns:a="http://schemas.openxmlformats.org/drawingml/2006/main" noGrp="1"/>
          </p:cNvSpPr>
          <p:nvPr/>
        </p:nvSpPr>
        <p:spPr>
          <a:xfrm xmlns:a="http://schemas.openxmlformats.org/drawingml/2006/main">
            <a:off x="7381875" y="4029075"/>
            <a:ext cx="4267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06056"/>
                </a:solidFill>
                <a:latin typeface="Arial"/>
                <a:ea typeface="Arial"/>
                <a:cs typeface="Arial"/>
              </a:defRPr>
            </a:pPr>
            <a:r>
              <a:rPr sz="1800" b="0">
                <a:solidFill>
                  <a:srgbClr val="506056"/>
                </a:solidFill>
                <a:latin typeface="Arial"/>
                <a:ea typeface="Arial"/>
                <a:cs typeface="Arial"/>
              </a:rPr>
              <a:t>Deliver a confirmed alert; record acknowledgement and closure.</a:t>
            </a:r>
          </a:p>
        </p:txBody>
      </p:sp>
      <p:sp>
        <p:nvSpPr>
          <p:cNvPr id="17" name="">
            <a:extLst xmlns:a="http://schemas.openxmlformats.org/drawingml/2006/main">
              <a:ext uri="{FF2B5EF4-FFF2-40B4-BE49-F238E27FC236}">
                <a16:creationId xmlns:a16="http://schemas.microsoft.com/office/drawing/2014/main" id="{C18FD94A-5841-483D-BA6B-6BB52B63D108}"/>
              </a:ext>
            </a:extLst>
          </p:cNvPr>
          <p:cNvSpPr>
            <a:spLocks xmlns:a="http://schemas.openxmlformats.org/drawingml/2006/main" noGrp="1"/>
          </p:cNvSpPr>
          <p:nvPr/>
        </p:nvSpPr>
        <p:spPr>
          <a:xfrm xmlns:a="http://schemas.openxmlformats.org/drawingml/2006/main">
            <a:off x="533400" y="5400675"/>
            <a:ext cx="11125200" cy="809625"/>
          </a:xfrm>
          <a:prstGeom xmlns:a="http://schemas.openxmlformats.org/drawingml/2006/main" prst="rect">
            <a:avLst/>
          </a:prstGeom>
          <a:solidFill xmlns:a="http://schemas.openxmlformats.org/drawingml/2006/main">
            <a:srgbClr val="D2F56A"/>
          </a:solidFill>
          <a:ln xmlns:a="http://schemas.openxmlformats.org/drawingml/2006/main" w="0">
            <a:noFill/>
          </a:ln>
        </p:spPr>
      </p:sp>
      <p:sp>
        <p:nvSpPr>
          <p:cNvPr id="18" name="text-97">
            <a:extLst xmlns:a="http://schemas.openxmlformats.org/drawingml/2006/main">
              <a:ext uri="{FF2B5EF4-FFF2-40B4-BE49-F238E27FC236}">
                <a16:creationId xmlns:a16="http://schemas.microsoft.com/office/drawing/2014/main" id="{399BC971-6076-40E4-A814-538CE7579B7F}"/>
              </a:ext>
            </a:extLst>
          </p:cNvPr>
          <p:cNvSpPr>
            <a:spLocks xmlns:a="http://schemas.openxmlformats.org/drawingml/2006/main" noGrp="1"/>
          </p:cNvSpPr>
          <p:nvPr/>
        </p:nvSpPr>
        <p:spPr>
          <a:xfrm xmlns:a="http://schemas.openxmlformats.org/drawingml/2006/main">
            <a:off x="733425" y="5543550"/>
            <a:ext cx="1466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4251D"/>
                </a:solidFill>
                <a:latin typeface="Arial"/>
                <a:ea typeface="Arial"/>
                <a:cs typeface="Arial"/>
              </a:defRPr>
            </a:pPr>
            <a:r>
              <a:rPr sz="1800" b="1">
                <a:solidFill>
                  <a:srgbClr val="14251D"/>
                </a:solidFill>
                <a:latin typeface="Arial"/>
                <a:ea typeface="Arial"/>
                <a:cs typeface="Arial"/>
              </a:rPr>
              <a:t>Measure</a:t>
            </a:r>
          </a:p>
        </p:txBody>
      </p:sp>
      <p:sp>
        <p:nvSpPr>
          <p:cNvPr id="19" name="text-98">
            <a:extLst xmlns:a="http://schemas.openxmlformats.org/drawingml/2006/main">
              <a:ext uri="{FF2B5EF4-FFF2-40B4-BE49-F238E27FC236}">
                <a16:creationId xmlns:a16="http://schemas.microsoft.com/office/drawing/2014/main" id="{CC11B709-93C8-40E4-AFF8-A4E7DB18863D}"/>
              </a:ext>
            </a:extLst>
          </p:cNvPr>
          <p:cNvSpPr>
            <a:spLocks xmlns:a="http://schemas.openxmlformats.org/drawingml/2006/main" noGrp="1"/>
          </p:cNvSpPr>
          <p:nvPr/>
        </p:nvSpPr>
        <p:spPr>
          <a:xfrm xmlns:a="http://schemas.openxmlformats.org/drawingml/2006/main">
            <a:off x="2266950" y="5543550"/>
            <a:ext cx="91535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4251D"/>
                </a:solidFill>
                <a:latin typeface="Arial"/>
                <a:ea typeface="Arial"/>
                <a:cs typeface="Arial"/>
              </a:defRPr>
            </a:pPr>
            <a:r>
              <a:rPr sz="1725" b="0">
                <a:solidFill>
                  <a:srgbClr val="14251D"/>
                </a:solidFill>
                <a:latin typeface="Arial"/>
                <a:ea typeface="Arial"/>
                <a:cs typeface="Arial"/>
              </a:rPr>
              <a:t>211 automated tests • build output • false alerts • missed staged events • review time</a:t>
            </a:r>
          </a:p>
        </p:txBody>
      </p:sp>
    </p:spTree>
    <p:extLst>
      <p:ext uri="{BB962C8B-B14F-4D97-AF65-F5344CB8AC3E}">
        <p14:creationId xmlns:p14="http://schemas.microsoft.com/office/powerpoint/2010/main" val="1332116049"/>
      </p:ext>
    </p:extLst>
  </p:cSld>
</p:sld>
</file>

<file path=ppt/slides/slide8.xml><?xml version="1.0" encoding="utf-8"?>
<p:sld xmlns:p="http://schemas.openxmlformats.org/presentationml/2006/main">
  <p:cSld>
    <p:bg>
      <p:bgPr>
        <a:solidFill xmlns:a="http://schemas.openxmlformats.org/drawingml/2006/main">
          <a:srgbClr val="14251D"/>
        </a:solidFill>
      </p:bgPr>
    </p:bg>
    <p:spTree>
      <p:nvGrpSpPr>
        <p:cNvPr id="1" name=""/>
        <p:cNvGrpSpPr/>
        <p:nvPr/>
      </p:nvGrpSpPr>
      <p:grpSpPr>
        <a:xfrm xmlns:a="http://schemas.openxmlformats.org/drawingml/2006/main"/>
      </p:grpSpPr>
      <p:sp>
        <p:nvSpPr>
          <p:cNvPr id="20" name="text-99">
            <a:extLst xmlns:a="http://schemas.openxmlformats.org/drawingml/2006/main">
              <a:ext uri="{FF2B5EF4-FFF2-40B4-BE49-F238E27FC236}">
                <a16:creationId xmlns:a16="http://schemas.microsoft.com/office/drawing/2014/main" id="{B55C9E46-3250-41BE-A4F5-736BDBB92078}"/>
              </a:ext>
            </a:extLst>
          </p:cNvPr>
          <p:cNvSpPr>
            <a:spLocks xmlns:a="http://schemas.openxmlformats.org/drawingml/2006/main" noGrp="1"/>
          </p:cNvSpPr>
          <p:nvPr/>
        </p:nvSpPr>
        <p:spPr>
          <a:xfrm xmlns:a="http://schemas.openxmlformats.org/drawingml/2006/main">
            <a:off x="533400" y="4476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F7FAF5"/>
                </a:solidFill>
                <a:latin typeface="Arial"/>
                <a:ea typeface="Arial"/>
                <a:cs typeface="Arial"/>
              </a:defRPr>
            </a:pPr>
            <a:r>
              <a:rPr sz="3600" b="1">
                <a:solidFill>
                  <a:srgbClr val="F7FAF5"/>
                </a:solidFill>
                <a:latin typeface="Arial"/>
                <a:ea typeface="Arial"/>
                <a:cs typeface="Arial"/>
              </a:rPr>
              <a:t>Impact and Benefits</a:t>
            </a:r>
          </a:p>
        </p:txBody>
      </p:sp>
      <p:sp>
        <p:nvSpPr>
          <p:cNvPr id="2" name="text-100">
            <a:extLst xmlns:a="http://schemas.openxmlformats.org/drawingml/2006/main">
              <a:ext uri="{FF2B5EF4-FFF2-40B4-BE49-F238E27FC236}">
                <a16:creationId xmlns:a16="http://schemas.microsoft.com/office/drawing/2014/main" id="{9C5A7AD5-3D45-494E-B45D-05B59A8A0600}"/>
              </a:ext>
            </a:extLst>
          </p:cNvPr>
          <p:cNvSpPr>
            <a:spLocks xmlns:a="http://schemas.openxmlformats.org/drawingml/2006/main" noGrp="1"/>
          </p:cNvSpPr>
          <p:nvPr/>
        </p:nvSpPr>
        <p:spPr>
          <a:xfrm xmlns:a="http://schemas.openxmlformats.org/drawingml/2006/main">
            <a:off x="533400" y="645795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F7FAF5"/>
                </a:solidFill>
                <a:latin typeface="Arial"/>
                <a:ea typeface="Arial"/>
                <a:cs typeface="Arial"/>
              </a:defRPr>
            </a:pPr>
            <a:r>
              <a:rPr sz="975" b="0">
                <a:solidFill>
                  <a:srgbClr val="F7FAF5"/>
                </a:solidFill>
                <a:latin typeface="Arial"/>
                <a:ea typeface="Arial"/>
                <a:cs typeface="Arial"/>
              </a:rPr>
              <a:t>NIVRA / BAL BHARATI HACKATHON 3.0</a:t>
            </a:r>
          </a:p>
        </p:txBody>
      </p:sp>
      <p:sp>
        <p:nvSpPr>
          <p:cNvPr id="3" name="text-101">
            <a:extLst xmlns:a="http://schemas.openxmlformats.org/drawingml/2006/main">
              <a:ext uri="{FF2B5EF4-FFF2-40B4-BE49-F238E27FC236}">
                <a16:creationId xmlns:a16="http://schemas.microsoft.com/office/drawing/2014/main" id="{7411623A-3383-4322-B2CE-3D2EABFB2946}"/>
              </a:ext>
            </a:extLst>
          </p:cNvPr>
          <p:cNvSpPr>
            <a:spLocks xmlns:a="http://schemas.openxmlformats.org/drawingml/2006/main" noGrp="1"/>
          </p:cNvSpPr>
          <p:nvPr/>
        </p:nvSpPr>
        <p:spPr>
          <a:xfrm xmlns:a="http://schemas.openxmlformats.org/drawingml/2006/main">
            <a:off x="11239500" y="64198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D2F56A"/>
                </a:solidFill>
                <a:latin typeface="Arial"/>
                <a:ea typeface="Arial"/>
                <a:cs typeface="Arial"/>
              </a:defRPr>
            </a:pPr>
            <a:r>
              <a:rPr sz="1200" b="0">
                <a:solidFill>
                  <a:srgbClr val="D2F56A"/>
                </a:solidFill>
                <a:latin typeface="Arial"/>
                <a:ea typeface="Arial"/>
                <a:cs typeface="Arial"/>
              </a:rPr>
              <a:t>08</a:t>
            </a:r>
          </a:p>
        </p:txBody>
      </p:sp>
      <p:sp>
        <p:nvSpPr>
          <p:cNvPr id="4" name="text-102">
            <a:extLst xmlns:a="http://schemas.openxmlformats.org/drawingml/2006/main">
              <a:ext uri="{FF2B5EF4-FFF2-40B4-BE49-F238E27FC236}">
                <a16:creationId xmlns:a16="http://schemas.microsoft.com/office/drawing/2014/main" id="{669E9ABE-C8E2-4E0A-8764-762CCA438F23}"/>
              </a:ext>
            </a:extLst>
          </p:cNvPr>
          <p:cNvSpPr>
            <a:spLocks xmlns:a="http://schemas.openxmlformats.org/drawingml/2006/main" noGrp="1"/>
          </p:cNvSpPr>
          <p:nvPr/>
        </p:nvSpPr>
        <p:spPr>
          <a:xfrm xmlns:a="http://schemas.openxmlformats.org/drawingml/2006/main">
            <a:off x="533400" y="1200150"/>
            <a:ext cx="1112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D2F56A"/>
                </a:solidFill>
                <a:latin typeface="Arial"/>
                <a:ea typeface="Arial"/>
                <a:cs typeface="Arial"/>
              </a:defRPr>
            </a:pPr>
            <a:r>
              <a:rPr sz="2550" b="1">
                <a:solidFill>
                  <a:srgbClr val="D2F56A"/>
                </a:solidFill>
                <a:latin typeface="Arial"/>
                <a:ea typeface="Arial"/>
                <a:cs typeface="Arial"/>
              </a:rPr>
              <a:t>Why earlier attention matters.</a:t>
            </a:r>
          </a:p>
        </p:txBody>
      </p:sp>
      <p:sp>
        <p:nvSpPr>
          <p:cNvPr id="5" name="text-103">
            <a:extLst xmlns:a="http://schemas.openxmlformats.org/drawingml/2006/main">
              <a:ext uri="{FF2B5EF4-FFF2-40B4-BE49-F238E27FC236}">
                <a16:creationId xmlns:a16="http://schemas.microsoft.com/office/drawing/2014/main" id="{CAD3134E-224B-40B0-B091-25E6076D4BF1}"/>
              </a:ext>
            </a:extLst>
          </p:cNvPr>
          <p:cNvSpPr>
            <a:spLocks xmlns:a="http://schemas.openxmlformats.org/drawingml/2006/main" noGrp="1"/>
          </p:cNvSpPr>
          <p:nvPr/>
        </p:nvSpPr>
        <p:spPr>
          <a:xfrm xmlns:a="http://schemas.openxmlformats.org/drawingml/2006/main">
            <a:off x="533400" y="17907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F7FAF5"/>
                </a:solidFill>
                <a:latin typeface="Arial"/>
                <a:ea typeface="Arial"/>
                <a:cs typeface="Arial"/>
              </a:defRPr>
            </a:pPr>
            <a:r>
              <a:rPr sz="1575" b="0">
                <a:solidFill>
                  <a:srgbClr val="F7FAF5"/>
                </a:solidFill>
                <a:latin typeface="Arial"/>
                <a:ea typeface="Arial"/>
                <a:cs typeface="Arial"/>
              </a:rPr>
              <a:t>The supplied public violence metrics report frames a large human and economic burden.</a:t>
            </a:r>
          </a:p>
        </p:txBody>
      </p:sp>
      <p:sp>
        <p:nvSpPr>
          <p:cNvPr id="6" name="">
            <a:extLst xmlns:a="http://schemas.openxmlformats.org/drawingml/2006/main">
              <a:ext uri="{FF2B5EF4-FFF2-40B4-BE49-F238E27FC236}">
                <a16:creationId xmlns:a16="http://schemas.microsoft.com/office/drawing/2014/main" id="{61DC131C-75AB-4E91-84C0-DA616C81A882}"/>
              </a:ext>
            </a:extLst>
          </p:cNvPr>
          <p:cNvSpPr>
            <a:spLocks xmlns:a="http://schemas.openxmlformats.org/drawingml/2006/main" noGrp="1"/>
          </p:cNvSpPr>
          <p:nvPr/>
        </p:nvSpPr>
        <p:spPr>
          <a:xfrm xmlns:a="http://schemas.openxmlformats.org/drawingml/2006/main">
            <a:off x="533400" y="2476500"/>
            <a:ext cx="3476625" cy="1438275"/>
          </a:xfrm>
          <a:prstGeom xmlns:a="http://schemas.openxmlformats.org/drawingml/2006/main" prst="rect">
            <a:avLst/>
          </a:prstGeom>
          <a:solidFill xmlns:a="http://schemas.openxmlformats.org/drawingml/2006/main">
            <a:srgbClr val="20362C"/>
          </a:solidFill>
          <a:ln xmlns:a="http://schemas.openxmlformats.org/drawingml/2006/main" w="0">
            <a:noFill/>
          </a:ln>
        </p:spPr>
      </p:sp>
      <p:sp>
        <p:nvSpPr>
          <p:cNvPr id="7" name="text-104">
            <a:extLst xmlns:a="http://schemas.openxmlformats.org/drawingml/2006/main">
              <a:ext uri="{FF2B5EF4-FFF2-40B4-BE49-F238E27FC236}">
                <a16:creationId xmlns:a16="http://schemas.microsoft.com/office/drawing/2014/main" id="{2E5748E8-6CBE-4BE5-A2F5-4476A7CD403D}"/>
              </a:ext>
            </a:extLst>
          </p:cNvPr>
          <p:cNvSpPr>
            <a:spLocks xmlns:a="http://schemas.openxmlformats.org/drawingml/2006/main" noGrp="1"/>
          </p:cNvSpPr>
          <p:nvPr/>
        </p:nvSpPr>
        <p:spPr>
          <a:xfrm xmlns:a="http://schemas.openxmlformats.org/drawingml/2006/main">
            <a:off x="723900" y="2686050"/>
            <a:ext cx="309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1">
                <a:solidFill>
                  <a:srgbClr val="D2F56A"/>
                </a:solidFill>
                <a:latin typeface="Arial"/>
                <a:ea typeface="Arial"/>
                <a:cs typeface="Arial"/>
              </a:defRPr>
            </a:pPr>
            <a:r>
              <a:rPr sz="2925" b="1">
                <a:solidFill>
                  <a:srgbClr val="D2F56A"/>
                </a:solidFill>
                <a:latin typeface="Arial"/>
                <a:ea typeface="Arial"/>
                <a:cs typeface="Arial"/>
              </a:rPr>
              <a:t>1 in 6</a:t>
            </a:r>
          </a:p>
        </p:txBody>
      </p:sp>
      <p:sp>
        <p:nvSpPr>
          <p:cNvPr id="8" name="text-105">
            <a:extLst xmlns:a="http://schemas.openxmlformats.org/drawingml/2006/main">
              <a:ext uri="{FF2B5EF4-FFF2-40B4-BE49-F238E27FC236}">
                <a16:creationId xmlns:a16="http://schemas.microsoft.com/office/drawing/2014/main" id="{9663403B-810B-44C4-AAEE-257303F80DD8}"/>
              </a:ext>
            </a:extLst>
          </p:cNvPr>
          <p:cNvSpPr>
            <a:spLocks xmlns:a="http://schemas.openxmlformats.org/drawingml/2006/main" noGrp="1"/>
          </p:cNvSpPr>
          <p:nvPr/>
        </p:nvSpPr>
        <p:spPr>
          <a:xfrm xmlns:a="http://schemas.openxmlformats.org/drawingml/2006/main">
            <a:off x="723900" y="3314700"/>
            <a:ext cx="3095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F7FAF5"/>
                </a:solidFill>
                <a:latin typeface="Arial"/>
                <a:ea typeface="Arial"/>
                <a:cs typeface="Arial"/>
              </a:defRPr>
            </a:pPr>
            <a:r>
              <a:rPr sz="1500" b="0">
                <a:solidFill>
                  <a:srgbClr val="F7FAF5"/>
                </a:solidFill>
                <a:latin typeface="Arial"/>
                <a:ea typeface="Arial"/>
                <a:cs typeface="Arial"/>
              </a:rPr>
              <a:t>high-school students report a physical fight within 12 months.</a:t>
            </a:r>
          </a:p>
        </p:txBody>
      </p:sp>
      <p:sp>
        <p:nvSpPr>
          <p:cNvPr id="9" name="">
            <a:extLst xmlns:a="http://schemas.openxmlformats.org/drawingml/2006/main">
              <a:ext uri="{FF2B5EF4-FFF2-40B4-BE49-F238E27FC236}">
                <a16:creationId xmlns:a16="http://schemas.microsoft.com/office/drawing/2014/main" id="{9C58162E-895A-4A4F-A6B5-72790786B432}"/>
              </a:ext>
            </a:extLst>
          </p:cNvPr>
          <p:cNvSpPr>
            <a:spLocks xmlns:a="http://schemas.openxmlformats.org/drawingml/2006/main" noGrp="1"/>
          </p:cNvSpPr>
          <p:nvPr/>
        </p:nvSpPr>
        <p:spPr>
          <a:xfrm xmlns:a="http://schemas.openxmlformats.org/drawingml/2006/main">
            <a:off x="4333875" y="2476500"/>
            <a:ext cx="3476625" cy="1438275"/>
          </a:xfrm>
          <a:prstGeom xmlns:a="http://schemas.openxmlformats.org/drawingml/2006/main" prst="rect">
            <a:avLst/>
          </a:prstGeom>
          <a:solidFill xmlns:a="http://schemas.openxmlformats.org/drawingml/2006/main">
            <a:srgbClr val="20362C"/>
          </a:solidFill>
          <a:ln xmlns:a="http://schemas.openxmlformats.org/drawingml/2006/main" w="0">
            <a:noFill/>
          </a:ln>
        </p:spPr>
      </p:sp>
      <p:sp>
        <p:nvSpPr>
          <p:cNvPr id="10" name="text-106">
            <a:extLst xmlns:a="http://schemas.openxmlformats.org/drawingml/2006/main">
              <a:ext uri="{FF2B5EF4-FFF2-40B4-BE49-F238E27FC236}">
                <a16:creationId xmlns:a16="http://schemas.microsoft.com/office/drawing/2014/main" id="{FD381BEA-EC9C-4D64-B997-BDA4CF8D985C}"/>
              </a:ext>
            </a:extLst>
          </p:cNvPr>
          <p:cNvSpPr>
            <a:spLocks xmlns:a="http://schemas.openxmlformats.org/drawingml/2006/main" noGrp="1"/>
          </p:cNvSpPr>
          <p:nvPr/>
        </p:nvSpPr>
        <p:spPr>
          <a:xfrm xmlns:a="http://schemas.openxmlformats.org/drawingml/2006/main">
            <a:off x="4524375" y="2686050"/>
            <a:ext cx="309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1">
                <a:solidFill>
                  <a:srgbClr val="D2F56A"/>
                </a:solidFill>
                <a:latin typeface="Arial"/>
                <a:ea typeface="Arial"/>
                <a:cs typeface="Arial"/>
              </a:defRPr>
            </a:pPr>
            <a:r>
              <a:rPr sz="2925" b="1">
                <a:solidFill>
                  <a:srgbClr val="D2F56A"/>
                </a:solidFill>
                <a:latin typeface="Arial"/>
                <a:ea typeface="Arial"/>
                <a:cs typeface="Arial"/>
              </a:rPr>
              <a:t>12,000 / day</a:t>
            </a:r>
          </a:p>
        </p:txBody>
      </p:sp>
      <p:sp>
        <p:nvSpPr>
          <p:cNvPr id="11" name="text-107">
            <a:extLst xmlns:a="http://schemas.openxmlformats.org/drawingml/2006/main">
              <a:ext uri="{FF2B5EF4-FFF2-40B4-BE49-F238E27FC236}">
                <a16:creationId xmlns:a16="http://schemas.microsoft.com/office/drawing/2014/main" id="{739501AC-F25C-4FB1-8E03-DA66E81A9E74}"/>
              </a:ext>
            </a:extLst>
          </p:cNvPr>
          <p:cNvSpPr>
            <a:spLocks xmlns:a="http://schemas.openxmlformats.org/drawingml/2006/main" noGrp="1"/>
          </p:cNvSpPr>
          <p:nvPr/>
        </p:nvSpPr>
        <p:spPr>
          <a:xfrm xmlns:a="http://schemas.openxmlformats.org/drawingml/2006/main">
            <a:off x="4524375" y="3314700"/>
            <a:ext cx="3095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F7FAF5"/>
                </a:solidFill>
                <a:latin typeface="Arial"/>
                <a:ea typeface="Arial"/>
                <a:cs typeface="Arial"/>
              </a:defRPr>
            </a:pPr>
            <a:r>
              <a:rPr sz="1500" b="0">
                <a:solidFill>
                  <a:srgbClr val="F7FAF5"/>
                </a:solidFill>
                <a:latin typeface="Arial"/>
                <a:ea typeface="Arial"/>
                <a:cs typeface="Arial"/>
              </a:rPr>
              <a:t>people reportedly lose their lives worldwide to trauma and violence.</a:t>
            </a:r>
          </a:p>
        </p:txBody>
      </p:sp>
      <p:sp>
        <p:nvSpPr>
          <p:cNvPr id="12" name="">
            <a:extLst xmlns:a="http://schemas.openxmlformats.org/drawingml/2006/main">
              <a:ext uri="{FF2B5EF4-FFF2-40B4-BE49-F238E27FC236}">
                <a16:creationId xmlns:a16="http://schemas.microsoft.com/office/drawing/2014/main" id="{A975B66A-232E-472F-BB7E-888E69AD72D4}"/>
              </a:ext>
            </a:extLst>
          </p:cNvPr>
          <p:cNvSpPr>
            <a:spLocks xmlns:a="http://schemas.openxmlformats.org/drawingml/2006/main" noGrp="1"/>
          </p:cNvSpPr>
          <p:nvPr/>
        </p:nvSpPr>
        <p:spPr>
          <a:xfrm xmlns:a="http://schemas.openxmlformats.org/drawingml/2006/main">
            <a:off x="8134350" y="2476500"/>
            <a:ext cx="3476625" cy="1438275"/>
          </a:xfrm>
          <a:prstGeom xmlns:a="http://schemas.openxmlformats.org/drawingml/2006/main" prst="rect">
            <a:avLst/>
          </a:prstGeom>
          <a:solidFill xmlns:a="http://schemas.openxmlformats.org/drawingml/2006/main">
            <a:srgbClr val="20362C"/>
          </a:solidFill>
          <a:ln xmlns:a="http://schemas.openxmlformats.org/drawingml/2006/main" w="0">
            <a:noFill/>
          </a:ln>
        </p:spPr>
      </p:sp>
      <p:sp>
        <p:nvSpPr>
          <p:cNvPr id="13" name="text-108">
            <a:extLst xmlns:a="http://schemas.openxmlformats.org/drawingml/2006/main">
              <a:ext uri="{FF2B5EF4-FFF2-40B4-BE49-F238E27FC236}">
                <a16:creationId xmlns:a16="http://schemas.microsoft.com/office/drawing/2014/main" id="{92C6D127-3D45-4900-98FA-33DA1B68CCBF}"/>
              </a:ext>
            </a:extLst>
          </p:cNvPr>
          <p:cNvSpPr>
            <a:spLocks xmlns:a="http://schemas.openxmlformats.org/drawingml/2006/main" noGrp="1"/>
          </p:cNvSpPr>
          <p:nvPr/>
        </p:nvSpPr>
        <p:spPr>
          <a:xfrm xmlns:a="http://schemas.openxmlformats.org/drawingml/2006/main">
            <a:off x="8324850" y="2686050"/>
            <a:ext cx="309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1">
                <a:solidFill>
                  <a:srgbClr val="D2F56A"/>
                </a:solidFill>
                <a:latin typeface="Arial"/>
                <a:ea typeface="Arial"/>
                <a:cs typeface="Arial"/>
              </a:defRPr>
            </a:pPr>
            <a:r>
              <a:rPr sz="2925" b="1">
                <a:solidFill>
                  <a:srgbClr val="D2F56A"/>
                </a:solidFill>
                <a:latin typeface="Arial"/>
                <a:ea typeface="Arial"/>
                <a:cs typeface="Arial"/>
              </a:rPr>
              <a:t>$20.3T–$30T</a:t>
            </a:r>
          </a:p>
        </p:txBody>
      </p:sp>
      <p:sp>
        <p:nvSpPr>
          <p:cNvPr id="14" name="text-109">
            <a:extLst xmlns:a="http://schemas.openxmlformats.org/drawingml/2006/main">
              <a:ext uri="{FF2B5EF4-FFF2-40B4-BE49-F238E27FC236}">
                <a16:creationId xmlns:a16="http://schemas.microsoft.com/office/drawing/2014/main" id="{429341FA-F3CD-43ED-9D6C-368569B3CF9E}"/>
              </a:ext>
            </a:extLst>
          </p:cNvPr>
          <p:cNvSpPr>
            <a:spLocks xmlns:a="http://schemas.openxmlformats.org/drawingml/2006/main" noGrp="1"/>
          </p:cNvSpPr>
          <p:nvPr/>
        </p:nvSpPr>
        <p:spPr>
          <a:xfrm xmlns:a="http://schemas.openxmlformats.org/drawingml/2006/main">
            <a:off x="8324850" y="3314700"/>
            <a:ext cx="3095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F7FAF5"/>
                </a:solidFill>
                <a:latin typeface="Arial"/>
                <a:ea typeface="Arial"/>
                <a:cs typeface="Arial"/>
              </a:defRPr>
            </a:pPr>
            <a:r>
              <a:rPr sz="1500" b="0">
                <a:solidFill>
                  <a:srgbClr val="F7FAF5"/>
                </a:solidFill>
                <a:latin typeface="Arial"/>
                <a:ea typeface="Arial"/>
                <a:cs typeface="Arial"/>
              </a:rPr>
              <a:t>estimated global annual cost of interpersonal violence.</a:t>
            </a:r>
          </a:p>
        </p:txBody>
      </p:sp>
      <p:sp>
        <p:nvSpPr>
          <p:cNvPr id="15" name="text-110">
            <a:extLst xmlns:a="http://schemas.openxmlformats.org/drawingml/2006/main">
              <a:ext uri="{FF2B5EF4-FFF2-40B4-BE49-F238E27FC236}">
                <a16:creationId xmlns:a16="http://schemas.microsoft.com/office/drawing/2014/main" id="{3575AB93-2EA1-4E3D-B9E1-F408041E9D45}"/>
              </a:ext>
            </a:extLst>
          </p:cNvPr>
          <p:cNvSpPr>
            <a:spLocks xmlns:a="http://schemas.openxmlformats.org/drawingml/2006/main" noGrp="1"/>
          </p:cNvSpPr>
          <p:nvPr/>
        </p:nvSpPr>
        <p:spPr>
          <a:xfrm xmlns:a="http://schemas.openxmlformats.org/drawingml/2006/main">
            <a:off x="533400" y="437197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D2F56A"/>
                </a:solidFill>
                <a:latin typeface="Arial"/>
                <a:ea typeface="Arial"/>
                <a:cs typeface="Arial"/>
              </a:defRPr>
            </a:pPr>
            <a:r>
              <a:rPr sz="1875" b="1">
                <a:solidFill>
                  <a:srgbClr val="D2F56A"/>
                </a:solidFill>
                <a:latin typeface="Arial"/>
                <a:ea typeface="Arial"/>
                <a:cs typeface="Arial"/>
              </a:rPr>
              <a:t>NIVRA’s intended contribution</a:t>
            </a:r>
          </a:p>
        </p:txBody>
      </p:sp>
      <p:sp>
        <p:nvSpPr>
          <p:cNvPr id="16" name="text-111">
            <a:extLst xmlns:a="http://schemas.openxmlformats.org/drawingml/2006/main">
              <a:ext uri="{FF2B5EF4-FFF2-40B4-BE49-F238E27FC236}">
                <a16:creationId xmlns:a16="http://schemas.microsoft.com/office/drawing/2014/main" id="{FEDCF9CC-F838-4B4C-A0AB-51D366220F87}"/>
              </a:ext>
            </a:extLst>
          </p:cNvPr>
          <p:cNvSpPr>
            <a:spLocks xmlns:a="http://schemas.openxmlformats.org/drawingml/2006/main" noGrp="1"/>
          </p:cNvSpPr>
          <p:nvPr/>
        </p:nvSpPr>
        <p:spPr>
          <a:xfrm xmlns:a="http://schemas.openxmlformats.org/drawingml/2006/main">
            <a:off x="533400" y="4800600"/>
            <a:ext cx="571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F7FAF5"/>
                </a:solidFill>
                <a:latin typeface="Arial"/>
                <a:ea typeface="Arial"/>
                <a:cs typeface="Arial"/>
              </a:defRPr>
            </a:pPr>
            <a:r>
              <a:rPr sz="1875" b="0">
                <a:solidFill>
                  <a:srgbClr val="F7FAF5"/>
                </a:solidFill>
                <a:latin typeface="Arial"/>
                <a:ea typeface="Arial"/>
                <a:cs typeface="Arial"/>
              </a:rPr>
              <a:t>Move from passive recording to observable signals, human review and coordinated response.</a:t>
            </a:r>
          </a:p>
        </p:txBody>
      </p:sp>
      <p:sp>
        <p:nvSpPr>
          <p:cNvPr id="17" name="text-112">
            <a:extLst xmlns:a="http://schemas.openxmlformats.org/drawingml/2006/main">
              <a:ext uri="{FF2B5EF4-FFF2-40B4-BE49-F238E27FC236}">
                <a16:creationId xmlns:a16="http://schemas.microsoft.com/office/drawing/2014/main" id="{E30D65F3-FE15-43C6-9989-D16ADB3D0BEB}"/>
              </a:ext>
            </a:extLst>
          </p:cNvPr>
          <p:cNvSpPr>
            <a:spLocks xmlns:a="http://schemas.openxmlformats.org/drawingml/2006/main" noGrp="1"/>
          </p:cNvSpPr>
          <p:nvPr/>
        </p:nvSpPr>
        <p:spPr>
          <a:xfrm xmlns:a="http://schemas.openxmlformats.org/drawingml/2006/main">
            <a:off x="7400925" y="4371975"/>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D2F56A"/>
                </a:solidFill>
                <a:latin typeface="Arial"/>
                <a:ea typeface="Arial"/>
                <a:cs typeface="Arial"/>
              </a:defRPr>
            </a:pPr>
            <a:r>
              <a:rPr sz="1875" b="1">
                <a:solidFill>
                  <a:srgbClr val="D2F56A"/>
                </a:solidFill>
                <a:latin typeface="Arial"/>
                <a:ea typeface="Arial"/>
                <a:cs typeface="Arial"/>
              </a:rPr>
              <a:t>Guardrails</a:t>
            </a:r>
          </a:p>
        </p:txBody>
      </p:sp>
      <p:sp>
        <p:nvSpPr>
          <p:cNvPr id="18" name="text-113">
            <a:extLst xmlns:a="http://schemas.openxmlformats.org/drawingml/2006/main">
              <a:ext uri="{FF2B5EF4-FFF2-40B4-BE49-F238E27FC236}">
                <a16:creationId xmlns:a16="http://schemas.microsoft.com/office/drawing/2014/main" id="{EA0871C7-7588-46B0-A0E5-6512253BB1FF}"/>
              </a:ext>
            </a:extLst>
          </p:cNvPr>
          <p:cNvSpPr>
            <a:spLocks xmlns:a="http://schemas.openxmlformats.org/drawingml/2006/main" noGrp="1"/>
          </p:cNvSpPr>
          <p:nvPr/>
        </p:nvSpPr>
        <p:spPr>
          <a:xfrm xmlns:a="http://schemas.openxmlformats.org/drawingml/2006/main">
            <a:off x="7400925" y="4800600"/>
            <a:ext cx="3905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F7FAF5"/>
                </a:solidFill>
                <a:latin typeface="Arial"/>
                <a:ea typeface="Arial"/>
                <a:cs typeface="Arial"/>
              </a:defRPr>
            </a:pPr>
            <a:r>
              <a:rPr sz="1725" b="0">
                <a:solidFill>
                  <a:srgbClr val="F7FAF5"/>
                </a:solidFill>
                <a:latin typeface="Arial"/>
                <a:ea typeface="Arial"/>
                <a:cs typeface="Arial"/>
              </a:rPr>
              <a:t>Local processing • no identity inference • human decision before action</a:t>
            </a:r>
          </a:p>
        </p:txBody>
      </p:sp>
      <p:sp>
        <p:nvSpPr>
          <p:cNvPr id="19" name="text-114">
            <a:extLst xmlns:a="http://schemas.openxmlformats.org/drawingml/2006/main">
              <a:ext uri="{FF2B5EF4-FFF2-40B4-BE49-F238E27FC236}">
                <a16:creationId xmlns:a16="http://schemas.microsoft.com/office/drawing/2014/main" id="{14BDD038-1BCC-49DD-9E5D-F3401D412A65}"/>
              </a:ext>
            </a:extLst>
          </p:cNvPr>
          <p:cNvSpPr>
            <a:spLocks xmlns:a="http://schemas.openxmlformats.org/drawingml/2006/main" noGrp="1"/>
          </p:cNvSpPr>
          <p:nvPr/>
        </p:nvSpPr>
        <p:spPr>
          <a:xfrm xmlns:a="http://schemas.openxmlformats.org/drawingml/2006/main">
            <a:off x="533400" y="6067425"/>
            <a:ext cx="1112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F7FAF5"/>
                </a:solidFill>
                <a:latin typeface="Arial"/>
                <a:ea typeface="Arial"/>
                <a:cs typeface="Arial"/>
              </a:defRPr>
            </a:pPr>
            <a:r>
              <a:rPr sz="1050" b="0">
                <a:solidFill>
                  <a:srgbClr val="F7FAF5"/>
                </a:solidFill>
                <a:latin typeface="Arial"/>
                <a:ea typeface="Arial"/>
                <a:cs typeface="Arial"/>
              </a:rPr>
              <a:t>Source: supplied public_violence_metrics_report.pdf. Figures are reproduced as reported and were not independently verified.</a:t>
            </a:r>
          </a:p>
        </p:txBody>
      </p:sp>
    </p:spTree>
    <p:extLst>
      <p:ext uri="{BB962C8B-B14F-4D97-AF65-F5344CB8AC3E}">
        <p14:creationId xmlns:p14="http://schemas.microsoft.com/office/powerpoint/2010/main" val="638187895"/>
      </p:ext>
    </p:extLst>
  </p:cSld>
</p:sld>
</file>

<file path=ppt/slides/slide9.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sp>
        <p:nvSpPr>
          <p:cNvPr id="23" name="text-115">
            <a:extLst xmlns:a="http://schemas.openxmlformats.org/drawingml/2006/main">
              <a:ext uri="{FF2B5EF4-FFF2-40B4-BE49-F238E27FC236}">
                <a16:creationId xmlns:a16="http://schemas.microsoft.com/office/drawing/2014/main" id="{95A05F89-3E04-4A9B-AE4D-150BC051CC3A}"/>
              </a:ext>
            </a:extLst>
          </p:cNvPr>
          <p:cNvSpPr>
            <a:spLocks xmlns:a="http://schemas.openxmlformats.org/drawingml/2006/main" noGrp="1"/>
          </p:cNvSpPr>
          <p:nvPr/>
        </p:nvSpPr>
        <p:spPr>
          <a:xfrm xmlns:a="http://schemas.openxmlformats.org/drawingml/2006/main">
            <a:off x="533400" y="4476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4251D"/>
                </a:solidFill>
                <a:latin typeface="Arial"/>
                <a:ea typeface="Arial"/>
                <a:cs typeface="Arial"/>
              </a:defRPr>
            </a:pPr>
            <a:r>
              <a:rPr sz="3600" b="1">
                <a:solidFill>
                  <a:srgbClr val="14251D"/>
                </a:solidFill>
                <a:latin typeface="Arial"/>
                <a:ea typeface="Arial"/>
                <a:cs typeface="Arial"/>
              </a:rPr>
              <a:t>Research and References</a:t>
            </a:r>
          </a:p>
        </p:txBody>
      </p:sp>
      <p:sp>
        <p:nvSpPr>
          <p:cNvPr id="2" name="text-116">
            <a:extLst xmlns:a="http://schemas.openxmlformats.org/drawingml/2006/main">
              <a:ext uri="{FF2B5EF4-FFF2-40B4-BE49-F238E27FC236}">
                <a16:creationId xmlns:a16="http://schemas.microsoft.com/office/drawing/2014/main" id="{CEDEBB54-0BC6-4200-88F8-6E0824931B80}"/>
              </a:ext>
            </a:extLst>
          </p:cNvPr>
          <p:cNvSpPr>
            <a:spLocks xmlns:a="http://schemas.openxmlformats.org/drawingml/2006/main" noGrp="1"/>
          </p:cNvSpPr>
          <p:nvPr/>
        </p:nvSpPr>
        <p:spPr>
          <a:xfrm xmlns:a="http://schemas.openxmlformats.org/drawingml/2006/main">
            <a:off x="533400" y="645795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06056"/>
                </a:solidFill>
                <a:latin typeface="Arial"/>
                <a:ea typeface="Arial"/>
                <a:cs typeface="Arial"/>
              </a:defRPr>
            </a:pPr>
            <a:r>
              <a:rPr sz="975" b="0">
                <a:solidFill>
                  <a:srgbClr val="506056"/>
                </a:solidFill>
                <a:latin typeface="Arial"/>
                <a:ea typeface="Arial"/>
                <a:cs typeface="Arial"/>
              </a:rPr>
              <a:t>NIVRA / BAL BHARATI HACKATHON 3.0</a:t>
            </a:r>
          </a:p>
        </p:txBody>
      </p:sp>
      <p:sp>
        <p:nvSpPr>
          <p:cNvPr id="3" name="text-117">
            <a:extLst xmlns:a="http://schemas.openxmlformats.org/drawingml/2006/main">
              <a:ext uri="{FF2B5EF4-FFF2-40B4-BE49-F238E27FC236}">
                <a16:creationId xmlns:a16="http://schemas.microsoft.com/office/drawing/2014/main" id="{8E924573-C852-46A4-B44A-A1E7E215E499}"/>
              </a:ext>
            </a:extLst>
          </p:cNvPr>
          <p:cNvSpPr>
            <a:spLocks xmlns:a="http://schemas.openxmlformats.org/drawingml/2006/main" noGrp="1"/>
          </p:cNvSpPr>
          <p:nvPr/>
        </p:nvSpPr>
        <p:spPr>
          <a:xfrm xmlns:a="http://schemas.openxmlformats.org/drawingml/2006/main">
            <a:off x="11239500" y="64198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14251D"/>
                </a:solidFill>
                <a:latin typeface="Arial"/>
                <a:ea typeface="Arial"/>
                <a:cs typeface="Arial"/>
              </a:defRPr>
            </a:pPr>
            <a:r>
              <a:rPr sz="1200" b="0">
                <a:solidFill>
                  <a:srgbClr val="14251D"/>
                </a:solidFill>
                <a:latin typeface="Arial"/>
                <a:ea typeface="Arial"/>
                <a:cs typeface="Arial"/>
              </a:rPr>
              <a:t>09</a:t>
            </a:r>
          </a:p>
        </p:txBody>
      </p:sp>
      <p:sp>
        <p:nvSpPr>
          <p:cNvPr id="4" name="text-118">
            <a:extLst xmlns:a="http://schemas.openxmlformats.org/drawingml/2006/main">
              <a:ext uri="{FF2B5EF4-FFF2-40B4-BE49-F238E27FC236}">
                <a16:creationId xmlns:a16="http://schemas.microsoft.com/office/drawing/2014/main" id="{C4B090AD-8EC3-4671-8DBF-681D95FAD66E}"/>
              </a:ext>
            </a:extLst>
          </p:cNvPr>
          <p:cNvSpPr>
            <a:spLocks xmlns:a="http://schemas.openxmlformats.org/drawingml/2006/main" noGrp="1"/>
          </p:cNvSpPr>
          <p:nvPr/>
        </p:nvSpPr>
        <p:spPr>
          <a:xfrm xmlns:a="http://schemas.openxmlformats.org/drawingml/2006/main">
            <a:off x="552450" y="1171575"/>
            <a:ext cx="11087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06056"/>
                </a:solidFill>
                <a:latin typeface="Arial"/>
                <a:ea typeface="Arial"/>
                <a:cs typeface="Arial"/>
              </a:defRPr>
            </a:pPr>
            <a:r>
              <a:rPr sz="1875" b="0">
                <a:solidFill>
                  <a:srgbClr val="506056"/>
                </a:solidFill>
                <a:latin typeface="Arial"/>
                <a:ea typeface="Arial"/>
                <a:cs typeface="Arial"/>
              </a:rPr>
              <a:t>Evidence informs the idea; it does not validate NIVRA.</a:t>
            </a:r>
          </a:p>
        </p:txBody>
      </p:sp>
      <p:sp>
        <p:nvSpPr>
          <p:cNvPr id="5" name="text-119">
            <a:extLst xmlns:a="http://schemas.openxmlformats.org/drawingml/2006/main">
              <a:ext uri="{FF2B5EF4-FFF2-40B4-BE49-F238E27FC236}">
                <a16:creationId xmlns:a16="http://schemas.microsoft.com/office/drawing/2014/main" id="{75679ED5-8B4E-4D6A-A219-57AAD50ED6A9}"/>
              </a:ext>
            </a:extLst>
          </p:cNvPr>
          <p:cNvSpPr>
            <a:spLocks xmlns:a="http://schemas.openxmlformats.org/drawingml/2006/main" noGrp="1"/>
          </p:cNvSpPr>
          <p:nvPr/>
        </p:nvSpPr>
        <p:spPr>
          <a:xfrm xmlns:a="http://schemas.openxmlformats.org/drawingml/2006/main">
            <a:off x="533400" y="1857375"/>
            <a:ext cx="65436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4251D"/>
                </a:solidFill>
                <a:latin typeface="Arial"/>
                <a:ea typeface="Arial"/>
                <a:cs typeface="Arial"/>
              </a:defRPr>
            </a:pPr>
            <a:r>
              <a:rPr sz="1200" b="1">
                <a:solidFill>
                  <a:srgbClr val="14251D"/>
                </a:solidFill>
                <a:latin typeface="Arial"/>
                <a:ea typeface="Arial"/>
                <a:cs typeface="Arial"/>
              </a:rPr>
              <a:t>01 / SCHOOL SAFETY</a:t>
            </a:r>
          </a:p>
        </p:txBody>
      </p:sp>
      <p:sp>
        <p:nvSpPr>
          <p:cNvPr id="6" name="text-120">
            <a:extLst xmlns:a="http://schemas.openxmlformats.org/drawingml/2006/main">
              <a:ext uri="{FF2B5EF4-FFF2-40B4-BE49-F238E27FC236}">
                <a16:creationId xmlns:a16="http://schemas.microsoft.com/office/drawing/2014/main" id="{1DDB2266-0ACD-4C53-9092-3B119577EC24}"/>
              </a:ext>
            </a:extLst>
          </p:cNvPr>
          <p:cNvSpPr>
            <a:spLocks xmlns:a="http://schemas.openxmlformats.org/drawingml/2006/main" noGrp="1"/>
          </p:cNvSpPr>
          <p:nvPr/>
        </p:nvSpPr>
        <p:spPr>
          <a:xfrm xmlns:a="http://schemas.openxmlformats.org/drawingml/2006/main">
            <a:off x="533400" y="2152650"/>
            <a:ext cx="65436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06056"/>
                </a:solidFill>
                <a:latin typeface="Arial"/>
                <a:ea typeface="Arial"/>
                <a:cs typeface="Arial"/>
              </a:defRPr>
            </a:pPr>
            <a:r>
              <a:rPr sz="1500" b="0">
                <a:solidFill>
                  <a:srgbClr val="506056"/>
                </a:solidFill>
                <a:latin typeface="Arial"/>
                <a:ea typeface="Arial"/>
                <a:cs typeface="Arial"/>
              </a:rPr>
              <a:t>MoE, School Safety &amp; Security Guidelines (2021).</a:t>
            </a:r>
          </a:p>
          <a:p xmlns:a="http://schemas.openxmlformats.org/drawingml/2006/main">
            <a:pPr>
              <a:defRPr sz="1500" b="0">
                <a:solidFill>
                  <a:srgbClr val="506056"/>
                </a:solidFill>
                <a:latin typeface="Arial"/>
                <a:ea typeface="Arial"/>
                <a:cs typeface="Arial"/>
              </a:defRPr>
            </a:pPr>
            <a:r>
              <a:rPr sz="1500" b="0">
                <a:solidFill>
                  <a:srgbClr val="506056"/>
                </a:solidFill>
                <a:latin typeface="Arial"/>
                <a:ea typeface="Arial"/>
                <a:cs typeface="Arial"/>
              </a:rPr>
              <a:t>Establishes institutional safety responsibilities.</a:t>
            </a:r>
          </a:p>
        </p:txBody>
      </p:sp>
      <p:sp>
        <p:nvSpPr>
          <p:cNvPr id="7" name="text-121">
            <a:extLst xmlns:a="http://schemas.openxmlformats.org/drawingml/2006/main">
              <a:ext uri="{FF2B5EF4-FFF2-40B4-BE49-F238E27FC236}">
                <a16:creationId xmlns:a16="http://schemas.microsoft.com/office/drawing/2014/main" id="{15B5E6D6-3ECE-4FAB-B406-0600185F5601}"/>
              </a:ext>
            </a:extLst>
          </p:cNvPr>
          <p:cNvSpPr>
            <a:spLocks xmlns:a="http://schemas.openxmlformats.org/drawingml/2006/main" noGrp="1"/>
          </p:cNvSpPr>
          <p:nvPr/>
        </p:nvSpPr>
        <p:spPr>
          <a:xfrm xmlns:a="http://schemas.openxmlformats.org/drawingml/2006/main">
            <a:off x="533400" y="2876550"/>
            <a:ext cx="65436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4251D"/>
                </a:solidFill>
                <a:latin typeface="Arial"/>
                <a:ea typeface="Arial"/>
                <a:cs typeface="Arial"/>
              </a:defRPr>
            </a:pPr>
            <a:r>
              <a:rPr sz="1200" b="1">
                <a:solidFill>
                  <a:srgbClr val="14251D"/>
                </a:solidFill>
                <a:latin typeface="Arial"/>
                <a:ea typeface="Arial"/>
                <a:cs typeface="Arial"/>
              </a:rPr>
              <a:t>02 / TECHNICAL BASIS</a:t>
            </a:r>
          </a:p>
        </p:txBody>
      </p:sp>
      <p:sp>
        <p:nvSpPr>
          <p:cNvPr id="8" name="text-122">
            <a:extLst xmlns:a="http://schemas.openxmlformats.org/drawingml/2006/main">
              <a:ext uri="{FF2B5EF4-FFF2-40B4-BE49-F238E27FC236}">
                <a16:creationId xmlns:a16="http://schemas.microsoft.com/office/drawing/2014/main" id="{E45758DD-C75C-42E4-957B-2756349B4344}"/>
              </a:ext>
            </a:extLst>
          </p:cNvPr>
          <p:cNvSpPr>
            <a:spLocks xmlns:a="http://schemas.openxmlformats.org/drawingml/2006/main" noGrp="1"/>
          </p:cNvSpPr>
          <p:nvPr/>
        </p:nvSpPr>
        <p:spPr>
          <a:xfrm xmlns:a="http://schemas.openxmlformats.org/drawingml/2006/main">
            <a:off x="533400" y="3171825"/>
            <a:ext cx="65436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06056"/>
                </a:solidFill>
                <a:latin typeface="Arial"/>
                <a:ea typeface="Arial"/>
                <a:cs typeface="Arial"/>
              </a:defRPr>
            </a:pPr>
            <a:r>
              <a:rPr sz="1500" b="0">
                <a:solidFill>
                  <a:srgbClr val="506056"/>
                </a:solidFill>
                <a:latin typeface="Arial"/>
                <a:ea typeface="Arial"/>
                <a:cs typeface="Arial"/>
              </a:rPr>
              <a:t>Google Research, BlazePose (2020), and MediaPipe docs.</a:t>
            </a:r>
          </a:p>
          <a:p xmlns:a="http://schemas.openxmlformats.org/drawingml/2006/main">
            <a:pPr>
              <a:defRPr sz="1500" b="0">
                <a:solidFill>
                  <a:srgbClr val="506056"/>
                </a:solidFill>
                <a:latin typeface="Arial"/>
                <a:ea typeface="Arial"/>
                <a:cs typeface="Arial"/>
              </a:defRPr>
            </a:pPr>
            <a:r>
              <a:rPr sz="1500" b="0">
                <a:solidFill>
                  <a:srgbClr val="506056"/>
                </a:solidFill>
                <a:latin typeface="Arial"/>
                <a:ea typeface="Arial"/>
                <a:cs typeface="Arial"/>
              </a:rPr>
              <a:t>Support pose estimation—not prediction of violence.</a:t>
            </a:r>
          </a:p>
        </p:txBody>
      </p:sp>
      <p:sp>
        <p:nvSpPr>
          <p:cNvPr id="9" name="text-123">
            <a:extLst xmlns:a="http://schemas.openxmlformats.org/drawingml/2006/main">
              <a:ext uri="{FF2B5EF4-FFF2-40B4-BE49-F238E27FC236}">
                <a16:creationId xmlns:a16="http://schemas.microsoft.com/office/drawing/2014/main" id="{2B881D5A-D422-4B4A-A34D-672D189ECD3B}"/>
              </a:ext>
            </a:extLst>
          </p:cNvPr>
          <p:cNvSpPr>
            <a:spLocks xmlns:a="http://schemas.openxmlformats.org/drawingml/2006/main" noGrp="1"/>
          </p:cNvSpPr>
          <p:nvPr/>
        </p:nvSpPr>
        <p:spPr>
          <a:xfrm xmlns:a="http://schemas.openxmlformats.org/drawingml/2006/main">
            <a:off x="533400" y="3895725"/>
            <a:ext cx="65436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4251D"/>
                </a:solidFill>
                <a:latin typeface="Arial"/>
                <a:ea typeface="Arial"/>
                <a:cs typeface="Arial"/>
              </a:defRPr>
            </a:pPr>
            <a:r>
              <a:rPr sz="1200" b="1">
                <a:solidFill>
                  <a:srgbClr val="14251D"/>
                </a:solidFill>
                <a:latin typeface="Arial"/>
                <a:ea typeface="Arial"/>
                <a:cs typeface="Arial"/>
              </a:rPr>
              <a:t>03 / EXISTING SOLUTION</a:t>
            </a:r>
          </a:p>
        </p:txBody>
      </p:sp>
      <p:sp>
        <p:nvSpPr>
          <p:cNvPr id="10" name="text-124">
            <a:extLst xmlns:a="http://schemas.openxmlformats.org/drawingml/2006/main">
              <a:ext uri="{FF2B5EF4-FFF2-40B4-BE49-F238E27FC236}">
                <a16:creationId xmlns:a16="http://schemas.microsoft.com/office/drawing/2014/main" id="{97672978-F3C6-439D-BAFC-0A7915E4A72B}"/>
              </a:ext>
            </a:extLst>
          </p:cNvPr>
          <p:cNvSpPr>
            <a:spLocks xmlns:a="http://schemas.openxmlformats.org/drawingml/2006/main" noGrp="1"/>
          </p:cNvSpPr>
          <p:nvPr/>
        </p:nvSpPr>
        <p:spPr>
          <a:xfrm xmlns:a="http://schemas.openxmlformats.org/drawingml/2006/main">
            <a:off x="533400" y="4191000"/>
            <a:ext cx="65436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06056"/>
                </a:solidFill>
                <a:latin typeface="Arial"/>
                <a:ea typeface="Arial"/>
                <a:cs typeface="Arial"/>
              </a:defRPr>
            </a:pPr>
            <a:r>
              <a:rPr sz="1500" b="0">
                <a:solidFill>
                  <a:srgbClr val="506056"/>
                </a:solidFill>
                <a:latin typeface="Arial"/>
                <a:ea typeface="Arial"/>
                <a:cs typeface="Arial"/>
              </a:rPr>
              <a:t>Axis Object Analytics: object tracking and event triggers.</a:t>
            </a:r>
          </a:p>
          <a:p xmlns:a="http://schemas.openxmlformats.org/drawingml/2006/main">
            <a:pPr>
              <a:defRPr sz="1500" b="0">
                <a:solidFill>
                  <a:srgbClr val="506056"/>
                </a:solidFill>
                <a:latin typeface="Arial"/>
                <a:ea typeface="Arial"/>
                <a:cs typeface="Arial"/>
              </a:defRPr>
            </a:pPr>
            <a:r>
              <a:rPr sz="1500" b="0">
                <a:solidFill>
                  <a:srgbClr val="506056"/>
                </a:solidFill>
                <a:latin typeface="Arial"/>
                <a:ea typeface="Arial"/>
                <a:cs typeface="Arial"/>
              </a:rPr>
              <a:t>NIVRA proposes human review plus response acknowledgement.</a:t>
            </a:r>
          </a:p>
        </p:txBody>
      </p:sp>
      <p:sp>
        <p:nvSpPr>
          <p:cNvPr id="11" name="text-125">
            <a:extLst xmlns:a="http://schemas.openxmlformats.org/drawingml/2006/main">
              <a:ext uri="{FF2B5EF4-FFF2-40B4-BE49-F238E27FC236}">
                <a16:creationId xmlns:a16="http://schemas.microsoft.com/office/drawing/2014/main" id="{BB079D88-1F95-4212-81F5-A05F1E6BE6B3}"/>
              </a:ext>
            </a:extLst>
          </p:cNvPr>
          <p:cNvSpPr>
            <a:spLocks xmlns:a="http://schemas.openxmlformats.org/drawingml/2006/main" noGrp="1"/>
          </p:cNvSpPr>
          <p:nvPr/>
        </p:nvSpPr>
        <p:spPr>
          <a:xfrm xmlns:a="http://schemas.openxmlformats.org/drawingml/2006/main">
            <a:off x="533400" y="4914900"/>
            <a:ext cx="65436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4251D"/>
                </a:solidFill>
                <a:latin typeface="Arial"/>
                <a:ea typeface="Arial"/>
                <a:cs typeface="Arial"/>
              </a:defRPr>
            </a:pPr>
            <a:r>
              <a:rPr sz="1200" b="1">
                <a:solidFill>
                  <a:srgbClr val="14251D"/>
                </a:solidFill>
                <a:latin typeface="Arial"/>
                <a:ea typeface="Arial"/>
                <a:cs typeface="Arial"/>
              </a:rPr>
              <a:t>04 / DATA &amp; PRIVACY</a:t>
            </a:r>
          </a:p>
        </p:txBody>
      </p:sp>
      <p:sp>
        <p:nvSpPr>
          <p:cNvPr id="12" name="text-126">
            <a:extLst xmlns:a="http://schemas.openxmlformats.org/drawingml/2006/main">
              <a:ext uri="{FF2B5EF4-FFF2-40B4-BE49-F238E27FC236}">
                <a16:creationId xmlns:a16="http://schemas.microsoft.com/office/drawing/2014/main" id="{7EDE8DAA-7AD0-40ED-A427-96A46BD8ECFA}"/>
              </a:ext>
            </a:extLst>
          </p:cNvPr>
          <p:cNvSpPr>
            <a:spLocks xmlns:a="http://schemas.openxmlformats.org/drawingml/2006/main" noGrp="1"/>
          </p:cNvSpPr>
          <p:nvPr/>
        </p:nvSpPr>
        <p:spPr>
          <a:xfrm xmlns:a="http://schemas.openxmlformats.org/drawingml/2006/main">
            <a:off x="533400" y="5210175"/>
            <a:ext cx="65436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06056"/>
                </a:solidFill>
                <a:latin typeface="Arial"/>
                <a:ea typeface="Arial"/>
                <a:cs typeface="Arial"/>
              </a:defRPr>
            </a:pPr>
            <a:r>
              <a:rPr sz="1500" b="0">
                <a:solidFill>
                  <a:srgbClr val="506056"/>
                </a:solidFill>
                <a:latin typeface="Arial"/>
                <a:ea typeface="Arial"/>
                <a:cs typeface="Arial"/>
              </a:rPr>
              <a:t>Planned data: permissioned staged volunteer videos; none yet.</a:t>
            </a:r>
          </a:p>
          <a:p xmlns:a="http://schemas.openxmlformats.org/drawingml/2006/main">
            <a:pPr>
              <a:defRPr sz="1500" b="0">
                <a:solidFill>
                  <a:srgbClr val="506056"/>
                </a:solidFill>
                <a:latin typeface="Arial"/>
                <a:ea typeface="Arial"/>
                <a:cs typeface="Arial"/>
              </a:defRPr>
            </a:pPr>
            <a:r>
              <a:rPr sz="1500" b="0">
                <a:solidFill>
                  <a:srgbClr val="506056"/>
                </a:solidFill>
                <a:latin typeface="Arial"/>
                <a:ea typeface="Arial"/>
                <a:cs typeface="Arial"/>
              </a:rPr>
              <a:t>DPDP Act (2023): assess applicable privacy rules before a pilot.</a:t>
            </a:r>
          </a:p>
        </p:txBody>
      </p:sp>
      <p:sp>
        <p:nvSpPr>
          <p:cNvPr id="13" name="">
            <a:extLst xmlns:a="http://schemas.openxmlformats.org/drawingml/2006/main">
              <a:ext uri="{FF2B5EF4-FFF2-40B4-BE49-F238E27FC236}">
                <a16:creationId xmlns:a16="http://schemas.microsoft.com/office/drawing/2014/main" id="{E931F36A-C8C2-4A04-9689-21769B787A37}"/>
              </a:ext>
            </a:extLst>
          </p:cNvPr>
          <p:cNvSpPr>
            <a:spLocks xmlns:a="http://schemas.openxmlformats.org/drawingml/2006/main" noGrp="1"/>
          </p:cNvSpPr>
          <p:nvPr/>
        </p:nvSpPr>
        <p:spPr>
          <a:xfrm xmlns:a="http://schemas.openxmlformats.org/drawingml/2006/main">
            <a:off x="7543800" y="1752600"/>
            <a:ext cx="4114800" cy="4276725"/>
          </a:xfrm>
          <a:prstGeom xmlns:a="http://schemas.openxmlformats.org/drawingml/2006/main" prst="rect">
            <a:avLst/>
          </a:prstGeom>
          <a:solidFill xmlns:a="http://schemas.openxmlformats.org/drawingml/2006/main">
            <a:srgbClr val="D2F56A"/>
          </a:solidFill>
          <a:ln xmlns:a="http://schemas.openxmlformats.org/drawingml/2006/main" w="0">
            <a:noFill/>
          </a:ln>
        </p:spPr>
      </p:sp>
      <p:sp>
        <p:nvSpPr>
          <p:cNvPr id="14" name="text-127">
            <a:extLst xmlns:a="http://schemas.openxmlformats.org/drawingml/2006/main">
              <a:ext uri="{FF2B5EF4-FFF2-40B4-BE49-F238E27FC236}">
                <a16:creationId xmlns:a16="http://schemas.microsoft.com/office/drawing/2014/main" id="{448BEB9B-DD98-44A9-BC48-E3CB93E80996}"/>
              </a:ext>
            </a:extLst>
          </p:cNvPr>
          <p:cNvSpPr>
            <a:spLocks xmlns:a="http://schemas.openxmlformats.org/drawingml/2006/main" noGrp="1"/>
          </p:cNvSpPr>
          <p:nvPr/>
        </p:nvSpPr>
        <p:spPr>
          <a:xfrm xmlns:a="http://schemas.openxmlformats.org/drawingml/2006/main">
            <a:off x="7772400" y="1971675"/>
            <a:ext cx="363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4251D"/>
                </a:solidFill>
                <a:latin typeface="Arial"/>
                <a:ea typeface="Arial"/>
                <a:cs typeface="Arial"/>
              </a:defRPr>
            </a:pPr>
            <a:r>
              <a:rPr sz="2175" b="1">
                <a:solidFill>
                  <a:srgbClr val="14251D"/>
                </a:solidFill>
                <a:latin typeface="Arial"/>
                <a:ea typeface="Arial"/>
                <a:cs typeface="Arial"/>
              </a:rPr>
              <a:t>Proposed stack</a:t>
            </a:r>
          </a:p>
        </p:txBody>
      </p:sp>
      <p:sp>
        <p:nvSpPr>
          <p:cNvPr id="15" name="text-128">
            <a:extLst xmlns:a="http://schemas.openxmlformats.org/drawingml/2006/main">
              <a:ext uri="{FF2B5EF4-FFF2-40B4-BE49-F238E27FC236}">
                <a16:creationId xmlns:a16="http://schemas.microsoft.com/office/drawing/2014/main" id="{9E9186E6-6C05-402E-A482-60D50F0B9F9F}"/>
              </a:ext>
            </a:extLst>
          </p:cNvPr>
          <p:cNvSpPr>
            <a:spLocks xmlns:a="http://schemas.openxmlformats.org/drawingml/2006/main" noGrp="1"/>
          </p:cNvSpPr>
          <p:nvPr/>
        </p:nvSpPr>
        <p:spPr>
          <a:xfrm xmlns:a="http://schemas.openxmlformats.org/drawingml/2006/main">
            <a:off x="7772400" y="2571750"/>
            <a:ext cx="36099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4251D"/>
                </a:solidFill>
                <a:latin typeface="Arial"/>
                <a:ea typeface="Arial"/>
                <a:cs typeface="Arial"/>
              </a:defRPr>
            </a:pPr>
            <a:r>
              <a:rPr sz="1650" b="1">
                <a:solidFill>
                  <a:srgbClr val="14251D"/>
                </a:solidFill>
                <a:latin typeface="Arial"/>
                <a:ea typeface="Arial"/>
                <a:cs typeface="Arial"/>
              </a:rPr>
              <a:t>React + TypeScript + Vite</a:t>
            </a:r>
          </a:p>
        </p:txBody>
      </p:sp>
      <p:sp>
        <p:nvSpPr>
          <p:cNvPr id="16" name="text-129">
            <a:extLst xmlns:a="http://schemas.openxmlformats.org/drawingml/2006/main">
              <a:ext uri="{FF2B5EF4-FFF2-40B4-BE49-F238E27FC236}">
                <a16:creationId xmlns:a16="http://schemas.microsoft.com/office/drawing/2014/main" id="{93F7DBBD-2B37-46E5-B4CF-E0EDE434B5E0}"/>
              </a:ext>
            </a:extLst>
          </p:cNvPr>
          <p:cNvSpPr>
            <a:spLocks xmlns:a="http://schemas.openxmlformats.org/drawingml/2006/main" noGrp="1"/>
          </p:cNvSpPr>
          <p:nvPr/>
        </p:nvSpPr>
        <p:spPr>
          <a:xfrm xmlns:a="http://schemas.openxmlformats.org/drawingml/2006/main">
            <a:off x="7772400" y="2914650"/>
            <a:ext cx="3609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14251D"/>
                </a:solidFill>
                <a:latin typeface="Arial"/>
                <a:ea typeface="Arial"/>
                <a:cs typeface="Arial"/>
              </a:defRPr>
            </a:pPr>
            <a:r>
              <a:rPr sz="1425" b="0">
                <a:solidFill>
                  <a:srgbClr val="14251D"/>
                </a:solidFill>
                <a:latin typeface="Arial"/>
                <a:ea typeface="Arial"/>
                <a:cs typeface="Arial"/>
              </a:rPr>
              <a:t>React 19 UI, TypeScript 6 and Vite 8 build.</a:t>
            </a:r>
          </a:p>
        </p:txBody>
      </p:sp>
      <p:sp>
        <p:nvSpPr>
          <p:cNvPr id="17" name="text-130">
            <a:extLst xmlns:a="http://schemas.openxmlformats.org/drawingml/2006/main">
              <a:ext uri="{FF2B5EF4-FFF2-40B4-BE49-F238E27FC236}">
                <a16:creationId xmlns:a16="http://schemas.microsoft.com/office/drawing/2014/main" id="{09846E38-A065-4877-9CB5-27F00DD2A9C3}"/>
              </a:ext>
            </a:extLst>
          </p:cNvPr>
          <p:cNvSpPr>
            <a:spLocks xmlns:a="http://schemas.openxmlformats.org/drawingml/2006/main" noGrp="1"/>
          </p:cNvSpPr>
          <p:nvPr/>
        </p:nvSpPr>
        <p:spPr>
          <a:xfrm xmlns:a="http://schemas.openxmlformats.org/drawingml/2006/main">
            <a:off x="7772400" y="3371850"/>
            <a:ext cx="36099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4251D"/>
                </a:solidFill>
                <a:latin typeface="Arial"/>
                <a:ea typeface="Arial"/>
                <a:cs typeface="Arial"/>
              </a:defRPr>
            </a:pPr>
            <a:r>
              <a:rPr sz="1650" b="1">
                <a:solidFill>
                  <a:srgbClr val="14251D"/>
                </a:solidFill>
                <a:latin typeface="Arial"/>
                <a:ea typeface="Arial"/>
                <a:cs typeface="Arial"/>
              </a:rPr>
              <a:t>MediaPipe Pose Landmarker</a:t>
            </a:r>
          </a:p>
        </p:txBody>
      </p:sp>
      <p:sp>
        <p:nvSpPr>
          <p:cNvPr id="18" name="text-131">
            <a:extLst xmlns:a="http://schemas.openxmlformats.org/drawingml/2006/main">
              <a:ext uri="{FF2B5EF4-FFF2-40B4-BE49-F238E27FC236}">
                <a16:creationId xmlns:a16="http://schemas.microsoft.com/office/drawing/2014/main" id="{26A08E33-74A1-4D97-B8C1-D9DFE2AB079B}"/>
              </a:ext>
            </a:extLst>
          </p:cNvPr>
          <p:cNvSpPr>
            <a:spLocks xmlns:a="http://schemas.openxmlformats.org/drawingml/2006/main" noGrp="1"/>
          </p:cNvSpPr>
          <p:nvPr/>
        </p:nvSpPr>
        <p:spPr>
          <a:xfrm xmlns:a="http://schemas.openxmlformats.org/drawingml/2006/main">
            <a:off x="7772400" y="3714750"/>
            <a:ext cx="3609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14251D"/>
                </a:solidFill>
                <a:latin typeface="Arial"/>
                <a:ea typeface="Arial"/>
                <a:cs typeface="Arial"/>
              </a:defRPr>
            </a:pPr>
            <a:r>
              <a:rPr sz="1425" b="0">
                <a:solidFill>
                  <a:srgbClr val="14251D"/>
                </a:solidFill>
                <a:latin typeface="Arial"/>
                <a:ea typeface="Arial"/>
                <a:cs typeface="Arial"/>
              </a:rPr>
              <a:t>Full/Lite float16 bundles via @mediapipe/tasks-vision.</a:t>
            </a:r>
          </a:p>
        </p:txBody>
      </p:sp>
      <p:sp>
        <p:nvSpPr>
          <p:cNvPr id="19" name="text-132">
            <a:extLst xmlns:a="http://schemas.openxmlformats.org/drawingml/2006/main">
              <a:ext uri="{FF2B5EF4-FFF2-40B4-BE49-F238E27FC236}">
                <a16:creationId xmlns:a16="http://schemas.microsoft.com/office/drawing/2014/main" id="{9A22EAFB-E24A-4534-9A44-00254C129BCD}"/>
              </a:ext>
            </a:extLst>
          </p:cNvPr>
          <p:cNvSpPr>
            <a:spLocks xmlns:a="http://schemas.openxmlformats.org/drawingml/2006/main" noGrp="1"/>
          </p:cNvSpPr>
          <p:nvPr/>
        </p:nvSpPr>
        <p:spPr>
          <a:xfrm xmlns:a="http://schemas.openxmlformats.org/drawingml/2006/main">
            <a:off x="7772400" y="4171950"/>
            <a:ext cx="36099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4251D"/>
                </a:solidFill>
                <a:latin typeface="Arial"/>
                <a:ea typeface="Arial"/>
                <a:cs typeface="Arial"/>
              </a:defRPr>
            </a:pPr>
            <a:r>
              <a:rPr sz="1650" b="1">
                <a:solidFill>
                  <a:srgbClr val="14251D"/>
                </a:solidFill>
                <a:latin typeface="Arial"/>
                <a:ea typeface="Arial"/>
                <a:cs typeface="Arial"/>
              </a:rPr>
              <a:t>EfficientDet-Lite0</a:t>
            </a:r>
          </a:p>
        </p:txBody>
      </p:sp>
      <p:sp>
        <p:nvSpPr>
          <p:cNvPr id="20" name="text-133">
            <a:extLst xmlns:a="http://schemas.openxmlformats.org/drawingml/2006/main">
              <a:ext uri="{FF2B5EF4-FFF2-40B4-BE49-F238E27FC236}">
                <a16:creationId xmlns:a16="http://schemas.microsoft.com/office/drawing/2014/main" id="{AD39BC45-4A7B-44A4-B25E-29988FE9484D}"/>
              </a:ext>
            </a:extLst>
          </p:cNvPr>
          <p:cNvSpPr>
            <a:spLocks xmlns:a="http://schemas.openxmlformats.org/drawingml/2006/main" noGrp="1"/>
          </p:cNvSpPr>
          <p:nvPr/>
        </p:nvSpPr>
        <p:spPr>
          <a:xfrm xmlns:a="http://schemas.openxmlformats.org/drawingml/2006/main">
            <a:off x="7772400" y="4514850"/>
            <a:ext cx="3609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14251D"/>
                </a:solidFill>
                <a:latin typeface="Arial"/>
                <a:ea typeface="Arial"/>
                <a:cs typeface="Arial"/>
              </a:defRPr>
            </a:pPr>
            <a:r>
              <a:rPr sz="1425" b="0">
                <a:solidFill>
                  <a:srgbClr val="14251D"/>
                </a:solidFill>
                <a:latin typeface="Arial"/>
                <a:ea typeface="Arial"/>
                <a:cs typeface="Arial"/>
              </a:rPr>
              <a:t>Lower-frequency CPU worker for local object analysis.</a:t>
            </a:r>
          </a:p>
        </p:txBody>
      </p:sp>
      <p:sp>
        <p:nvSpPr>
          <p:cNvPr id="21" name="text-134">
            <a:extLst xmlns:a="http://schemas.openxmlformats.org/drawingml/2006/main">
              <a:ext uri="{FF2B5EF4-FFF2-40B4-BE49-F238E27FC236}">
                <a16:creationId xmlns:a16="http://schemas.microsoft.com/office/drawing/2014/main" id="{D7F07D39-96D2-4C72-9FAC-7316CB5598AC}"/>
              </a:ext>
            </a:extLst>
          </p:cNvPr>
          <p:cNvSpPr>
            <a:spLocks xmlns:a="http://schemas.openxmlformats.org/drawingml/2006/main" noGrp="1"/>
          </p:cNvSpPr>
          <p:nvPr/>
        </p:nvSpPr>
        <p:spPr>
          <a:xfrm xmlns:a="http://schemas.openxmlformats.org/drawingml/2006/main">
            <a:off x="7772400" y="4972050"/>
            <a:ext cx="36099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4251D"/>
                </a:solidFill>
                <a:latin typeface="Arial"/>
                <a:ea typeface="Arial"/>
                <a:cs typeface="Arial"/>
              </a:defRPr>
            </a:pPr>
            <a:r>
              <a:rPr sz="1650" b="1">
                <a:solidFill>
                  <a:srgbClr val="14251D"/>
                </a:solidFill>
                <a:latin typeface="Arial"/>
                <a:ea typeface="Arial"/>
                <a:cs typeface="Arial"/>
              </a:rPr>
              <a:t>Web Workers + WASM</a:t>
            </a:r>
          </a:p>
        </p:txBody>
      </p:sp>
      <p:sp>
        <p:nvSpPr>
          <p:cNvPr id="22" name="text-135">
            <a:extLst xmlns:a="http://schemas.openxmlformats.org/drawingml/2006/main">
              <a:ext uri="{FF2B5EF4-FFF2-40B4-BE49-F238E27FC236}">
                <a16:creationId xmlns:a16="http://schemas.microsoft.com/office/drawing/2014/main" id="{38A98589-29A3-4011-9037-6CB4207E7AD8}"/>
              </a:ext>
            </a:extLst>
          </p:cNvPr>
          <p:cNvSpPr>
            <a:spLocks xmlns:a="http://schemas.openxmlformats.org/drawingml/2006/main" noGrp="1"/>
          </p:cNvSpPr>
          <p:nvPr/>
        </p:nvSpPr>
        <p:spPr>
          <a:xfrm xmlns:a="http://schemas.openxmlformats.org/drawingml/2006/main">
            <a:off x="7772400" y="5314950"/>
            <a:ext cx="3609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14251D"/>
                </a:solidFill>
                <a:latin typeface="Arial"/>
                <a:ea typeface="Arial"/>
                <a:cs typeface="Arial"/>
              </a:defRPr>
            </a:pPr>
            <a:r>
              <a:rPr sz="1425" b="0">
                <a:solidFill>
                  <a:srgbClr val="14251D"/>
                </a:solidFill>
                <a:latin typeface="Arial"/>
                <a:ea typeface="Arial"/>
                <a:cs typeface="Arial"/>
              </a:rPr>
              <a:t>Separate pose workers, GPU attempt and CPU fallback; no backend.</a:t>
            </a:r>
          </a:p>
        </p:txBody>
      </p:sp>
    </p:spTree>
    <p:extLst>
      <p:ext uri="{BB962C8B-B14F-4D97-AF65-F5344CB8AC3E}">
        <p14:creationId xmlns:p14="http://schemas.microsoft.com/office/powerpoint/2010/main" val="459260132"/>
      </p:ext>
    </p:extLst>
  </p:cSld>
</p:sld>
</file>

<file path=ppt/slides/slide10.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sp>
        <p:nvSpPr>
          <p:cNvPr id="9" name="text-136">
            <a:extLst xmlns:a="http://schemas.openxmlformats.org/drawingml/2006/main">
              <a:ext uri="{FF2B5EF4-FFF2-40B4-BE49-F238E27FC236}">
                <a16:creationId xmlns:a16="http://schemas.microsoft.com/office/drawing/2014/main" id="{EF97D335-605D-4701-8473-6C4EACCF0C45}"/>
              </a:ext>
            </a:extLst>
          </p:cNvPr>
          <p:cNvSpPr>
            <a:spLocks xmlns:a="http://schemas.openxmlformats.org/drawingml/2006/main" noGrp="1"/>
          </p:cNvSpPr>
          <p:nvPr/>
        </p:nvSpPr>
        <p:spPr>
          <a:xfrm xmlns:a="http://schemas.openxmlformats.org/drawingml/2006/main">
            <a:off x="533400" y="4476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4251D"/>
                </a:solidFill>
                <a:latin typeface="Arial"/>
                <a:ea typeface="Arial"/>
                <a:cs typeface="Arial"/>
              </a:defRPr>
            </a:pPr>
            <a:r>
              <a:rPr sz="3600" b="1">
                <a:solidFill>
                  <a:srgbClr val="14251D"/>
                </a:solidFill>
                <a:latin typeface="Arial"/>
                <a:ea typeface="Arial"/>
                <a:cs typeface="Arial"/>
              </a:rPr>
              <a:t>Team Member Details</a:t>
            </a:r>
          </a:p>
        </p:txBody>
      </p:sp>
      <p:sp>
        <p:nvSpPr>
          <p:cNvPr id="2" name="text-137">
            <a:extLst xmlns:a="http://schemas.openxmlformats.org/drawingml/2006/main">
              <a:ext uri="{FF2B5EF4-FFF2-40B4-BE49-F238E27FC236}">
                <a16:creationId xmlns:a16="http://schemas.microsoft.com/office/drawing/2014/main" id="{302ABBFF-F41C-4F94-A810-8EEB430E5990}"/>
              </a:ext>
            </a:extLst>
          </p:cNvPr>
          <p:cNvSpPr>
            <a:spLocks xmlns:a="http://schemas.openxmlformats.org/drawingml/2006/main" noGrp="1"/>
          </p:cNvSpPr>
          <p:nvPr/>
        </p:nvSpPr>
        <p:spPr>
          <a:xfrm xmlns:a="http://schemas.openxmlformats.org/drawingml/2006/main">
            <a:off x="533400" y="645795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06056"/>
                </a:solidFill>
                <a:latin typeface="Arial"/>
                <a:ea typeface="Arial"/>
                <a:cs typeface="Arial"/>
              </a:defRPr>
            </a:pPr>
            <a:r>
              <a:rPr sz="975" b="0">
                <a:solidFill>
                  <a:srgbClr val="506056"/>
                </a:solidFill>
                <a:latin typeface="Arial"/>
                <a:ea typeface="Arial"/>
                <a:cs typeface="Arial"/>
              </a:rPr>
              <a:t>NIVRA / BAL BHARATI HACKATHON 3.0</a:t>
            </a:r>
          </a:p>
        </p:txBody>
      </p:sp>
      <p:sp>
        <p:nvSpPr>
          <p:cNvPr id="3" name="text-138">
            <a:extLst xmlns:a="http://schemas.openxmlformats.org/drawingml/2006/main">
              <a:ext uri="{FF2B5EF4-FFF2-40B4-BE49-F238E27FC236}">
                <a16:creationId xmlns:a16="http://schemas.microsoft.com/office/drawing/2014/main" id="{B65A89B2-512B-4CF9-94E7-9E3B17407D50}"/>
              </a:ext>
            </a:extLst>
          </p:cNvPr>
          <p:cNvSpPr>
            <a:spLocks xmlns:a="http://schemas.openxmlformats.org/drawingml/2006/main" noGrp="1"/>
          </p:cNvSpPr>
          <p:nvPr/>
        </p:nvSpPr>
        <p:spPr>
          <a:xfrm xmlns:a="http://schemas.openxmlformats.org/drawingml/2006/main">
            <a:off x="11239500" y="64198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14251D"/>
                </a:solidFill>
                <a:latin typeface="Arial"/>
                <a:ea typeface="Arial"/>
                <a:cs typeface="Arial"/>
              </a:defRPr>
            </a:pPr>
            <a:r>
              <a:rPr sz="1200" b="0">
                <a:solidFill>
                  <a:srgbClr val="14251D"/>
                </a:solidFill>
                <a:latin typeface="Arial"/>
                <a:ea typeface="Arial"/>
                <a:cs typeface="Arial"/>
              </a:rPr>
              <a:t>10</a:t>
            </a:r>
          </a:p>
        </p:txBody>
      </p:sp>
      <p:sp>
        <p:nvSpPr>
          <p:cNvPr id="4" name="text-139">
            <a:extLst xmlns:a="http://schemas.openxmlformats.org/drawingml/2006/main">
              <a:ext uri="{FF2B5EF4-FFF2-40B4-BE49-F238E27FC236}">
                <a16:creationId xmlns:a16="http://schemas.microsoft.com/office/drawing/2014/main" id="{BB67506B-D750-4560-90F3-5AA021B26A81}"/>
              </a:ext>
            </a:extLst>
          </p:cNvPr>
          <p:cNvSpPr>
            <a:spLocks xmlns:a="http://schemas.openxmlformats.org/drawingml/2006/main" noGrp="1"/>
          </p:cNvSpPr>
          <p:nvPr/>
        </p:nvSpPr>
        <p:spPr>
          <a:xfrm xmlns:a="http://schemas.openxmlformats.org/drawingml/2006/main">
            <a:off x="552450" y="1181100"/>
            <a:ext cx="1108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506056"/>
                </a:solidFill>
                <a:latin typeface="Arial"/>
                <a:ea typeface="Arial"/>
                <a:cs typeface="Arial"/>
              </a:defRPr>
            </a:pPr>
            <a:r>
              <a:rPr sz="1950" b="0">
                <a:solidFill>
                  <a:srgbClr val="506056"/>
                </a:solidFill>
                <a:latin typeface="Arial"/>
                <a:ea typeface="Arial"/>
                <a:cs typeface="Arial"/>
              </a:rPr>
              <a:t>Bal Bharati Public School, Pitampura</a:t>
            </a:r>
          </a:p>
        </p:txBody>
      </p:sp>
      <p:sp>
        <p:nvSpPr>
          <p:cNvPr id="5" name="text-140">
            <a:extLst xmlns:a="http://schemas.openxmlformats.org/drawingml/2006/main">
              <a:ext uri="{FF2B5EF4-FFF2-40B4-BE49-F238E27FC236}">
                <a16:creationId xmlns:a16="http://schemas.microsoft.com/office/drawing/2014/main" id="{834B9464-30E3-41E9-8AAF-BEDF5593AA86}"/>
              </a:ext>
            </a:extLst>
          </p:cNvPr>
          <p:cNvSpPr>
            <a:spLocks xmlns:a="http://schemas.openxmlformats.org/drawingml/2006/main" noGrp="1"/>
          </p:cNvSpPr>
          <p:nvPr/>
        </p:nvSpPr>
        <p:spPr>
          <a:xfrm xmlns:a="http://schemas.openxmlformats.org/drawingml/2006/main">
            <a:off x="533400" y="180975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4251D"/>
                </a:solidFill>
                <a:latin typeface="Arial"/>
                <a:ea typeface="Arial"/>
                <a:cs typeface="Arial"/>
              </a:defRPr>
            </a:pPr>
            <a:r>
              <a:rPr sz="2025" b="1">
                <a:solidFill>
                  <a:srgbClr val="14251D"/>
                </a:solidFill>
                <a:latin typeface="Arial"/>
                <a:ea typeface="Arial"/>
                <a:cs typeface="Arial"/>
              </a:rPr>
              <a:t>Students</a:t>
            </a:r>
          </a:p>
        </p:txBody>
      </p:sp>
      <p:graphicFrame>
        <p:nvGraphicFramePr>
          <p:cNvPr id="14" name=""/>
          <p:cNvGraphicFramePr/>
          <p:nvPr/>
        </p:nvGraphicFramePr>
        <p:xfrm>
          <a:off xmlns:a="http://schemas.openxmlformats.org/drawingml/2006/main" x="533400" y="2295525"/>
          <a:ext xmlns:a="http://schemas.openxmlformats.org/drawingml/2006/main" cx="11125200" cy="2352675"/>
        </p:xfrm>
        <a:graphic xmlns:a="http://schemas.openxmlformats.org/drawingml/2006/main">
          <a:graphicData uri="http://schemas.openxmlformats.org/drawingml/2006/table">
            <a:tbl>
              <a:tblPr/>
              <a:tblGrid>
                <a:gridCol w="381000"/>
                <a:gridCol w="1047750"/>
                <a:gridCol w="1771650"/>
                <a:gridCol w="762000"/>
                <a:gridCol w="809625"/>
                <a:gridCol w="3095625"/>
                <a:gridCol w="2038350"/>
                <a:gridCol w="1219200"/>
              </a:tblGrid>
              <a:tr h="447675">
                <a:tc>
                  <a:txBody>
                    <a:bodyPr/>
                    <a:lstStyle/>
                    <a:p>
                      <a:r>
                        <a:rPr sz="1200" b="1">
                          <a:solidFill>
                            <a:srgbClr val="F7FAF5"/>
                          </a:solidFill>
                          <a:latin typeface="Arial"/>
                          <a:ea typeface="Arial"/>
                          <a:cs typeface="Arial"/>
                        </a:rPr>
                        <a:t>SL</a:t>
                      </a:r>
                    </a:p>
                  </a:txBody>
                  <a:tcPr marL="91440" marR="91440" marT="45720" marB="45720">
                    <a:solidFill>
                      <a:srgbClr val="14251D"/>
                    </a:solidFill>
                  </a:tcPr>
                </a:tc>
                <a:tc>
                  <a:txBody>
                    <a:bodyPr/>
                    <a:lstStyle/>
                    <a:p>
                      <a:r>
                        <a:rPr sz="1200" b="1">
                          <a:solidFill>
                            <a:srgbClr val="F7FAF5"/>
                          </a:solidFill>
                          <a:latin typeface="Arial"/>
                          <a:ea typeface="Arial"/>
                          <a:cs typeface="Arial"/>
                        </a:rPr>
                        <a:t>Student ID</a:t>
                      </a:r>
                    </a:p>
                  </a:txBody>
                  <a:tcPr marL="91440" marR="91440" marT="45720" marB="45720">
                    <a:solidFill>
                      <a:srgbClr val="14251D"/>
                    </a:solidFill>
                  </a:tcPr>
                </a:tc>
                <a:tc>
                  <a:txBody>
                    <a:bodyPr/>
                    <a:lstStyle/>
                    <a:p>
                      <a:r>
                        <a:rPr sz="1200" b="1">
                          <a:solidFill>
                            <a:srgbClr val="F7FAF5"/>
                          </a:solidFill>
                          <a:latin typeface="Arial"/>
                          <a:ea typeface="Arial"/>
                          <a:cs typeface="Arial"/>
                        </a:rPr>
                        <a:t>Name</a:t>
                      </a:r>
                    </a:p>
                  </a:txBody>
                  <a:tcPr marL="91440" marR="91440" marT="45720" marB="45720">
                    <a:solidFill>
                      <a:srgbClr val="14251D"/>
                    </a:solidFill>
                  </a:tcPr>
                </a:tc>
                <a:tc>
                  <a:txBody>
                    <a:bodyPr/>
                    <a:lstStyle/>
                    <a:p>
                      <a:r>
                        <a:rPr sz="1200" b="1">
                          <a:solidFill>
                            <a:srgbClr val="F7FAF5"/>
                          </a:solidFill>
                          <a:latin typeface="Arial"/>
                          <a:ea typeface="Arial"/>
                          <a:cs typeface="Arial"/>
                        </a:rPr>
                        <a:t>Class</a:t>
                      </a:r>
                    </a:p>
                  </a:txBody>
                  <a:tcPr marL="91440" marR="91440" marT="45720" marB="45720">
                    <a:solidFill>
                      <a:srgbClr val="14251D"/>
                    </a:solidFill>
                  </a:tcPr>
                </a:tc>
                <a:tc>
                  <a:txBody>
                    <a:bodyPr/>
                    <a:lstStyle/>
                    <a:p>
                      <a:r>
                        <a:rPr sz="1200" b="1">
                          <a:solidFill>
                            <a:srgbClr val="F7FAF5"/>
                          </a:solidFill>
                          <a:latin typeface="Arial"/>
                          <a:ea typeface="Arial"/>
                          <a:cs typeface="Arial"/>
                        </a:rPr>
                        <a:t>DOB</a:t>
                      </a:r>
                    </a:p>
                  </a:txBody>
                  <a:tcPr marL="91440" marR="91440" marT="45720" marB="45720">
                    <a:solidFill>
                      <a:srgbClr val="14251D"/>
                    </a:solidFill>
                  </a:tcPr>
                </a:tc>
                <a:tc>
                  <a:txBody>
                    <a:bodyPr/>
                    <a:lstStyle/>
                    <a:p>
                      <a:r>
                        <a:rPr sz="1200" b="1">
                          <a:solidFill>
                            <a:srgbClr val="F7FAF5"/>
                          </a:solidFill>
                          <a:latin typeface="Arial"/>
                          <a:ea typeface="Arial"/>
                          <a:cs typeface="Arial"/>
                        </a:rPr>
                        <a:t>Email</a:t>
                      </a:r>
                    </a:p>
                  </a:txBody>
                  <a:tcPr marL="91440" marR="91440" marT="45720" marB="45720">
                    <a:solidFill>
                      <a:srgbClr val="14251D"/>
                    </a:solidFill>
                  </a:tcPr>
                </a:tc>
                <a:tc>
                  <a:txBody>
                    <a:bodyPr/>
                    <a:lstStyle/>
                    <a:p>
                      <a:r>
                        <a:rPr sz="1200" b="1">
                          <a:solidFill>
                            <a:srgbClr val="F7FAF5"/>
                          </a:solidFill>
                          <a:latin typeface="Arial"/>
                          <a:ea typeface="Arial"/>
                          <a:cs typeface="Arial"/>
                        </a:rPr>
                        <a:t>Phone Number</a:t>
                      </a:r>
                    </a:p>
                  </a:txBody>
                  <a:tcPr marL="91440" marR="91440" marT="45720" marB="45720">
                    <a:solidFill>
                      <a:srgbClr val="14251D"/>
                    </a:solidFill>
                  </a:tcPr>
                </a:tc>
                <a:tc>
                  <a:txBody>
                    <a:bodyPr/>
                    <a:lstStyle/>
                    <a:p>
                      <a:r>
                        <a:rPr sz="1200" b="1">
                          <a:solidFill>
                            <a:srgbClr val="F7FAF5"/>
                          </a:solidFill>
                          <a:latin typeface="Arial"/>
                          <a:ea typeface="Arial"/>
                          <a:cs typeface="Arial"/>
                        </a:rPr>
                        <a:t>Gender</a:t>
                      </a:r>
                    </a:p>
                  </a:txBody>
                  <a:tcPr marL="91440" marR="91440" marT="45720" marB="45720">
                    <a:solidFill>
                      <a:srgbClr val="14251D"/>
                    </a:solidFill>
                  </a:tcPr>
                </a:tc>
              </a:tr>
              <a:tr h="381000">
                <a:tc>
                  <a:txBody>
                    <a:bodyPr/>
                    <a:lstStyle/>
                    <a:p>
                      <a:r>
                        <a:rPr sz="1200" b="0">
                          <a:solidFill>
                            <a:srgbClr val="14251D"/>
                          </a:solidFill>
                          <a:latin typeface="Arial"/>
                          <a:ea typeface="Arial"/>
                          <a:cs typeface="Arial"/>
                        </a:rPr>
                        <a:t>1</a:t>
                      </a:r>
                    </a:p>
                  </a:txBody>
                  <a:tcPr marL="91440" marR="91440" marT="45720" marB="45720">
                    <a:solidFill>
                      <a:srgbClr val="F7FAF5"/>
                    </a:solidFill>
                  </a:tcPr>
                </a:tc>
                <a:tc>
                  <a:txBody>
                    <a:bodyPr/>
                    <a:lstStyle/>
                    <a:p>
                      <a:r>
                        <a:rPr sz="1200" b="0">
                          <a:solidFill>
                            <a:srgbClr val="14251D"/>
                          </a:solidFill>
                          <a:latin typeface="Arial"/>
                          <a:ea typeface="Arial"/>
                          <a:cs typeface="Arial"/>
                        </a:rPr>
                        <a:t>223564</a:t>
                      </a:r>
                    </a:p>
                  </a:txBody>
                  <a:tcPr marL="91440" marR="91440" marT="45720" marB="45720">
                    <a:solidFill>
                      <a:srgbClr val="F7FAF5"/>
                    </a:solidFill>
                  </a:tcPr>
                </a:tc>
                <a:tc>
                  <a:txBody>
                    <a:bodyPr/>
                    <a:lstStyle/>
                    <a:p>
                      <a:r>
                        <a:rPr sz="1200" b="0">
                          <a:solidFill>
                            <a:srgbClr val="14251D"/>
                          </a:solidFill>
                          <a:latin typeface="Arial"/>
                          <a:ea typeface="Arial"/>
                          <a:cs typeface="Arial"/>
                        </a:rPr>
                        <a:t>Harsh Jain</a:t>
                      </a:r>
                    </a:p>
                  </a:txBody>
                  <a:tcPr marL="91440" marR="91440" marT="45720" marB="45720">
                    <a:solidFill>
                      <a:srgbClr val="F7FAF5"/>
                    </a:solidFill>
                  </a:tcPr>
                </a:tc>
                <a:tc>
                  <a:txBody>
                    <a:bodyPr/>
                    <a:lstStyle/>
                    <a:p>
                      <a:r>
                        <a:rPr sz="1200" b="0">
                          <a:solidFill>
                            <a:srgbClr val="14251D"/>
                          </a:solidFill>
                          <a:latin typeface="Arial"/>
                          <a:ea typeface="Arial"/>
                          <a:cs typeface="Arial"/>
                        </a:rPr>
                        <a:t>12C</a:t>
                      </a:r>
                    </a:p>
                  </a:txBody>
                  <a:tcPr marL="91440" marR="91440" marT="45720" marB="45720">
                    <a:solidFill>
                      <a:srgbClr val="F7FAF5"/>
                    </a:solidFill>
                  </a:tcPr>
                </a:tc>
                <a:tc>
                  <a:txBody>
                    <a:bodyPr/>
                    <a:lstStyle/>
                    <a:p>
                      <a:r>
                        <a:rPr sz="1200" b="0">
                          <a:solidFill>
                            <a:srgbClr val="14251D"/>
                          </a:solidFill>
                          <a:latin typeface="Arial"/>
                          <a:ea typeface="Arial"/>
                          <a:cs typeface="Arial"/>
                        </a:rPr>
                        <a:t>23/04/09</a:t>
                      </a:r>
                    </a:p>
                  </a:txBody>
                  <a:tcPr marL="91440" marR="91440" marT="45720" marB="45720">
                    <a:solidFill>
                      <a:srgbClr val="F7FAF5"/>
                    </a:solidFill>
                  </a:tcPr>
                </a:tc>
                <a:tc>
                  <a:txBody>
                    <a:bodyPr/>
                    <a:lstStyle/>
                    <a:p>
                      <a:r>
                        <a:rPr sz="1200" b="0">
                          <a:solidFill>
                            <a:srgbClr val="14251D"/>
                          </a:solidFill>
                          <a:latin typeface="Arial"/>
                          <a:ea typeface="Arial"/>
                          <a:cs typeface="Arial"/>
                        </a:rPr>
                        <a:t>223564@pp.balbharati.org</a:t>
                      </a:r>
                    </a:p>
                  </a:txBody>
                  <a:tcPr marL="91440" marR="91440" marT="45720" marB="45720">
                    <a:solidFill>
                      <a:srgbClr val="F7FAF5"/>
                    </a:solidFill>
                  </a:tcPr>
                </a:tc>
                <a:tc>
                  <a:txBody>
                    <a:bodyPr/>
                    <a:lstStyle/>
                    <a:p>
                      <a:r>
                        <a:rPr sz="1200" b="0">
                          <a:solidFill>
                            <a:srgbClr val="14251D"/>
                          </a:solidFill>
                          <a:latin typeface="Arial"/>
                          <a:ea typeface="Arial"/>
                          <a:cs typeface="Arial"/>
                        </a:rPr>
                        <a:t>9810141505</a:t>
                      </a:r>
                    </a:p>
                  </a:txBody>
                  <a:tcPr marL="91440" marR="91440" marT="45720" marB="45720">
                    <a:solidFill>
                      <a:srgbClr val="F7FAF5"/>
                    </a:solidFill>
                  </a:tcPr>
                </a:tc>
                <a:tc>
                  <a:txBody>
                    <a:bodyPr/>
                    <a:lstStyle/>
                    <a:p>
                      <a:r>
                        <a:rPr sz="1200" b="0">
                          <a:solidFill>
                            <a:srgbClr val="14251D"/>
                          </a:solidFill>
                          <a:latin typeface="Arial"/>
                          <a:ea typeface="Arial"/>
                          <a:cs typeface="Arial"/>
                        </a:rPr>
                        <a:t>Male</a:t>
                      </a:r>
                    </a:p>
                  </a:txBody>
                  <a:tcPr marL="91440" marR="91440" marT="45720" marB="45720">
                    <a:solidFill>
                      <a:srgbClr val="F7FAF5"/>
                    </a:solidFill>
                  </a:tcPr>
                </a:tc>
              </a:tr>
              <a:tr h="381000">
                <a:tc>
                  <a:txBody>
                    <a:bodyPr/>
                    <a:lstStyle/>
                    <a:p>
                      <a:r>
                        <a:rPr sz="1200" b="0">
                          <a:solidFill>
                            <a:srgbClr val="14251D"/>
                          </a:solidFill>
                          <a:latin typeface="Arial"/>
                          <a:ea typeface="Arial"/>
                          <a:cs typeface="Arial"/>
                        </a:rPr>
                        <a:t>2</a:t>
                      </a:r>
                    </a:p>
                  </a:txBody>
                  <a:tcPr marL="91440" marR="91440" marT="45720" marB="45720">
                    <a:solidFill>
                      <a:srgbClr val="F7FAF5"/>
                    </a:solidFill>
                  </a:tcPr>
                </a:tc>
                <a:tc>
                  <a:txBody>
                    <a:bodyPr/>
                    <a:lstStyle/>
                    <a:p>
                      <a:r>
                        <a:rPr sz="1200" b="0">
                          <a:solidFill>
                            <a:srgbClr val="14251D"/>
                          </a:solidFill>
                          <a:latin typeface="Arial"/>
                          <a:ea typeface="Arial"/>
                          <a:cs typeface="Arial"/>
                        </a:rPr>
                        <a:t>218461</a:t>
                      </a:r>
                    </a:p>
                  </a:txBody>
                  <a:tcPr marL="91440" marR="91440" marT="45720" marB="45720">
                    <a:solidFill>
                      <a:srgbClr val="F7FAF5"/>
                    </a:solidFill>
                  </a:tcPr>
                </a:tc>
                <a:tc>
                  <a:txBody>
                    <a:bodyPr/>
                    <a:lstStyle/>
                    <a:p>
                      <a:r>
                        <a:rPr sz="1200" b="0">
                          <a:solidFill>
                            <a:srgbClr val="14251D"/>
                          </a:solidFill>
                          <a:latin typeface="Arial"/>
                          <a:ea typeface="Arial"/>
                          <a:cs typeface="Arial"/>
                        </a:rPr>
                        <a:t>Tanishq Aggarwal</a:t>
                      </a:r>
                    </a:p>
                  </a:txBody>
                  <a:tcPr marL="91440" marR="91440" marT="45720" marB="45720">
                    <a:solidFill>
                      <a:srgbClr val="F7FAF5"/>
                    </a:solidFill>
                  </a:tcPr>
                </a:tc>
                <a:tc>
                  <a:txBody>
                    <a:bodyPr/>
                    <a:lstStyle/>
                    <a:p>
                      <a:r>
                        <a:rPr sz="1200" b="0">
                          <a:solidFill>
                            <a:srgbClr val="14251D"/>
                          </a:solidFill>
                          <a:latin typeface="Arial"/>
                          <a:ea typeface="Arial"/>
                          <a:cs typeface="Arial"/>
                        </a:rPr>
                        <a:t>12C</a:t>
                      </a:r>
                    </a:p>
                  </a:txBody>
                  <a:tcPr marL="91440" marR="91440" marT="45720" marB="45720">
                    <a:solidFill>
                      <a:srgbClr val="F7FAF5"/>
                    </a:solidFill>
                  </a:tcPr>
                </a:tc>
                <a:tc>
                  <a:txBody>
                    <a:bodyPr/>
                    <a:lstStyle/>
                    <a:p>
                      <a:r>
                        <a:rPr sz="1200" b="0">
                          <a:solidFill>
                            <a:srgbClr val="14251D"/>
                          </a:solidFill>
                          <a:latin typeface="Arial"/>
                          <a:ea typeface="Arial"/>
                          <a:cs typeface="Arial"/>
                        </a:rPr>
                        <a:t>09/05/09</a:t>
                      </a:r>
                    </a:p>
                  </a:txBody>
                  <a:tcPr marL="91440" marR="91440" marT="45720" marB="45720">
                    <a:solidFill>
                      <a:srgbClr val="F7FAF5"/>
                    </a:solidFill>
                  </a:tcPr>
                </a:tc>
                <a:tc>
                  <a:txBody>
                    <a:bodyPr/>
                    <a:lstStyle/>
                    <a:p>
                      <a:r>
                        <a:rPr sz="1200" b="0">
                          <a:solidFill>
                            <a:srgbClr val="14251D"/>
                          </a:solidFill>
                          <a:latin typeface="Arial"/>
                          <a:ea typeface="Arial"/>
                          <a:cs typeface="Arial"/>
                        </a:rPr>
                        <a:t>218461@pp.balbharati.org</a:t>
                      </a:r>
                    </a:p>
                  </a:txBody>
                  <a:tcPr marL="91440" marR="91440" marT="45720" marB="45720">
                    <a:solidFill>
                      <a:srgbClr val="F7FAF5"/>
                    </a:solidFill>
                  </a:tcPr>
                </a:tc>
                <a:tc>
                  <a:txBody>
                    <a:bodyPr/>
                    <a:lstStyle/>
                    <a:p>
                      <a:r>
                        <a:rPr sz="1200" b="0">
                          <a:solidFill>
                            <a:srgbClr val="14251D"/>
                          </a:solidFill>
                          <a:latin typeface="Arial"/>
                          <a:ea typeface="Arial"/>
                          <a:cs typeface="Arial"/>
                        </a:rPr>
                        <a:t>9810398813</a:t>
                      </a:r>
                    </a:p>
                  </a:txBody>
                  <a:tcPr marL="91440" marR="91440" marT="45720" marB="45720">
                    <a:solidFill>
                      <a:srgbClr val="F7FAF5"/>
                    </a:solidFill>
                  </a:tcPr>
                </a:tc>
                <a:tc>
                  <a:txBody>
                    <a:bodyPr/>
                    <a:lstStyle/>
                    <a:p>
                      <a:r>
                        <a:rPr sz="1200" b="0">
                          <a:solidFill>
                            <a:srgbClr val="14251D"/>
                          </a:solidFill>
                          <a:latin typeface="Arial"/>
                          <a:ea typeface="Arial"/>
                          <a:cs typeface="Arial"/>
                        </a:rPr>
                        <a:t>Male</a:t>
                      </a:r>
                    </a:p>
                  </a:txBody>
                  <a:tcPr marL="91440" marR="91440" marT="45720" marB="45720">
                    <a:solidFill>
                      <a:srgbClr val="F7FAF5"/>
                    </a:solidFill>
                  </a:tcPr>
                </a:tc>
              </a:tr>
              <a:tr h="381000">
                <a:tc>
                  <a:txBody>
                    <a:bodyPr/>
                    <a:lstStyle/>
                    <a:p>
                      <a:r>
                        <a:rPr sz="1200" b="0">
                          <a:solidFill>
                            <a:srgbClr val="14251D"/>
                          </a:solidFill>
                          <a:latin typeface="Arial"/>
                          <a:ea typeface="Arial"/>
                          <a:cs typeface="Arial"/>
                        </a:rPr>
                        <a:t>3</a:t>
                      </a:r>
                    </a:p>
                  </a:txBody>
                  <a:tcPr marL="91440" marR="91440" marT="45720" marB="45720">
                    <a:solidFill>
                      <a:srgbClr val="F7FAF5"/>
                    </a:solidFill>
                  </a:tcPr>
                </a:tc>
                <a:tc>
                  <a:txBody>
                    <a:bodyPr/>
                    <a:lstStyle/>
                    <a:p>
                      <a:r>
                        <a:rPr sz="1200" b="0">
                          <a:solidFill>
                            <a:srgbClr val="14251D"/>
                          </a:solidFill>
                          <a:latin typeface="Arial"/>
                          <a:ea typeface="Arial"/>
                          <a:cs typeface="Arial"/>
                        </a:rPr>
                        <a:t>201362</a:t>
                      </a:r>
                    </a:p>
                  </a:txBody>
                  <a:tcPr marL="91440" marR="91440" marT="45720" marB="45720">
                    <a:solidFill>
                      <a:srgbClr val="F7FAF5"/>
                    </a:solidFill>
                  </a:tcPr>
                </a:tc>
                <a:tc>
                  <a:txBody>
                    <a:bodyPr/>
                    <a:lstStyle/>
                    <a:p>
                      <a:r>
                        <a:rPr sz="1200" b="0">
                          <a:solidFill>
                            <a:srgbClr val="14251D"/>
                          </a:solidFill>
                          <a:latin typeface="Arial"/>
                          <a:ea typeface="Arial"/>
                          <a:cs typeface="Arial"/>
                        </a:rPr>
                        <a:t>Keshav Garg</a:t>
                      </a:r>
                    </a:p>
                  </a:txBody>
                  <a:tcPr marL="91440" marR="91440" marT="45720" marB="45720">
                    <a:solidFill>
                      <a:srgbClr val="F7FAF5"/>
                    </a:solidFill>
                  </a:tcPr>
                </a:tc>
                <a:tc>
                  <a:txBody>
                    <a:bodyPr/>
                    <a:lstStyle/>
                    <a:p>
                      <a:r>
                        <a:rPr sz="1200" b="0">
                          <a:solidFill>
                            <a:srgbClr val="14251D"/>
                          </a:solidFill>
                          <a:latin typeface="Arial"/>
                          <a:ea typeface="Arial"/>
                          <a:cs typeface="Arial"/>
                        </a:rPr>
                        <a:t>12D</a:t>
                      </a:r>
                    </a:p>
                  </a:txBody>
                  <a:tcPr marL="91440" marR="91440" marT="45720" marB="45720">
                    <a:solidFill>
                      <a:srgbClr val="F7FAF5"/>
                    </a:solidFill>
                  </a:tcPr>
                </a:tc>
                <a:tc>
                  <a:txBody>
                    <a:bodyPr/>
                    <a:lstStyle/>
                    <a:p>
                      <a:r>
                        <a:rPr sz="1200" b="0">
                          <a:solidFill>
                            <a:srgbClr val="14251D"/>
                          </a:solidFill>
                          <a:latin typeface="Arial"/>
                          <a:ea typeface="Arial"/>
                          <a:cs typeface="Arial"/>
                        </a:rPr>
                        <a:t>11/06/09</a:t>
                      </a:r>
                    </a:p>
                  </a:txBody>
                  <a:tcPr marL="91440" marR="91440" marT="45720" marB="45720">
                    <a:solidFill>
                      <a:srgbClr val="F7FAF5"/>
                    </a:solidFill>
                  </a:tcPr>
                </a:tc>
                <a:tc>
                  <a:txBody>
                    <a:bodyPr/>
                    <a:lstStyle/>
                    <a:p>
                      <a:r>
                        <a:rPr sz="1200" b="0">
                          <a:solidFill>
                            <a:srgbClr val="14251D"/>
                          </a:solidFill>
                          <a:latin typeface="Arial"/>
                          <a:ea typeface="Arial"/>
                          <a:cs typeface="Arial"/>
                        </a:rPr>
                        <a:t>201362@pp.balbharati.org</a:t>
                      </a:r>
                    </a:p>
                  </a:txBody>
                  <a:tcPr marL="91440" marR="91440" marT="45720" marB="45720">
                    <a:solidFill>
                      <a:srgbClr val="F7FAF5"/>
                    </a:solidFill>
                  </a:tcPr>
                </a:tc>
                <a:tc>
                  <a:txBody>
                    <a:bodyPr/>
                    <a:lstStyle/>
                    <a:p>
                      <a:r>
                        <a:rPr sz="1200" b="0">
                          <a:solidFill>
                            <a:srgbClr val="14251D"/>
                          </a:solidFill>
                          <a:latin typeface="Arial"/>
                          <a:ea typeface="Arial"/>
                          <a:cs typeface="Arial"/>
                        </a:rPr>
                        <a:t>7011900075</a:t>
                      </a:r>
                    </a:p>
                  </a:txBody>
                  <a:tcPr marL="91440" marR="91440" marT="45720" marB="45720">
                    <a:solidFill>
                      <a:srgbClr val="F7FAF5"/>
                    </a:solidFill>
                  </a:tcPr>
                </a:tc>
                <a:tc>
                  <a:txBody>
                    <a:bodyPr/>
                    <a:lstStyle/>
                    <a:p>
                      <a:r>
                        <a:rPr sz="1200" b="0">
                          <a:solidFill>
                            <a:srgbClr val="14251D"/>
                          </a:solidFill>
                          <a:latin typeface="Arial"/>
                          <a:ea typeface="Arial"/>
                          <a:cs typeface="Arial"/>
                        </a:rPr>
                        <a:t>Male</a:t>
                      </a:r>
                    </a:p>
                  </a:txBody>
                  <a:tcPr marL="91440" marR="91440" marT="45720" marB="45720">
                    <a:solidFill>
                      <a:srgbClr val="F7FAF5"/>
                    </a:solidFill>
                  </a:tcPr>
                </a:tc>
              </a:tr>
              <a:tr h="381000">
                <a:tc>
                  <a:txBody>
                    <a:bodyPr/>
                    <a:lstStyle/>
                    <a:p>
                      <a:r>
                        <a:rPr sz="1200" b="0">
                          <a:solidFill>
                            <a:srgbClr val="14251D"/>
                          </a:solidFill>
                          <a:latin typeface="Arial"/>
                          <a:ea typeface="Arial"/>
                          <a:cs typeface="Arial"/>
                        </a:rPr>
                        <a:t>4</a:t>
                      </a:r>
                    </a:p>
                  </a:txBody>
                  <a:tcPr marL="91440" marR="91440" marT="45720" marB="45720">
                    <a:solidFill>
                      <a:srgbClr val="F7FAF5"/>
                    </a:solidFill>
                  </a:tcPr>
                </a:tc>
                <a:tc>
                  <a:txBody>
                    <a:bodyPr/>
                    <a:lstStyle/>
                    <a:p>
                      <a:r>
                        <a:rPr sz="1200" b="0">
                          <a:solidFill>
                            <a:srgbClr val="14251D"/>
                          </a:solidFill>
                          <a:latin typeface="Arial"/>
                          <a:ea typeface="Arial"/>
                          <a:cs typeface="Arial"/>
                        </a:rPr>
                        <a:t>213266</a:t>
                      </a:r>
                    </a:p>
                  </a:txBody>
                  <a:tcPr marL="91440" marR="91440" marT="45720" marB="45720">
                    <a:solidFill>
                      <a:srgbClr val="F7FAF5"/>
                    </a:solidFill>
                  </a:tcPr>
                </a:tc>
                <a:tc>
                  <a:txBody>
                    <a:bodyPr/>
                    <a:lstStyle/>
                    <a:p>
                      <a:r>
                        <a:rPr sz="1200" b="0">
                          <a:solidFill>
                            <a:srgbClr val="14251D"/>
                          </a:solidFill>
                          <a:latin typeface="Arial"/>
                          <a:ea typeface="Arial"/>
                          <a:cs typeface="Arial"/>
                        </a:rPr>
                        <a:t>Reyansh Garg</a:t>
                      </a:r>
                    </a:p>
                  </a:txBody>
                  <a:tcPr marL="91440" marR="91440" marT="45720" marB="45720">
                    <a:solidFill>
                      <a:srgbClr val="F7FAF5"/>
                    </a:solidFill>
                  </a:tcPr>
                </a:tc>
                <a:tc>
                  <a:txBody>
                    <a:bodyPr/>
                    <a:lstStyle/>
                    <a:p>
                      <a:r>
                        <a:rPr sz="1200" b="0">
                          <a:solidFill>
                            <a:srgbClr val="14251D"/>
                          </a:solidFill>
                          <a:latin typeface="Arial"/>
                          <a:ea typeface="Arial"/>
                          <a:cs typeface="Arial"/>
                        </a:rPr>
                        <a:t>12D</a:t>
                      </a:r>
                    </a:p>
                  </a:txBody>
                  <a:tcPr marL="91440" marR="91440" marT="45720" marB="45720">
                    <a:solidFill>
                      <a:srgbClr val="F7FAF5"/>
                    </a:solidFill>
                  </a:tcPr>
                </a:tc>
                <a:tc>
                  <a:txBody>
                    <a:bodyPr/>
                    <a:lstStyle/>
                    <a:p>
                      <a:r>
                        <a:rPr sz="1200" b="0">
                          <a:solidFill>
                            <a:srgbClr val="14251D"/>
                          </a:solidFill>
                          <a:latin typeface="Arial"/>
                          <a:ea typeface="Arial"/>
                          <a:cs typeface="Arial"/>
                        </a:rPr>
                        <a:t>02/07/09</a:t>
                      </a:r>
                    </a:p>
                  </a:txBody>
                  <a:tcPr marL="91440" marR="91440" marT="45720" marB="45720">
                    <a:solidFill>
                      <a:srgbClr val="F7FAF5"/>
                    </a:solidFill>
                  </a:tcPr>
                </a:tc>
                <a:tc>
                  <a:txBody>
                    <a:bodyPr/>
                    <a:lstStyle/>
                    <a:p>
                      <a:r>
                        <a:rPr sz="1200" b="0">
                          <a:solidFill>
                            <a:srgbClr val="14251D"/>
                          </a:solidFill>
                          <a:latin typeface="Arial"/>
                          <a:ea typeface="Arial"/>
                          <a:cs typeface="Arial"/>
                        </a:rPr>
                        <a:t>213266@pp.balbharati.org</a:t>
                      </a:r>
                    </a:p>
                  </a:txBody>
                  <a:tcPr marL="91440" marR="91440" marT="45720" marB="45720">
                    <a:solidFill>
                      <a:srgbClr val="F7FAF5"/>
                    </a:solidFill>
                  </a:tcPr>
                </a:tc>
                <a:tc>
                  <a:txBody>
                    <a:bodyPr/>
                    <a:lstStyle/>
                    <a:p>
                      <a:r>
                        <a:rPr sz="1200" b="0">
                          <a:solidFill>
                            <a:srgbClr val="14251D"/>
                          </a:solidFill>
                          <a:latin typeface="Arial"/>
                          <a:ea typeface="Arial"/>
                          <a:cs typeface="Arial"/>
                        </a:rPr>
                        <a:t>8595774056</a:t>
                      </a:r>
                    </a:p>
                  </a:txBody>
                  <a:tcPr marL="91440" marR="91440" marT="45720" marB="45720">
                    <a:solidFill>
                      <a:srgbClr val="F7FAF5"/>
                    </a:solidFill>
                  </a:tcPr>
                </a:tc>
                <a:tc>
                  <a:txBody>
                    <a:bodyPr/>
                    <a:lstStyle/>
                    <a:p>
                      <a:r>
                        <a:rPr sz="1200" b="0">
                          <a:solidFill>
                            <a:srgbClr val="14251D"/>
                          </a:solidFill>
                          <a:latin typeface="Arial"/>
                          <a:ea typeface="Arial"/>
                          <a:cs typeface="Arial"/>
                        </a:rPr>
                        <a:t>Male</a:t>
                      </a:r>
                    </a:p>
                  </a:txBody>
                  <a:tcPr marL="91440" marR="91440" marT="45720" marB="45720">
                    <a:solidFill>
                      <a:srgbClr val="F7FAF5"/>
                    </a:solidFill>
                  </a:tcPr>
                </a:tc>
              </a:tr>
              <a:tr h="381000">
                <a:tc>
                  <a:txBody>
                    <a:bodyPr/>
                    <a:lstStyle/>
                    <a:p>
                      <a:r>
                        <a:rPr sz="1200" b="0">
                          <a:solidFill>
                            <a:srgbClr val="14251D"/>
                          </a:solidFill>
                          <a:latin typeface="Arial"/>
                          <a:ea typeface="Arial"/>
                          <a:cs typeface="Arial"/>
                        </a:rPr>
                        <a:t>5</a:t>
                      </a:r>
                    </a:p>
                  </a:txBody>
                  <a:tcPr marL="91440" marR="91440" marT="45720" marB="45720">
                    <a:solidFill>
                      <a:srgbClr val="F7FAF5"/>
                    </a:solidFill>
                  </a:tcPr>
                </a:tc>
                <a:tc>
                  <a:txBody>
                    <a:bodyPr/>
                    <a:lstStyle/>
                    <a:p>
                      <a:r>
                        <a:rPr sz="1200" b="0">
                          <a:solidFill>
                            <a:srgbClr val="14251D"/>
                          </a:solidFill>
                          <a:latin typeface="Arial"/>
                          <a:ea typeface="Arial"/>
                          <a:cs typeface="Arial"/>
                        </a:rPr>
                        <a:t>213283</a:t>
                      </a:r>
                    </a:p>
                  </a:txBody>
                  <a:tcPr marL="91440" marR="91440" marT="45720" marB="45720">
                    <a:solidFill>
                      <a:srgbClr val="F7FAF5"/>
                    </a:solidFill>
                  </a:tcPr>
                </a:tc>
                <a:tc>
                  <a:txBody>
                    <a:bodyPr/>
                    <a:lstStyle/>
                    <a:p>
                      <a:r>
                        <a:rPr sz="1200" b="0">
                          <a:solidFill>
                            <a:srgbClr val="14251D"/>
                          </a:solidFill>
                          <a:latin typeface="Arial"/>
                          <a:ea typeface="Arial"/>
                          <a:cs typeface="Arial"/>
                        </a:rPr>
                        <a:t>Asmi Sharma</a:t>
                      </a:r>
                    </a:p>
                  </a:txBody>
                  <a:tcPr marL="91440" marR="91440" marT="45720" marB="45720">
                    <a:solidFill>
                      <a:srgbClr val="F7FAF5"/>
                    </a:solidFill>
                  </a:tcPr>
                </a:tc>
                <a:tc>
                  <a:txBody>
                    <a:bodyPr/>
                    <a:lstStyle/>
                    <a:p>
                      <a:r>
                        <a:rPr sz="1200" b="0">
                          <a:solidFill>
                            <a:srgbClr val="14251D"/>
                          </a:solidFill>
                          <a:latin typeface="Arial"/>
                          <a:ea typeface="Arial"/>
                          <a:cs typeface="Arial"/>
                        </a:rPr>
                        <a:t>12D</a:t>
                      </a:r>
                    </a:p>
                  </a:txBody>
                  <a:tcPr marL="91440" marR="91440" marT="45720" marB="45720">
                    <a:solidFill>
                      <a:srgbClr val="F7FAF5"/>
                    </a:solidFill>
                  </a:tcPr>
                </a:tc>
                <a:tc>
                  <a:txBody>
                    <a:bodyPr/>
                    <a:lstStyle/>
                    <a:p>
                      <a:r>
                        <a:rPr sz="1200" b="0">
                          <a:solidFill>
                            <a:srgbClr val="14251D"/>
                          </a:solidFill>
                          <a:latin typeface="Arial"/>
                          <a:ea typeface="Arial"/>
                          <a:cs typeface="Arial"/>
                        </a:rPr>
                        <a:t>28/03/10</a:t>
                      </a:r>
                    </a:p>
                  </a:txBody>
                  <a:tcPr marL="91440" marR="91440" marT="45720" marB="45720">
                    <a:solidFill>
                      <a:srgbClr val="F7FAF5"/>
                    </a:solidFill>
                  </a:tcPr>
                </a:tc>
                <a:tc>
                  <a:txBody>
                    <a:bodyPr/>
                    <a:lstStyle/>
                    <a:p>
                      <a:r>
                        <a:rPr sz="1200" b="0">
                          <a:solidFill>
                            <a:srgbClr val="14251D"/>
                          </a:solidFill>
                          <a:latin typeface="Arial"/>
                          <a:ea typeface="Arial"/>
                          <a:cs typeface="Arial"/>
                        </a:rPr>
                        <a:t>213283@pp.balbharati.org</a:t>
                      </a:r>
                    </a:p>
                  </a:txBody>
                  <a:tcPr marL="91440" marR="91440" marT="45720" marB="45720">
                    <a:solidFill>
                      <a:srgbClr val="F7FAF5"/>
                    </a:solidFill>
                  </a:tcPr>
                </a:tc>
                <a:tc>
                  <a:txBody>
                    <a:bodyPr/>
                    <a:lstStyle/>
                    <a:p>
                      <a:r>
                        <a:rPr sz="1200" b="0">
                          <a:solidFill>
                            <a:srgbClr val="14251D"/>
                          </a:solidFill>
                          <a:latin typeface="Arial"/>
                          <a:ea typeface="Arial"/>
                          <a:cs typeface="Arial"/>
                        </a:rPr>
                        <a:t>8595612803</a:t>
                      </a:r>
                    </a:p>
                  </a:txBody>
                  <a:tcPr marL="91440" marR="91440" marT="45720" marB="45720">
                    <a:solidFill>
                      <a:srgbClr val="F7FAF5"/>
                    </a:solidFill>
                  </a:tcPr>
                </a:tc>
                <a:tc>
                  <a:txBody>
                    <a:bodyPr/>
                    <a:lstStyle/>
                    <a:p>
                      <a:r>
                        <a:rPr sz="1200" b="0">
                          <a:solidFill>
                            <a:srgbClr val="14251D"/>
                          </a:solidFill>
                          <a:latin typeface="Arial"/>
                          <a:ea typeface="Arial"/>
                          <a:cs typeface="Arial"/>
                        </a:rPr>
                        <a:t>Female</a:t>
                      </a:r>
                    </a:p>
                  </a:txBody>
                  <a:tcPr marL="91440" marR="91440" marT="45720" marB="45720">
                    <a:solidFill>
                      <a:srgbClr val="F7FAF5"/>
                    </a:solidFill>
                  </a:tcPr>
                </a:tc>
              </a:tr>
            </a:tbl>
          </a:graphicData>
        </a:graphic>
      </p:graphicFrame>
      <p:sp>
        <p:nvSpPr>
          <p:cNvPr id="7" name="text-141">
            <a:extLst xmlns:a="http://schemas.openxmlformats.org/drawingml/2006/main">
              <a:ext uri="{FF2B5EF4-FFF2-40B4-BE49-F238E27FC236}">
                <a16:creationId xmlns:a16="http://schemas.microsoft.com/office/drawing/2014/main" id="{5A6A8FF7-152D-4376-930E-6FE867855644}"/>
              </a:ext>
            </a:extLst>
          </p:cNvPr>
          <p:cNvSpPr>
            <a:spLocks xmlns:a="http://schemas.openxmlformats.org/drawingml/2006/main" noGrp="1"/>
          </p:cNvSpPr>
          <p:nvPr/>
        </p:nvSpPr>
        <p:spPr>
          <a:xfrm xmlns:a="http://schemas.openxmlformats.org/drawingml/2006/main">
            <a:off x="533400" y="499110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4251D"/>
                </a:solidFill>
                <a:latin typeface="Arial"/>
                <a:ea typeface="Arial"/>
                <a:cs typeface="Arial"/>
              </a:defRPr>
            </a:pPr>
            <a:r>
              <a:rPr sz="2025" b="1">
                <a:solidFill>
                  <a:srgbClr val="14251D"/>
                </a:solidFill>
                <a:latin typeface="Arial"/>
                <a:ea typeface="Arial"/>
                <a:cs typeface="Arial"/>
              </a:rPr>
              <a:t>Mentor</a:t>
            </a:r>
          </a:p>
        </p:txBody>
      </p:sp>
      <p:graphicFrame>
        <p:nvGraphicFramePr>
          <p:cNvPr id="16" name=""/>
          <p:cNvGraphicFramePr/>
          <p:nvPr/>
        </p:nvGraphicFramePr>
        <p:xfrm>
          <a:off xmlns:a="http://schemas.openxmlformats.org/drawingml/2006/main" x="533400" y="5476875"/>
          <a:ext xmlns:a="http://schemas.openxmlformats.org/drawingml/2006/main" cx="11125200" cy="819150"/>
        </p:xfrm>
        <a:graphic xmlns:a="http://schemas.openxmlformats.org/drawingml/2006/main">
          <a:graphicData uri="http://schemas.openxmlformats.org/drawingml/2006/table">
            <a:tbl>
              <a:tblPr/>
              <a:tblGrid>
                <a:gridCol w="466725"/>
                <a:gridCol w="1619250"/>
                <a:gridCol w="1066800"/>
                <a:gridCol w="1847850"/>
                <a:gridCol w="1047750"/>
                <a:gridCol w="1914525"/>
                <a:gridCol w="1905000"/>
                <a:gridCol w="1257300"/>
              </a:tblGrid>
              <a:tr h="409575">
                <a:tc>
                  <a:txBody>
                    <a:bodyPr/>
                    <a:lstStyle/>
                    <a:p>
                      <a:r>
                        <a:rPr sz="1200" b="1">
                          <a:solidFill>
                            <a:srgbClr val="F7FAF5"/>
                          </a:solidFill>
                          <a:latin typeface="Arial"/>
                          <a:ea typeface="Arial"/>
                          <a:cs typeface="Arial"/>
                        </a:rPr>
                        <a:t>SL</a:t>
                      </a:r>
                    </a:p>
                  </a:txBody>
                  <a:tcPr marL="91440" marR="91440" marT="45720" marB="45720">
                    <a:solidFill>
                      <a:srgbClr val="14251D"/>
                    </a:solidFill>
                  </a:tcPr>
                </a:tc>
                <a:tc>
                  <a:txBody>
                    <a:bodyPr/>
                    <a:lstStyle/>
                    <a:p>
                      <a:r>
                        <a:rPr sz="1200" b="1">
                          <a:solidFill>
                            <a:srgbClr val="F7FAF5"/>
                          </a:solidFill>
                          <a:latin typeface="Arial"/>
                          <a:ea typeface="Arial"/>
                          <a:cs typeface="Arial"/>
                        </a:rPr>
                        <a:t>Name</a:t>
                      </a:r>
                    </a:p>
                  </a:txBody>
                  <a:tcPr marL="91440" marR="91440" marT="45720" marB="45720">
                    <a:solidFill>
                      <a:srgbClr val="14251D"/>
                    </a:solidFill>
                  </a:tcPr>
                </a:tc>
                <a:tc>
                  <a:txBody>
                    <a:bodyPr/>
                    <a:lstStyle/>
                    <a:p>
                      <a:r>
                        <a:rPr sz="1200" b="1">
                          <a:solidFill>
                            <a:srgbClr val="F7FAF5"/>
                          </a:solidFill>
                          <a:latin typeface="Arial"/>
                          <a:ea typeface="Arial"/>
                          <a:cs typeface="Arial"/>
                        </a:rPr>
                        <a:t>UID</a:t>
                      </a:r>
                    </a:p>
                  </a:txBody>
                  <a:tcPr marL="91440" marR="91440" marT="45720" marB="45720">
                    <a:solidFill>
                      <a:srgbClr val="14251D"/>
                    </a:solidFill>
                  </a:tcPr>
                </a:tc>
                <a:tc>
                  <a:txBody>
                    <a:bodyPr/>
                    <a:lstStyle/>
                    <a:p>
                      <a:r>
                        <a:rPr sz="1200" b="1">
                          <a:solidFill>
                            <a:srgbClr val="F7FAF5"/>
                          </a:solidFill>
                          <a:latin typeface="Arial"/>
                          <a:ea typeface="Arial"/>
                          <a:cs typeface="Arial"/>
                        </a:rPr>
                        <a:t>Address</a:t>
                      </a:r>
                    </a:p>
                  </a:txBody>
                  <a:tcPr marL="91440" marR="91440" marT="45720" marB="45720">
                    <a:solidFill>
                      <a:srgbClr val="14251D"/>
                    </a:solidFill>
                  </a:tcPr>
                </a:tc>
                <a:tc>
                  <a:txBody>
                    <a:bodyPr/>
                    <a:lstStyle/>
                    <a:p>
                      <a:r>
                        <a:rPr sz="1200" b="1">
                          <a:solidFill>
                            <a:srgbClr val="F7FAF5"/>
                          </a:solidFill>
                          <a:latin typeface="Arial"/>
                          <a:ea typeface="Arial"/>
                          <a:cs typeface="Arial"/>
                        </a:rPr>
                        <a:t>DOB</a:t>
                      </a:r>
                    </a:p>
                  </a:txBody>
                  <a:tcPr marL="91440" marR="91440" marT="45720" marB="45720">
                    <a:solidFill>
                      <a:srgbClr val="14251D"/>
                    </a:solidFill>
                  </a:tcPr>
                </a:tc>
                <a:tc>
                  <a:txBody>
                    <a:bodyPr/>
                    <a:lstStyle/>
                    <a:p>
                      <a:r>
                        <a:rPr sz="1200" b="1">
                          <a:solidFill>
                            <a:srgbClr val="F7FAF5"/>
                          </a:solidFill>
                          <a:latin typeface="Arial"/>
                          <a:ea typeface="Arial"/>
                          <a:cs typeface="Arial"/>
                        </a:rPr>
                        <a:t>Email</a:t>
                      </a:r>
                    </a:p>
                  </a:txBody>
                  <a:tcPr marL="91440" marR="91440" marT="45720" marB="45720">
                    <a:solidFill>
                      <a:srgbClr val="14251D"/>
                    </a:solidFill>
                  </a:tcPr>
                </a:tc>
                <a:tc>
                  <a:txBody>
                    <a:bodyPr/>
                    <a:lstStyle/>
                    <a:p>
                      <a:r>
                        <a:rPr sz="1200" b="1">
                          <a:solidFill>
                            <a:srgbClr val="F7FAF5"/>
                          </a:solidFill>
                          <a:latin typeface="Arial"/>
                          <a:ea typeface="Arial"/>
                          <a:cs typeface="Arial"/>
                        </a:rPr>
                        <a:t>Phone Number</a:t>
                      </a:r>
                    </a:p>
                  </a:txBody>
                  <a:tcPr marL="91440" marR="91440" marT="45720" marB="45720">
                    <a:solidFill>
                      <a:srgbClr val="14251D"/>
                    </a:solidFill>
                  </a:tcPr>
                </a:tc>
                <a:tc>
                  <a:txBody>
                    <a:bodyPr/>
                    <a:lstStyle/>
                    <a:p>
                      <a:r>
                        <a:rPr sz="1200" b="1">
                          <a:solidFill>
                            <a:srgbClr val="F7FAF5"/>
                          </a:solidFill>
                          <a:latin typeface="Arial"/>
                          <a:ea typeface="Arial"/>
                          <a:cs typeface="Arial"/>
                        </a:rPr>
                        <a:t>Gender</a:t>
                      </a:r>
                    </a:p>
                  </a:txBody>
                  <a:tcPr marL="91440" marR="91440" marT="45720" marB="45720">
                    <a:solidFill>
                      <a:srgbClr val="14251D"/>
                    </a:solidFill>
                  </a:tcPr>
                </a:tc>
              </a:tr>
              <a:tr h="409575">
                <a:tc>
                  <a:txBody>
                    <a:bodyPr/>
                    <a:lstStyle/>
                    <a:p>
                      <a:r>
                        <a:rPr sz="1200" b="0">
                          <a:solidFill>
                            <a:srgbClr val="14251D"/>
                          </a:solidFill>
                          <a:latin typeface="Arial"/>
                          <a:ea typeface="Arial"/>
                          <a:cs typeface="Arial"/>
                        </a:rPr>
                        <a:t>1</a:t>
                      </a:r>
                    </a:p>
                  </a:txBody>
                  <a:tcPr marL="91440" marR="91440" marT="45720" marB="45720">
                    <a:solidFill>
                      <a:srgbClr val="F7FAF5"/>
                    </a:solidFill>
                  </a:tcPr>
                </a:tc>
                <a:tc>
                  <a:txBody>
                    <a:bodyPr/>
                    <a:lstStyle/>
                    <a:p>
                      <a:r>
                        <a:rPr sz="1200" b="0">
                          <a:solidFill>
                            <a:srgbClr val="14251D"/>
                          </a:solidFill>
                          <a:latin typeface="Arial"/>
                          <a:ea typeface="Arial"/>
                          <a:cs typeface="Arial"/>
                        </a:rPr>
                        <a:t/>
                      </a:r>
                    </a:p>
                  </a:txBody>
                  <a:tcPr marL="91440" marR="91440" marT="45720" marB="45720">
                    <a:solidFill>
                      <a:srgbClr val="F7FAF5"/>
                    </a:solidFill>
                  </a:tcPr>
                </a:tc>
                <a:tc>
                  <a:txBody>
                    <a:bodyPr/>
                    <a:lstStyle/>
                    <a:p>
                      <a:r>
                        <a:rPr sz="1200" b="0">
                          <a:solidFill>
                            <a:srgbClr val="14251D"/>
                          </a:solidFill>
                          <a:latin typeface="Arial"/>
                          <a:ea typeface="Arial"/>
                          <a:cs typeface="Arial"/>
                        </a:rPr>
                        <a:t/>
                      </a:r>
                    </a:p>
                  </a:txBody>
                  <a:tcPr marL="91440" marR="91440" marT="45720" marB="45720">
                    <a:solidFill>
                      <a:srgbClr val="F7FAF5"/>
                    </a:solidFill>
                  </a:tcPr>
                </a:tc>
                <a:tc>
                  <a:txBody>
                    <a:bodyPr/>
                    <a:lstStyle/>
                    <a:p>
                      <a:r>
                        <a:rPr sz="1200" b="0">
                          <a:solidFill>
                            <a:srgbClr val="14251D"/>
                          </a:solidFill>
                          <a:latin typeface="Arial"/>
                          <a:ea typeface="Arial"/>
                          <a:cs typeface="Arial"/>
                        </a:rPr>
                        <a:t/>
                      </a:r>
                    </a:p>
                  </a:txBody>
                  <a:tcPr marL="91440" marR="91440" marT="45720" marB="45720">
                    <a:solidFill>
                      <a:srgbClr val="F7FAF5"/>
                    </a:solidFill>
                  </a:tcPr>
                </a:tc>
                <a:tc>
                  <a:txBody>
                    <a:bodyPr/>
                    <a:lstStyle/>
                    <a:p>
                      <a:r>
                        <a:rPr sz="1200" b="0">
                          <a:solidFill>
                            <a:srgbClr val="14251D"/>
                          </a:solidFill>
                          <a:latin typeface="Arial"/>
                          <a:ea typeface="Arial"/>
                          <a:cs typeface="Arial"/>
                        </a:rPr>
                        <a:t/>
                      </a:r>
                    </a:p>
                  </a:txBody>
                  <a:tcPr marL="91440" marR="91440" marT="45720" marB="45720">
                    <a:solidFill>
                      <a:srgbClr val="F7FAF5"/>
                    </a:solidFill>
                  </a:tcPr>
                </a:tc>
                <a:tc>
                  <a:txBody>
                    <a:bodyPr/>
                    <a:lstStyle/>
                    <a:p>
                      <a:r>
                        <a:rPr sz="1200" b="0">
                          <a:solidFill>
                            <a:srgbClr val="14251D"/>
                          </a:solidFill>
                          <a:latin typeface="Arial"/>
                          <a:ea typeface="Arial"/>
                          <a:cs typeface="Arial"/>
                        </a:rPr>
                        <a:t/>
                      </a:r>
                    </a:p>
                  </a:txBody>
                  <a:tcPr marL="91440" marR="91440" marT="45720" marB="45720">
                    <a:solidFill>
                      <a:srgbClr val="F7FAF5"/>
                    </a:solidFill>
                  </a:tcPr>
                </a:tc>
                <a:tc>
                  <a:txBody>
                    <a:bodyPr/>
                    <a:lstStyle/>
                    <a:p>
                      <a:r>
                        <a:rPr sz="1200" b="0">
                          <a:solidFill>
                            <a:srgbClr val="14251D"/>
                          </a:solidFill>
                          <a:latin typeface="Arial"/>
                          <a:ea typeface="Arial"/>
                          <a:cs typeface="Arial"/>
                        </a:rPr>
                        <a:t/>
                      </a:r>
                    </a:p>
                  </a:txBody>
                  <a:tcPr marL="91440" marR="91440" marT="45720" marB="45720">
                    <a:solidFill>
                      <a:srgbClr val="F7FAF5"/>
                    </a:solidFill>
                  </a:tcPr>
                </a:tc>
                <a:tc>
                  <a:txBody>
                    <a:bodyPr/>
                    <a:lstStyle/>
                    <a:p>
                      <a:r>
                        <a:rPr sz="1200" b="0">
                          <a:solidFill>
                            <a:srgbClr val="14251D"/>
                          </a:solidFill>
                          <a:latin typeface="Arial"/>
                          <a:ea typeface="Arial"/>
                          <a:cs typeface="Arial"/>
                        </a:rPr>
                        <a:t/>
                      </a:r>
                    </a:p>
                  </a:txBody>
                  <a:tcPr marL="91440" marR="91440" marT="45720" marB="45720">
                    <a:solidFill>
                      <a:srgbClr val="F7FAF5"/>
                    </a:solidFill>
                  </a:tcPr>
                </a:tc>
              </a:tr>
            </a:tbl>
          </a:graphicData>
        </a:graphic>
      </p:graphicFrame>
    </p:spTree>
    <p:extLst>
      <p:ext uri="{BB962C8B-B14F-4D97-AF65-F5344CB8AC3E}">
        <p14:creationId xmlns:p14="http://schemas.microsoft.com/office/powerpoint/2010/main" val="13466096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2026-09-21T06:47:52.8160000Z</dcterms:created>
  <dcterms:modified xsi:type="dcterms:W3CDTF">2026-09-21T06:47:52.8160000Z</dcterms:modified>
</coreProperties>
</file>