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6" r:id="rId2"/>
    <p:sldId id="257" r:id="rId3"/>
    <p:sldId id="271" r:id="rId15"/>
    <p:sldId id="267" r:id="rId4"/>
    <p:sldId id="272" r:id="rId16"/>
    <p:sldId id="268" r:id="rId5"/>
    <p:sldId id="269" r:id="rId6"/>
    <p:sldId id="273" r:id="rId17"/>
    <p:sldId id="270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02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AD0AA497-1EE7-F68D-66FB-F8756BE2B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C453ED9B-995C-6843-B0C9-B3FF94FAE4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Team leader is taken as Harsh Jain, the first listed student and requester. Category 2 is inferred from the supplied Class 10 example and the Class 12 team. School prefix PP follows the Pitampura unit naming used in student email addresses; verify portal conventions before submission.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770BF2B7-2E56-C99A-7196-13F19BC112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6360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FA5E0C8F-2206-51F1-0695-98AC23FD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330C7AD0-B8EF-3BDE-5738-FD82CFE98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Verified from VisionWorkerClient.ts: exactly two workers, pose and object, not three. Object analysis lower-frequency CPU. Browser app is statically hosted with Sites. No FastAPI or WebSocket responder backend exists in this repository.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0E11A6CF-2552-132E-B1AC-AC1B179C03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6686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6DAD231F-1DC0-9515-E1B5-D7CCF6D1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CB7DE707-8FD8-12BB-AA35-20D2291B4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Privacy boundary follows repo. Future trials require suitable permissions and review of applicable child-data rules. No compliance certification or proven safety outcome is claimed.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861050B9-84D2-944C-3F44-9842BDB72B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6102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39E0E29C-D5BC-44CC-1199-60754AFD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D26FF8F9-AD59-07B9-E00F-B1BCFD985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Benefits are intended outcomes. Measure missed events, false alerts, review latency and usability. Earlier attention and reduced harm have not been measured in a deployment.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D3DEEBED-6F7F-7E3D-C075-829D1842A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6740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Additional reference: https://www.meity.gov.in/static/uploads/2024/06/2bf1f0e9f04e6fb4f8fef35e82c42aa5.pdf . Model card cautions against surveillance/life-critical use. Public demo: https://nivra-vision-lab.topperly.chatgpt.site . Supplied metrics PDF used as secondary context, not an authoritative source for unverified costs.</a:t>
            </a:r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5942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All five students and DOBs supplied by user. Mentor fields intentionally blank. No student information is published to the public demo.</a:t>
            </a:r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0806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615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784246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tanishqagg-dev/nivra-vision-lab" TargetMode="External"/><Relationship Id="rId4" Type="http://schemas.openxmlformats.org/officeDocument/2006/relationships/hyperlink" Target="https://www.who.int/westernpacific/publications/i/item/9789240047136" TargetMode="External"/><Relationship Id="rId5" Type="http://schemas.openxmlformats.org/officeDocument/2006/relationships/hyperlink" Target="https://developers.google.com/edge/mediapipe/solutions/vision/pose_landmarker/web_js" TargetMode="External"/><Relationship Id="rId6" Type="http://schemas.openxmlformats.org/officeDocument/2006/relationships/hyperlink" Target="https://dsel.education.gov.in/sites/default/files/guidelines/guidelines_sss.pdf" TargetMode="External"/><Relationship Id="rId7" Type="http://schemas.openxmlformats.org/officeDocument/2006/relationships/hyperlink" Target="https://www.axis.com/products/axis-object-analytics" TargetMode="External"/><Relationship Id="rId8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who.int/westernpacific/publications/i/item/9789240047136" TargetMode="Externa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F1F5F7E1-2D66-467B-F164-52602A8B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CB596411-A76F-ECDB-FA18-6B1BBC2CDFDA}"/>
              </a:ext>
            </a:extLst>
          </p:cNvPr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Bharati Hackathon 3.0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B482F5-EFB3-5068-A003-14FD2681834A}"/>
              </a:ext>
            </a:extLst>
          </p:cNvPr>
          <p:cNvSpPr/>
          <p:nvPr/>
        </p:nvSpPr>
        <p:spPr>
          <a:xfrm>
            <a:off x="731520" y="11924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29C5975-B3A2-2B71-F41F-39A0442ACAAF}"/>
              </a:ext>
            </a:extLst>
          </p:cNvPr>
          <p:cNvSpPr/>
          <p:nvPr/>
        </p:nvSpPr>
        <p:spPr>
          <a:xfrm>
            <a:off x="731520" y="1923019"/>
            <a:ext cx="9875520" cy="10058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3000" b="1">
                <a:solidFill>
                  <a:srgbClr val="222760"/>
                </a:solidFill>
                <a:latin typeface="Georgia"/>
              </a:defRPr>
            </a:pPr>
            <a:r>
              <a:t>NIVRA: Before Impact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3EA0BC3-3FA9-F645-8556-24420EA92C5B}"/>
              </a:ext>
            </a:extLst>
          </p:cNvPr>
          <p:cNvSpPr/>
          <p:nvPr/>
        </p:nvSpPr>
        <p:spPr>
          <a:xfrm>
            <a:off x="731520" y="3191090"/>
            <a:ext cx="106984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400A172-9FC3-D7CE-8DC3-1A5DFE286D88}"/>
              </a:ext>
            </a:extLst>
          </p:cNvPr>
          <p:cNvSpPr/>
          <p:nvPr/>
        </p:nvSpPr>
        <p:spPr>
          <a:xfrm>
            <a:off x="5120640" y="3063240"/>
            <a:ext cx="603504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660C73F0-C506-7964-0C96-0DDC1210B6D4}"/>
              </a:ext>
            </a:extLst>
          </p:cNvPr>
          <p:cNvSpPr/>
          <p:nvPr/>
        </p:nvSpPr>
        <p:spPr>
          <a:xfrm>
            <a:off x="1005840" y="3507377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86E3D25-0556-CAE9-D319-64E05E2C62EA}"/>
              </a:ext>
            </a:extLst>
          </p:cNvPr>
          <p:cNvSpPr/>
          <p:nvPr/>
        </p:nvSpPr>
        <p:spPr>
          <a:xfrm>
            <a:off x="960120" y="3507377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1CF4DBC1-9609-5FFB-FA1D-2934F197C1D5}"/>
              </a:ext>
            </a:extLst>
          </p:cNvPr>
          <p:cNvSpPr/>
          <p:nvPr/>
        </p:nvSpPr>
        <p:spPr>
          <a:xfrm>
            <a:off x="5120640" y="3507377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CCTV can miss warning signs before an incident escalates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B4545435-528F-D771-1AFA-8DB6DF0686C9}"/>
              </a:ext>
            </a:extLst>
          </p:cNvPr>
          <p:cNvSpPr/>
          <p:nvPr/>
        </p:nvSpPr>
        <p:spPr>
          <a:xfrm>
            <a:off x="1005840" y="3951514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3B21521D-8097-D790-F5CD-0347A1A6B6D3}"/>
              </a:ext>
            </a:extLst>
          </p:cNvPr>
          <p:cNvSpPr/>
          <p:nvPr/>
        </p:nvSpPr>
        <p:spPr>
          <a:xfrm>
            <a:off x="982980" y="3951514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772B60E9-1A36-50EB-B677-68B52948315B}"/>
              </a:ext>
            </a:extLst>
          </p:cNvPr>
          <p:cNvSpPr/>
          <p:nvPr/>
        </p:nvSpPr>
        <p:spPr>
          <a:xfrm>
            <a:off x="5120640" y="3951514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>
              <a:spcAft>
                <a:spcPts val="600"/>
              </a:spcAft>
              <a:defRPr sz="1650" b="0">
                <a:solidFill>
                  <a:srgbClr val="222760"/>
                </a:solidFill>
                <a:latin typeface="Arial"/>
              </a:defRPr>
            </a:pPr>
            <a:r>
              <a:t>T3 | AI for Good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72C12956-5F9F-EE58-4447-6ACBC4646ADB}"/>
              </a:ext>
            </a:extLst>
          </p:cNvPr>
          <p:cNvSpPr/>
          <p:nvPr/>
        </p:nvSpPr>
        <p:spPr>
          <a:xfrm>
            <a:off x="1005840" y="4395651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E3FEDFC6-927E-DF15-54F9-30969801F2E7}"/>
              </a:ext>
            </a:extLst>
          </p:cNvPr>
          <p:cNvSpPr/>
          <p:nvPr/>
        </p:nvSpPr>
        <p:spPr>
          <a:xfrm>
            <a:off x="1005840" y="4395651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78A34103-47A8-9FE7-3B67-DD45BC767875}"/>
              </a:ext>
            </a:extLst>
          </p:cNvPr>
          <p:cNvSpPr/>
          <p:nvPr/>
        </p:nvSpPr>
        <p:spPr>
          <a:xfrm>
            <a:off x="5120640" y="4395651"/>
            <a:ext cx="603504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9665B41C-0812-424E-D913-A108277E671F}"/>
              </a:ext>
            </a:extLst>
          </p:cNvPr>
          <p:cNvSpPr/>
          <p:nvPr/>
        </p:nvSpPr>
        <p:spPr>
          <a:xfrm>
            <a:off x="1005840" y="4839789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74CEDA0C-14A7-6746-95AC-266E15A9DACF}"/>
              </a:ext>
            </a:extLst>
          </p:cNvPr>
          <p:cNvSpPr/>
          <p:nvPr/>
        </p:nvSpPr>
        <p:spPr>
          <a:xfrm>
            <a:off x="960120" y="4411510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0F04A708-E8A6-7D7F-A198-C2F4F2B7B962}"/>
              </a:ext>
            </a:extLst>
          </p:cNvPr>
          <p:cNvSpPr/>
          <p:nvPr/>
        </p:nvSpPr>
        <p:spPr>
          <a:xfrm>
            <a:off x="5074920" y="4395650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Team Damage Control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3E91B74A-EA5C-0F32-3C0B-98A149CF63A4}"/>
              </a:ext>
            </a:extLst>
          </p:cNvPr>
          <p:cNvSpPr/>
          <p:nvPr/>
        </p:nvSpPr>
        <p:spPr>
          <a:xfrm>
            <a:off x="1005840" y="5283926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E20E031C-781A-87D9-1113-02236EB3FF36}"/>
              </a:ext>
            </a:extLst>
          </p:cNvPr>
          <p:cNvSpPr/>
          <p:nvPr/>
        </p:nvSpPr>
        <p:spPr>
          <a:xfrm>
            <a:off x="960120" y="4833258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87376AFA-4CED-D805-43D2-B4BAE125A6FF}"/>
              </a:ext>
            </a:extLst>
          </p:cNvPr>
          <p:cNvSpPr/>
          <p:nvPr/>
        </p:nvSpPr>
        <p:spPr>
          <a:xfrm>
            <a:off x="5074920" y="4855647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Harsh Jain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7BBD9AFB-93BC-4BE4-A0B0-5E5910B84916}"/>
              </a:ext>
            </a:extLst>
          </p:cNvPr>
          <p:cNvSpPr/>
          <p:nvPr/>
        </p:nvSpPr>
        <p:spPr>
          <a:xfrm>
            <a:off x="1005840" y="5728063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8B944417-9F17-038C-7FEA-565059465012}"/>
              </a:ext>
            </a:extLst>
          </p:cNvPr>
          <p:cNvSpPr/>
          <p:nvPr/>
        </p:nvSpPr>
        <p:spPr>
          <a:xfrm>
            <a:off x="982980" y="5281591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Name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80AA14F6-5499-52DA-0400-C9196CC2AB9C}"/>
              </a:ext>
            </a:extLst>
          </p:cNvPr>
          <p:cNvSpPr/>
          <p:nvPr/>
        </p:nvSpPr>
        <p:spPr>
          <a:xfrm>
            <a:off x="5006340" y="5265731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Bal Bharati Public School, Pitampura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0F545EEE-08D4-E73D-9D2C-7AF41F9F1CA9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>
              <a:solidFill>
                <a:srgbClr val="002060"/>
              </a:solidFill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B5829B4-9EB7-59A8-4B53-C40C003FC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237" y="289084"/>
            <a:ext cx="1662112" cy="1433512"/>
          </a:xfrm>
          <a:prstGeom prst="rect">
            <a:avLst/>
          </a:prstGeom>
        </p:spPr>
      </p:pic>
      <p:sp>
        <p:nvSpPr>
          <p:cNvPr id="4" name="Text 24">
            <a:extLst>
              <a:ext uri="{FF2B5EF4-FFF2-40B4-BE49-F238E27FC236}">
                <a16:creationId xmlns:a16="http://schemas.microsoft.com/office/drawing/2014/main" id="{806E0F1E-C06A-CEAD-3117-5E44882F79A1}"/>
              </a:ext>
            </a:extLst>
          </p:cNvPr>
          <p:cNvSpPr/>
          <p:nvPr/>
        </p:nvSpPr>
        <p:spPr>
          <a:xfrm>
            <a:off x="1005840" y="5685768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8" name="Text 25">
            <a:extLst>
              <a:ext uri="{FF2B5EF4-FFF2-40B4-BE49-F238E27FC236}">
                <a16:creationId xmlns:a16="http://schemas.microsoft.com/office/drawing/2014/main" id="{02131163-CB48-7571-1416-3DFA36D18D14}"/>
              </a:ext>
            </a:extLst>
          </p:cNvPr>
          <p:cNvSpPr/>
          <p:nvPr/>
        </p:nvSpPr>
        <p:spPr>
          <a:xfrm>
            <a:off x="5006340" y="5640199"/>
            <a:ext cx="6035040" cy="444137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650" b="0">
                <a:solidFill>
                  <a:srgbClr val="222760"/>
                </a:solidFill>
                <a:latin typeface="Arial"/>
              </a:defRPr>
            </a:pPr>
            <a:r>
              <a:t>5 students (excluding mentor)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77125" y="2847975"/>
            <a:ext cx="3667125" cy="2857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Category: Cat2</a:t>
            </a:r>
          </a:p>
        </p:txBody>
      </p:sp>
      <p:pic>
        <p:nvPicPr>
          <p:cNvPr id="55" name="Picture 54" descr="logo-aperture-conc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19375"/>
            <a:ext cx="447675" cy="44767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219200" y="2714625"/>
            <a:ext cx="6048375" cy="304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14251D"/>
                </a:solidFill>
                <a:latin typeface="Arial"/>
              </a:defRPr>
            </a:pPr>
            <a:r>
              <a:t>AI-assisted observation. Human-led decisions.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2531581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925" b="1">
                <a:solidFill>
                  <a:srgbClr val="222760"/>
                </a:solidFill>
                <a:latin typeface="Georgia"/>
              </a:defRPr>
            </a:pPr>
            <a:r>
              <a:t>Your Idea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SOLUTION 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54496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83096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Resolution :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3B8938-6710-D689-16BA-525BBFEFE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5651" y="256032"/>
            <a:ext cx="592202" cy="510753"/>
          </a:xfrm>
          <a:prstGeom prst="rect">
            <a:avLst/>
          </a:prstGeom>
        </p:spPr>
      </p:pic>
      <p:pic>
        <p:nvPicPr>
          <p:cNvPr id="18" name="Picture 17" descr="camp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2028825"/>
            <a:ext cx="5010150" cy="2000250"/>
          </a:xfrm>
          <a:prstGeom prst="rect">
            <a:avLst/>
          </a:prstGeom>
        </p:spPr>
      </p:pic>
      <p:pic>
        <p:nvPicPr>
          <p:cNvPr id="19" name="Picture 18" descr="work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050" y="2028825"/>
            <a:ext cx="5010150" cy="2000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4850" y="4267200"/>
            <a:ext cx="4953000" cy="4000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4762500"/>
            <a:ext cx="4953000" cy="11620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CCTV records incidents after they happen.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Warning signs are easy to miss in live feeds.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Operators need useful context, not a noisy alarm.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6050" y="4267200"/>
            <a:ext cx="4953000" cy="4000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OUR ANSWER: NIVRA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6050" y="4762500"/>
            <a:ext cx="4953000" cy="11620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Watches movement over time.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Flags explainable warning patterns.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• Keeps a human in control of every response.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6115050"/>
            <a:ext cx="1076325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t>Images are generated concepts. The multi-device response network is proposed, not implemented.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A35151C1-A88F-8109-F3C9-EF84687F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82144C-71A3-2785-0B18-2B270F340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65E2676B-6F83-FFD7-2D82-348EE889C2E4}"/>
              </a:ext>
            </a:extLst>
          </p:cNvPr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700" b="1">
                <a:solidFill>
                  <a:srgbClr val="222760"/>
                </a:solidFill>
                <a:latin typeface="Georgia"/>
              </a:defRPr>
            </a:pPr>
            <a:r>
              <a:t>TECHNICAL APPROACH</a:t>
            </a:r>
            <a:endParaRPr lang="en-US" sz="2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D12F776-09C3-0FCA-E8E7-C78191D9CE0C}"/>
              </a:ext>
            </a:extLst>
          </p:cNvPr>
          <p:cNvSpPr/>
          <p:nvPr/>
        </p:nvSpPr>
        <p:spPr>
          <a:xfrm>
            <a:off x="457200" y="1325880"/>
            <a:ext cx="4160520" cy="47091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C22CF0B-06CE-B2D4-7B65-FF0182359EDF}"/>
              </a:ext>
            </a:extLst>
          </p:cNvPr>
          <p:cNvSpPr/>
          <p:nvPr/>
        </p:nvSpPr>
        <p:spPr>
          <a:xfrm>
            <a:off x="4937760" y="1325880"/>
            <a:ext cx="6793992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BROWSER ARCHITECTURE</a:t>
            </a:r>
            <a:endParaRPr lang="en-US" sz="14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8551020-AB1A-3707-B537-05FBB9093EBC}"/>
              </a:ext>
            </a:extLst>
          </p:cNvPr>
          <p:cNvSpPr/>
          <p:nvPr/>
        </p:nvSpPr>
        <p:spPr>
          <a:xfrm>
            <a:off x="4937760" y="1737360"/>
            <a:ext cx="6793992" cy="4297680"/>
          </a:xfrm>
          <a:prstGeom prst="roundRect">
            <a:avLst>
              <a:gd name="adj" fmla="val 1277"/>
            </a:avLst>
          </a:prstGeom>
          <a:solidFill>
            <a:srgbClr val="F7F5FB"/>
          </a:solidFill>
          <a:ln w="12700">
            <a:solidFill>
              <a:srgbClr val="D9D3E8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590675"/>
            <a:ext cx="3695700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038350"/>
            <a:ext cx="3695700" cy="952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Camera, local video or scripted scenario.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924175"/>
            <a:ext cx="3695700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Two Web 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371850"/>
            <a:ext cx="3695700" cy="952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One for pose, one for objects. Local MediaPipe + WASM.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381500"/>
            <a:ext cx="3695700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29175"/>
            <a:ext cx="3695700" cy="952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GPU for real-time pose when supported. CPU for review scans and fallback.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445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017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17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Camera / video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200" y="2924175"/>
            <a:ext cx="247650" cy="323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4370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942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Vision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942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Pose + objects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2450" y="2924175"/>
            <a:ext cx="247650" cy="323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295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4867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Rules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867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Motion 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91700" y="2924175"/>
            <a:ext cx="247650" cy="3238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82200" y="2571750"/>
            <a:ext cx="1438275" cy="1238250"/>
          </a:xfrm>
          <a:prstGeom prst="rect">
            <a:avLst/>
          </a:prstGeom>
          <a:solidFill>
            <a:srgbClr val="D2F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67925" y="2695575"/>
            <a:ext cx="1285875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67925" y="3209925"/>
            <a:ext cx="1285875" cy="4953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Banner + tone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91125" y="4229100"/>
            <a:ext cx="6143625" cy="4095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Frames remain in the browser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91125" y="4752975"/>
            <a:ext cx="6096000" cy="1019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No frame uploads or recordings. Tracks and review logs are session-only. No application backend is required.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3132866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D05E0537-5504-17CF-2745-3AFBC1E2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416CBF-3AF1-01A6-BF37-6DE07F757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D41C862-4124-A050-2DDE-18AE35C331F6}"/>
              </a:ext>
            </a:extLst>
          </p:cNvPr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200" b="1">
                <a:solidFill>
                  <a:srgbClr val="14251D"/>
                </a:solidFill>
                <a:latin typeface="Arial"/>
              </a:defRPr>
            </a:pPr>
            <a:r>
              <a:t>NIVRA / BROWSER PROTOTYPE</a:t>
            </a:r>
            <a:endParaRPr lang="en-US" sz="1200" dirty="0">
              <a:highlight>
                <a:srgbClr val="FF0000"/>
              </a:highlight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48AAE38-CC2A-FACF-5697-E4D8B334BDD0}"/>
              </a:ext>
            </a:extLst>
          </p:cNvPr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25C929E-E67D-FA87-6F66-8733A7DE9EB8}"/>
              </a:ext>
            </a:extLst>
          </p:cNvPr>
          <p:cNvSpPr/>
          <p:nvPr/>
        </p:nvSpPr>
        <p:spPr>
          <a:xfrm>
            <a:off x="989045" y="1600200"/>
            <a:ext cx="94332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OF THE IDEA</a:t>
            </a:r>
            <a:endParaRPr lang="en-US" sz="13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E15B07B-E98B-FF29-3491-047DBF6DA3F8}"/>
              </a:ext>
            </a:extLst>
          </p:cNvPr>
          <p:cNvSpPr/>
          <p:nvPr/>
        </p:nvSpPr>
        <p:spPr>
          <a:xfrm>
            <a:off x="989044" y="2100321"/>
            <a:ext cx="10075195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725" b="0">
                <a:solidFill>
                  <a:srgbClr val="46534C"/>
                </a:solidFill>
                <a:latin typeface="Arial"/>
              </a:defRPr>
            </a:pPr>
            <a:r>
              <a:t>Technical: local model bundles, configurable Full/Lite pose and CPU recovery.</a:t>
            </a:r>
            <a:endParaRPr lang="en-US" sz="1300" dirty="0"/>
          </a:p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Operational: familiar camera/video controls; a person reviews each alert.</a:t>
            </a:r>
          </a:p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Resources: current Chrome, laptop or phone; Node 24 for local development.</a:t>
            </a: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824DE081-D638-45D4-BACA-E63E8343BEC3}"/>
              </a:ext>
            </a:extLst>
          </p:cNvPr>
          <p:cNvSpPr/>
          <p:nvPr/>
        </p:nvSpPr>
        <p:spPr>
          <a:xfrm>
            <a:off x="548640" y="3657600"/>
            <a:ext cx="5166360" cy="2468880"/>
          </a:xfrm>
          <a:prstGeom prst="roundRect">
            <a:avLst>
              <a:gd name="adj" fmla="val 3704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A1E101C-8C62-CBB2-BADD-643B74632CF1}"/>
              </a:ext>
            </a:extLst>
          </p:cNvPr>
          <p:cNvSpPr/>
          <p:nvPr/>
        </p:nvSpPr>
        <p:spPr>
          <a:xfrm>
            <a:off x="822960" y="3886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&amp; RISKS</a:t>
            </a:r>
            <a:endParaRPr lang="en-US" sz="12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8A29699B-89FB-D00D-0132-C453F5B3F5D6}"/>
              </a:ext>
            </a:extLst>
          </p:cNvPr>
          <p:cNvSpPr/>
          <p:nvPr/>
        </p:nvSpPr>
        <p:spPr>
          <a:xfrm>
            <a:off x="822960" y="4297680"/>
            <a:ext cx="4617720" cy="15544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650" b="0">
                <a:solidFill>
                  <a:srgbClr val="46534C"/>
                </a:solidFill>
                <a:latin typeface="Arial"/>
              </a:defRPr>
            </a:pPr>
            <a:r>
              <a:t>01  Sports and play can trigger reviews.</a:t>
            </a:r>
            <a:endParaRPr lang="en-US" sz="1250" dirty="0"/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02  Occlusion or weak devices reduce coverage.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03  School video needs permission and privacy controls.</a:t>
            </a: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43A98284-AA8C-F284-4880-505AAE55CC1F}"/>
              </a:ext>
            </a:extLst>
          </p:cNvPr>
          <p:cNvSpPr/>
          <p:nvPr/>
        </p:nvSpPr>
        <p:spPr>
          <a:xfrm>
            <a:off x="6080760" y="3657600"/>
            <a:ext cx="5166360" cy="2468880"/>
          </a:xfrm>
          <a:prstGeom prst="roundRect">
            <a:avLst>
              <a:gd name="adj" fmla="val 3704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D31591CD-4BDC-FD65-8C77-9AC56BFFA0EB}"/>
              </a:ext>
            </a:extLst>
          </p:cNvPr>
          <p:cNvSpPr/>
          <p:nvPr/>
        </p:nvSpPr>
        <p:spPr>
          <a:xfrm>
            <a:off x="6355080" y="3886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TO OVERCOME THEM</a:t>
            </a:r>
            <a:endParaRPr lang="en-US" sz="12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A8F513E-B0F9-B736-D672-D502880BD1FE}"/>
              </a:ext>
            </a:extLst>
          </p:cNvPr>
          <p:cNvSpPr/>
          <p:nvPr/>
        </p:nvSpPr>
        <p:spPr>
          <a:xfrm>
            <a:off x="6355080" y="4297680"/>
            <a:ext cx="4617720" cy="15544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650" b="0">
                <a:solidFill>
                  <a:srgbClr val="46534C"/>
                </a:solidFill>
                <a:latin typeface="Arial"/>
              </a:defRPr>
            </a:pPr>
            <a:r>
              <a:t>01  Require human review; test positive and quiet clips.</a:t>
            </a:r>
            <a:endParaRPr lang="en-US" sz="1250" dirty="0"/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02  Use Lite / CPU fallback; show visibility and runtime state.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03  Keep frames local; obtain school approval before trials.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9840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CA8B95A5-39CE-A91E-4AC1-D052C012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C0764E-4A66-6153-62BB-5CBC489FD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AEDAEAA-8FA0-3224-6C7C-26B21FF98B2E}"/>
              </a:ext>
            </a:extLst>
          </p:cNvPr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3185866-11F6-824C-9FCC-1D023AE9C71E}"/>
              </a:ext>
            </a:extLst>
          </p:cNvPr>
          <p:cNvSpPr/>
          <p:nvPr/>
        </p:nvSpPr>
        <p:spPr>
          <a:xfrm>
            <a:off x="54864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DC2B347-E581-38C0-5508-F51306B2545A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CA7DC4D3-6F9B-9B82-BF78-8D444223657C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3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D5ED718-9ACA-393D-7381-2BAE9FB80ABB}"/>
              </a:ext>
            </a:extLst>
          </p:cNvPr>
          <p:cNvSpPr/>
          <p:nvPr/>
        </p:nvSpPr>
        <p:spPr>
          <a:xfrm>
            <a:off x="82296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800" b="0">
                <a:solidFill>
                  <a:srgbClr val="46534C"/>
                </a:solidFill>
                <a:latin typeface="Arial"/>
              </a:defRPr>
            </a:pPr>
            <a:r>
              <a:t>Earlier attention to visible changes, with the final decision left to staff.</a:t>
            </a:r>
            <a:endParaRPr lang="en-US" sz="12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710857C3-79A8-CA18-6262-1EE7C172509F}"/>
              </a:ext>
            </a:extLst>
          </p:cNvPr>
          <p:cNvSpPr/>
          <p:nvPr/>
        </p:nvSpPr>
        <p:spPr>
          <a:xfrm>
            <a:off x="425196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19EFA0D-3406-DE44-6475-EB9DBF77D709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E4588E4-6BC5-246B-EF41-78377AE24A3D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</a:t>
            </a:r>
            <a:endParaRPr lang="en-US" sz="13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61D796A0-51AE-8FC4-ED52-7C7412EB4B6F}"/>
              </a:ext>
            </a:extLst>
          </p:cNvPr>
          <p:cNvSpPr/>
          <p:nvPr/>
        </p:nvSpPr>
        <p:spPr>
          <a:xfrm>
            <a:off x="452628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800" b="0">
                <a:solidFill>
                  <a:srgbClr val="46534C"/>
                </a:solidFill>
                <a:latin typeface="Arial"/>
              </a:defRPr>
            </a:pPr>
            <a:r>
              <a:t>Reuse existing devices where practical. No measured savings or pricing claim.</a:t>
            </a:r>
            <a:endParaRPr lang="en-US" sz="12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7783ED2F-548C-A7AC-7DFA-72F1CFA43077}"/>
              </a:ext>
            </a:extLst>
          </p:cNvPr>
          <p:cNvSpPr/>
          <p:nvPr/>
        </p:nvSpPr>
        <p:spPr>
          <a:xfrm>
            <a:off x="795528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BD14AC99-0775-98A8-13E4-172861EE28E4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AAC04C4-1292-8F43-9FE5-1E152752B6E3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3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62E7A75-A4E9-3179-B351-AC44349DB9CF}"/>
              </a:ext>
            </a:extLst>
          </p:cNvPr>
          <p:cNvSpPr/>
          <p:nvPr/>
        </p:nvSpPr>
        <p:spPr>
          <a:xfrm>
            <a:off x="822960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800" b="0">
                <a:solidFill>
                  <a:srgbClr val="46534C"/>
                </a:solidFill>
                <a:latin typeface="Arial"/>
              </a:defRPr>
            </a:pPr>
            <a:r>
              <a:t>Potential hardware reuse. No measured environmental benefit.</a:t>
            </a:r>
            <a:endParaRPr lang="en-US" sz="12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0E44F278-2528-5628-6C49-FD8711391855}"/>
              </a:ext>
            </a:extLst>
          </p:cNvPr>
          <p:cNvSpPr/>
          <p:nvPr/>
        </p:nvSpPr>
        <p:spPr>
          <a:xfrm>
            <a:off x="54864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SOLUTION</a:t>
            </a:r>
            <a:endParaRPr lang="en-US" sz="13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1A3A24E7-A066-0567-3F0D-558B41D4B2F7}"/>
              </a:ext>
            </a:extLst>
          </p:cNvPr>
          <p:cNvSpPr/>
          <p:nvPr/>
        </p:nvSpPr>
        <p:spPr>
          <a:xfrm>
            <a:off x="54864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800" b="0">
                <a:solidFill>
                  <a:srgbClr val="46534C"/>
                </a:solidFill>
                <a:latin typeface="Arial"/>
              </a:defRPr>
            </a:pPr>
            <a:r>
              <a:t>End users: clear visual alerts, reasons and local acknowledgement.</a:t>
            </a:r>
            <a:endParaRPr lang="en-US" sz="1300" dirty="0"/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Institutions: a basis for testing a supervised safety workflow.</a:t>
            </a:r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Scalability: validate one location before multi-camera or responder integration.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252723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356E6E85-492D-B094-25B7-D3450CDA3048}"/>
              </a:ext>
            </a:extLst>
          </p:cNvPr>
          <p:cNvSpPr/>
          <p:nvPr/>
        </p:nvSpPr>
        <p:spPr>
          <a:xfrm>
            <a:off x="6560321" y="1600200"/>
            <a:ext cx="5417179" cy="365760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  <a:defRPr sz="750" b="0">
                <a:solidFill>
                  <a:srgbClr val="222760"/>
                </a:solidFill>
                <a:latin typeface="Arial"/>
              </a:defRPr>
            </a:pPr>
            <a:endParaRPr>
              <a:latin typeface="Garamond" panose="02020404030301010803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B25E136-E311-1699-E79F-75EF9489A4C9}"/>
              </a:ext>
            </a:extLst>
          </p:cNvPr>
          <p:cNvSpPr/>
          <p:nvPr/>
        </p:nvSpPr>
        <p:spPr>
          <a:xfrm>
            <a:off x="548640" y="621792"/>
            <a:ext cx="5706881" cy="6400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2700" b="1">
                <a:solidFill>
                  <a:srgbClr val="222760"/>
                </a:solidFill>
                <a:latin typeface="Georgia"/>
              </a:defRPr>
            </a:pPr>
            <a:r>
              <a:t>Research and References</a:t>
            </a:r>
            <a:endParaRPr lang="en-US" sz="30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D6EB980-7877-F5B7-459A-D4B5D2BA7CDA}"/>
              </a:ext>
            </a:extLst>
          </p:cNvPr>
          <p:cNvSpPr/>
          <p:nvPr/>
        </p:nvSpPr>
        <p:spPr>
          <a:xfrm>
            <a:off x="548640" y="1600200"/>
            <a:ext cx="5775248" cy="365760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A5533E6-210A-9D2B-999D-6D1EDA53212C}"/>
              </a:ext>
            </a:extLst>
          </p:cNvPr>
          <p:cNvSpPr/>
          <p:nvPr/>
        </p:nvSpPr>
        <p:spPr>
          <a:xfrm>
            <a:off x="6697339" y="1749110"/>
            <a:ext cx="5432561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350" b="1">
                <a:solidFill>
                  <a:srgbClr val="14251D"/>
                </a:solidFill>
                <a:latin typeface="Arial"/>
              </a:defRPr>
            </a:pPr>
            <a:r>
              <a:t>IMPLEMENTED IN THE REPOSITORY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4169B4-1DCF-188F-ADF8-9FA49565252E}"/>
              </a:ext>
            </a:extLst>
          </p:cNvPr>
          <p:cNvSpPr/>
          <p:nvPr/>
        </p:nvSpPr>
        <p:spPr>
          <a:xfrm>
            <a:off x="6708734" y="621792"/>
            <a:ext cx="5706881" cy="6400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2700" b="1">
                <a:solidFill>
                  <a:srgbClr val="222760"/>
                </a:solidFill>
                <a:latin typeface="Georgia"/>
              </a:defRPr>
            </a:pPr>
            <a:r>
              <a:t>Technology Stack</a:t>
            </a:r>
            <a:endParaRPr lang="en-US" sz="30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7C2F44F-88C0-E656-B432-7BB7AC7F20EC}"/>
              </a:ext>
            </a:extLst>
          </p:cNvPr>
          <p:cNvSpPr/>
          <p:nvPr/>
        </p:nvSpPr>
        <p:spPr>
          <a:xfrm>
            <a:off x="822960" y="1741932"/>
            <a:ext cx="5432561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350" b="1">
                <a:solidFill>
                  <a:srgbClr val="14251D"/>
                </a:solidFill>
                <a:latin typeface="Arial"/>
              </a:defRPr>
            </a:pPr>
            <a:r>
              <a:t>EVIDENCE AND SOURCES</a:t>
            </a:r>
            <a:endParaRPr lang="en-US" sz="1200" dirty="0"/>
          </a:p>
        </p:txBody>
      </p:sp>
      <p:sp>
        <p:nvSpPr>
          <p:cNvPr id="220" name="TextBox 219"/>
          <p:cNvSpPr txBox="1"/>
          <p:nvPr/>
        </p:nvSpPr>
        <p:spPr>
          <a:xfrm>
            <a:off x="819150" y="22288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3"/>
              </a:rPr>
              <a:t>NIVRA repository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19150" y="25146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Implementation, test fixtures and limitations.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819150" y="29146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4"/>
              </a:rPr>
              <a:t>WHO | Injuries and violence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19150" y="32004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Broad global burden; not product impact.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19150" y="36004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5"/>
              </a:rPr>
              <a:t>MediaPipe Pose Landmarker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19150" y="38862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Landmark API and model documentation.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819150" y="42862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6"/>
              </a:rPr>
              <a:t>MoE school safety / DPDP Act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19150" y="45720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Policy context and privacy review before trials.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19150" y="4972050"/>
            <a:ext cx="52197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1">
                <a:solidFill>
                  <a:srgbClr val="14251D"/>
                </a:solidFill>
                <a:latin typeface="Arial"/>
              </a:defRPr>
            </a:pPr>
            <a:r>
              <a:rPr>
                <a:hlinkClick r:id="rId7"/>
              </a:rPr>
              <a:t>Axis Object Analytics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19150" y="5257800"/>
            <a:ext cx="5219700" cy="3143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Existing event-analytics category for comparison.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743700" y="22383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React 19 + TypeScript + Vite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743700" y="25527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Browser UI and production build.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743700" y="29241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MediaPipe Tasks Vision 1.0.1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6743700" y="32385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Pose Landmarker Full / Lite, float16.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743700" y="36099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EfficientDet-Lite0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743700" y="39243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Optional object analysis on CPU.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6743700" y="42957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Web Workers + WASM + Canvas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743700" y="46101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Two workers; GPU attempt / CPU fallback.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743700" y="4981575"/>
            <a:ext cx="4895850" cy="2762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Vitest + Playwright + Oxlint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743700" y="5295900"/>
            <a:ext cx="4895850" cy="3333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425" b="0">
                <a:solidFill>
                  <a:srgbClr val="46534C"/>
                </a:solidFill>
                <a:latin typeface="Arial"/>
              </a:defRPr>
            </a:pPr>
            <a:r>
              <a:t>Unit tests, browser tests and lint tools.</a:t>
            </a:r>
          </a:p>
        </p:txBody>
      </p:sp>
      <p:pic>
        <p:nvPicPr>
          <p:cNvPr id="240" name="Picture 2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15700" y="47625"/>
            <a:ext cx="619125" cy="533400"/>
          </a:xfrm>
          <a:prstGeom prst="rect">
            <a:avLst/>
          </a:prstGeom>
        </p:spPr>
      </p:pic>
      <p:sp>
        <p:nvSpPr>
          <p:cNvPr id="241" name="TextBox 240"/>
          <p:cNvSpPr txBox="1"/>
          <p:nvPr/>
        </p:nvSpPr>
        <p:spPr>
          <a:xfrm>
            <a:off x="571500" y="6115050"/>
            <a:ext cx="1076325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t>Data: bundled exercise fixture + scripted observations; representative safety evaluation remains to be done.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855782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348791" y="708725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Garamond" panose="02020404030301010803" pitchFamily="18" charset="0"/>
              </a:rPr>
              <a:t>Team Member Details </a:t>
            </a:r>
            <a:endParaRPr dirty="0">
              <a:latin typeface="Garamond" panose="02020404030301010803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759B07-67C9-9D93-9ECF-CCE9D278DC24}"/>
              </a:ext>
            </a:extLst>
          </p:cNvPr>
          <p:cNvGraphicFramePr>
            <a:graphicFrameLocks noGrp="1"/>
          </p:cNvGraphicFramePr>
          <p:nvPr/>
        </p:nvGraphicFramePr>
        <p:xfrm>
          <a:off x="348792" y="2477265"/>
          <a:ext cx="10658475" cy="2482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30263179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92270666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84744027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357629086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1951274119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2885562377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376403924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63951980"/>
                    </a:ext>
                  </a:extLst>
                </a:gridCol>
              </a:tblGrid>
              <a:tr h="355407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SL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Student  ID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Name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Class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DOB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Email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Phone Number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>
                          <a:latin typeface="Garamond" panose="02020404030301010803" pitchFamily="18" charset="0"/>
                        </a:rPr>
                        <a:t>Gender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392453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223564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Harsh Jain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12C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23/04/2009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223564@pp.balbharati.org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9810141505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49989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218461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Tanishq Aggarwal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12C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09/05/2009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218461@pp.balbharati.org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9810398813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658894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201362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Keshav Garg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11/06/2009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201362@pp.balbharati.org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7011900075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468398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213266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Reyansh Garg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02/07/2009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213266@pp.balbharati.org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8595774056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487646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213283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Asmi Sharma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28/03/2010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213283@pp.balbharati.org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8595612803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Female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0958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F75299-7EEA-6AC5-6C80-566AFE7A740E}"/>
              </a:ext>
            </a:extLst>
          </p:cNvPr>
          <p:cNvGraphicFramePr>
            <a:graphicFrameLocks noGrp="1"/>
          </p:cNvGraphicFramePr>
          <p:nvPr/>
        </p:nvGraphicFramePr>
        <p:xfrm>
          <a:off x="348791" y="5574445"/>
          <a:ext cx="11613818" cy="779221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31146">
                  <a:extLst>
                    <a:ext uri="{9D8B030D-6E8A-4147-A177-3AD203B41FA5}">
                      <a16:colId xmlns:a16="http://schemas.microsoft.com/office/drawing/2014/main" val="3302631791"/>
                    </a:ext>
                  </a:extLst>
                </a:gridCol>
                <a:gridCol w="2123519">
                  <a:extLst>
                    <a:ext uri="{9D8B030D-6E8A-4147-A177-3AD203B41FA5}">
                      <a16:colId xmlns:a16="http://schemas.microsoft.com/office/drawing/2014/main" val="2847440272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3576290862"/>
                    </a:ext>
                  </a:extLst>
                </a:gridCol>
                <a:gridCol w="1049170">
                  <a:extLst>
                    <a:ext uri="{9D8B030D-6E8A-4147-A177-3AD203B41FA5}">
                      <a16:colId xmlns:a16="http://schemas.microsoft.com/office/drawing/2014/main" val="1951274119"/>
                    </a:ext>
                  </a:extLst>
                </a:gridCol>
                <a:gridCol w="2199024">
                  <a:extLst>
                    <a:ext uri="{9D8B030D-6E8A-4147-A177-3AD203B41FA5}">
                      <a16:colId xmlns:a16="http://schemas.microsoft.com/office/drawing/2014/main" val="2885562377"/>
                    </a:ext>
                  </a:extLst>
                </a:gridCol>
                <a:gridCol w="2199024">
                  <a:extLst>
                    <a:ext uri="{9D8B030D-6E8A-4147-A177-3AD203B41FA5}">
                      <a16:colId xmlns:a16="http://schemas.microsoft.com/office/drawing/2014/main" val="3940072084"/>
                    </a:ext>
                  </a:extLst>
                </a:gridCol>
                <a:gridCol w="1482396">
                  <a:extLst>
                    <a:ext uri="{9D8B030D-6E8A-4147-A177-3AD203B41FA5}">
                      <a16:colId xmlns:a16="http://schemas.microsoft.com/office/drawing/2014/main" val="1376403924"/>
                    </a:ext>
                  </a:extLst>
                </a:gridCol>
                <a:gridCol w="1017176">
                  <a:extLst>
                    <a:ext uri="{9D8B030D-6E8A-4147-A177-3AD203B41FA5}">
                      <a16:colId xmlns:a16="http://schemas.microsoft.com/office/drawing/2014/main" val="263951980"/>
                    </a:ext>
                  </a:extLst>
                </a:gridCol>
              </a:tblGrid>
              <a:tr h="372511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SL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Name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UID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Address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DOB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Email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Phone Number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Gender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392453"/>
                  </a:ext>
                </a:extLst>
              </a:tr>
              <a:tr h="40671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rPr lang="en-IN" sz="1400" b="1" dirty="0"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endParaRPr lang="en-IN" sz="1400" b="1" dirty="0">
                        <a:latin typeface="Garamond" panose="02020404030301010803" pitchFamily="18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499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2142D74-5B94-4BB9-E01D-920884BDDF84}"/>
              </a:ext>
            </a:extLst>
          </p:cNvPr>
          <p:cNvSpPr txBox="1"/>
          <p:nvPr/>
        </p:nvSpPr>
        <p:spPr>
          <a:xfrm>
            <a:off x="310838" y="2077155"/>
            <a:ext cx="2026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Garamond" panose="02020404030301010803" pitchFamily="18" charset="0"/>
              </a:rPr>
              <a:t>Student’s Details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61244-D56B-7E3D-CD75-FB4BA993B192}"/>
              </a:ext>
            </a:extLst>
          </p:cNvPr>
          <p:cNvSpPr txBox="1"/>
          <p:nvPr/>
        </p:nvSpPr>
        <p:spPr>
          <a:xfrm>
            <a:off x="310838" y="5149127"/>
            <a:ext cx="1818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Garamond" panose="02020404030301010803" pitchFamily="18" charset="0"/>
              </a:rPr>
              <a:t>Mentor Details</a:t>
            </a:r>
          </a:p>
        </p:txBody>
      </p:sp>
      <p:pic>
        <p:nvPicPr>
          <p:cNvPr id="238" name="Picture 2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25" y="266700"/>
            <a:ext cx="714375" cy="619125"/>
          </a:xfrm>
          <a:prstGeom prst="rect">
            <a:avLst/>
          </a:prstGeom>
        </p:spPr>
      </p:pic>
      <p:sp>
        <p:nvSpPr>
          <p:cNvPr id="239" name="TextBox 238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610963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>
                <a:latin typeface="Garamond" panose="02020404030301010803" pitchFamily="18" charset="0"/>
              </a:rPr>
              <a:t>Important Pointers</a:t>
            </a:r>
            <a:endParaRPr dirty="0">
              <a:latin typeface="Garamond" panose="02020404030301010803" pitchFamily="18" charset="0"/>
            </a:endParaRPr>
          </a:p>
        </p:txBody>
      </p:sp>
      <p:sp>
        <p:nvSpPr>
          <p:cNvPr id="244" name="Google Shape;244;p5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b="1" dirty="0">
                <a:latin typeface="Garamond" panose="02020404030301010803" pitchFamily="18" charset="0"/>
              </a:rPr>
              <a:t>Please ensure below pointers are met while  </a:t>
            </a:r>
            <a:endParaRPr b="1" dirty="0">
              <a:latin typeface="Garamond" panose="02020404030301010803" pitchFamily="18" charset="0"/>
            </a:endParaRPr>
          </a:p>
        </p:txBody>
      </p:sp>
      <p:sp>
        <p:nvSpPr>
          <p:cNvPr id="245" name="Google Shape;245;p5"/>
          <p:cNvSpPr txBox="1">
            <a:spLocks noGrp="1"/>
          </p:cNvSpPr>
          <p:nvPr>
            <p:ph type="body" idx="1"/>
          </p:nvPr>
        </p:nvSpPr>
        <p:spPr>
          <a:xfrm>
            <a:off x="952499" y="2656903"/>
            <a:ext cx="10821579" cy="39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Kindly keep the maximum slides limit to 10 pages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Topics should be utilized for description of your idea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Try to avoid paragraphs and post your idea in points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Keep your explanation precisely and easy to understand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Idea should be noble . </a:t>
            </a:r>
            <a:endParaRPr sz="2400" dirty="0">
              <a:latin typeface="Garamond" panose="02020404030301010803" pitchFamily="18" charset="0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2400" dirty="0">
                <a:latin typeface="Garamond" panose="02020404030301010803" pitchFamily="18" charset="0"/>
              </a:rPr>
              <a:t>You need to save the file in PDF and upload the same on portal. No PPT, Word Doc or any other format will be supported</a:t>
            </a:r>
            <a:endParaRPr sz="2400" dirty="0">
              <a:latin typeface="Garamond" panose="02020404030301010803" pitchFamily="18" charset="0"/>
            </a:endParaRPr>
          </a:p>
        </p:txBody>
      </p:sp>
      <p:sp>
        <p:nvSpPr>
          <p:cNvPr id="246" name="Google Shape;246;p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2"/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850" b="1">
                <a:solidFill>
                  <a:srgbClr val="222760"/>
                </a:solidFill>
                <a:latin typeface="Georgia"/>
              </a:defRPr>
            </a:pPr>
            <a:r>
              <a:t>Your Idea | Visible signals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WHAT NIVRA LOOKS FOR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54496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83096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WHAT THE OPERATOR DOES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3B8938-6710-D689-16BA-525BBFEFE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5651" y="256032"/>
            <a:ext cx="592202" cy="510753"/>
          </a:xfrm>
          <a:prstGeom prst="rect">
            <a:avLst/>
          </a:prstGeom>
        </p:spPr>
      </p:pic>
      <p:pic>
        <p:nvPicPr>
          <p:cNvPr id="18" name="Picture 17" descr="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2038350"/>
            <a:ext cx="5010150" cy="2095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4850" y="4343400"/>
            <a:ext cx="4953000" cy="3714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025" b="1">
                <a:solidFill>
                  <a:srgbClr val="14251D"/>
                </a:solidFill>
                <a:latin typeface="Arial"/>
              </a:defRPr>
            </a:pPr>
            <a:r>
              <a:t>Visible warning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" y="4857750"/>
            <a:ext cx="4953000" cy="9144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75" b="0">
                <a:solidFill>
                  <a:srgbClr val="46534C"/>
                </a:solidFill>
                <a:latin typeface="Arial"/>
              </a:defRPr>
            </a:pPr>
            <a:r>
              <a:t>• Rapidly closing distance</a:t>
            </a:r>
          </a:p>
          <a:p>
            <a:pPr>
              <a:spcAft>
                <a:spcPts val="600"/>
              </a:spcAft>
              <a:defRPr sz="1575" b="0">
                <a:solidFill>
                  <a:srgbClr val="46534C"/>
                </a:solidFill>
                <a:latin typeface="Arial"/>
              </a:defRPr>
            </a:pPr>
            <a:r>
              <a:t>• Repeated directed arm movements</a:t>
            </a:r>
          </a:p>
          <a:p>
            <a:pPr>
              <a:spcAft>
                <a:spcPts val="600"/>
              </a:spcAft>
              <a:defRPr sz="1575" b="0">
                <a:solidFill>
                  <a:srgbClr val="46534C"/>
                </a:solidFill>
                <a:latin typeface="Arial"/>
              </a:defRPr>
            </a:pPr>
            <a:r>
              <a:t>• Crowd convergence or sudden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575" y="2124075"/>
            <a:ext cx="4867275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</a:pPr>
            <a:r>
              <a:t>01 / SEE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575" y="2533650"/>
            <a:ext cx="4867275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Tracks people and objects temporarily.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575" y="3276600"/>
            <a:ext cx="4867275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</a:pPr>
            <a:r>
              <a:t>02 /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5575" y="3686175"/>
            <a:ext cx="4867275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Compares movement with simple rules.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575" y="4429125"/>
            <a:ext cx="4867275" cy="3619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</a:pPr>
            <a:r>
              <a:t>03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5575" y="4838700"/>
            <a:ext cx="4867275" cy="6858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Shows the alert reason; a person decides what happens next.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6115050"/>
            <a:ext cx="1076325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t>Experimental motion rules; sports, play, occlusion and camera angle can produce errors.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>
            <a:extLst>
              <a:ext uri="{FF2B5EF4-FFF2-40B4-BE49-F238E27FC236}">
                <a16:creationId xmlns:a16="http://schemas.microsoft.com/office/drawing/2014/main" id="{B482144C-71A3-2785-0B18-2B270F340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65E2676B-6F83-FFD7-2D82-348EE889C2E4}"/>
              </a:ext>
            </a:extLst>
          </p:cNvPr>
          <p:cNvSpPr/>
          <p:nvPr/>
        </p:nvSpPr>
        <p:spPr>
          <a:xfrm>
            <a:off x="2926080" y="256032"/>
            <a:ext cx="6309360" cy="6858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550" b="1">
                <a:solidFill>
                  <a:srgbClr val="222760"/>
                </a:solidFill>
                <a:latin typeface="Georgia"/>
              </a:defRPr>
            </a:pPr>
            <a:r>
              <a:t>TECHNICAL APPROACH | Demo</a:t>
            </a:r>
            <a:endParaRPr lang="en-US" sz="2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D12F776-09C3-0FCA-E8E7-C78191D9CE0C}"/>
              </a:ext>
            </a:extLst>
          </p:cNvPr>
          <p:cNvSpPr/>
          <p:nvPr/>
        </p:nvSpPr>
        <p:spPr>
          <a:xfrm>
            <a:off x="457200" y="1325880"/>
            <a:ext cx="4160520" cy="47091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C22CF0B-06CE-B2D4-7B65-FF0182359EDF}"/>
              </a:ext>
            </a:extLst>
          </p:cNvPr>
          <p:cNvSpPr/>
          <p:nvPr/>
        </p:nvSpPr>
        <p:spPr>
          <a:xfrm>
            <a:off x="4937760" y="1325880"/>
            <a:ext cx="6793992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CURRENT LAB AND NEXT STEPS</a:t>
            </a:r>
            <a:endParaRPr lang="en-US" sz="14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8551020-AB1A-3707-B537-05FBB9093EBC}"/>
              </a:ext>
            </a:extLst>
          </p:cNvPr>
          <p:cNvSpPr/>
          <p:nvPr/>
        </p:nvSpPr>
        <p:spPr>
          <a:xfrm>
            <a:off x="4937760" y="1737360"/>
            <a:ext cx="6793992" cy="4297680"/>
          </a:xfrm>
          <a:prstGeom prst="roundRect">
            <a:avLst>
              <a:gd name="adj" fmla="val 1277"/>
            </a:avLst>
          </a:prstGeom>
          <a:solidFill>
            <a:srgbClr val="F7F5FB"/>
          </a:solidFill>
          <a:ln w="12700">
            <a:solidFill>
              <a:srgbClr val="D9D3E8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562100"/>
            <a:ext cx="3714750" cy="4095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025" b="1">
                <a:solidFill>
                  <a:srgbClr val="14251D"/>
                </a:solidFill>
                <a:latin typeface="Arial"/>
              </a:defRPr>
            </a:pPr>
            <a:r>
              <a:t>Try the current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200275"/>
            <a:ext cx="3686175" cy="23336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1. Choose camera, video or test scenario.</a:t>
            </a:r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2. Inspect skeletons and review reasons.</a:t>
            </a:r>
          </a:p>
          <a:p>
            <a:pPr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3. Acknowledge alerts; pause, replay or stop.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19650"/>
            <a:ext cx="3619500" cy="4381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250" b="1">
                <a:solidFill>
                  <a:srgbClr val="14251D"/>
                </a:solidFill>
                <a:latin typeface="Arial"/>
              </a:defRPr>
            </a:pPr>
            <a:r>
              <a:t>211 tests passed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14950"/>
            <a:ext cx="3667125" cy="5715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46534C"/>
                </a:solidFill>
                <a:latin typeface="Arial"/>
              </a:defRPr>
            </a:pPr>
            <a:r>
              <a:t>Lint and production build also passed during local verification.</a:t>
            </a:r>
          </a:p>
        </p:txBody>
      </p:sp>
      <p:pic>
        <p:nvPicPr>
          <p:cNvPr id="29" name="Picture 2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2038350"/>
            <a:ext cx="6191250" cy="2428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210175" y="4610100"/>
            <a:ext cx="6105525" cy="42862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Proposed next: connected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0175" y="5181600"/>
            <a:ext cx="6076950" cy="7239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725" b="0">
                <a:solidFill>
                  <a:srgbClr val="46534C"/>
                </a:solidFill>
                <a:latin typeface="Arial"/>
              </a:defRPr>
            </a:pPr>
            <a:r>
              <a:t>Multi-camera coordination, an 8-second context replay and responder dispatch remain future work.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" y="6115050"/>
            <a:ext cx="10763250" cy="24765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t>Current app: 8-second alert cooldown, not an 8-second footage buffer. Mockup is conceptual.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>
            <a:extLst>
              <a:ext uri="{FF2B5EF4-FFF2-40B4-BE49-F238E27FC236}">
                <a16:creationId xmlns:a16="http://schemas.microsoft.com/office/drawing/2014/main" id="{57C0764E-4A66-6153-62BB-5CBC489FD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AEDAEAA-8FA0-3224-6C7C-26B21FF98B2E}"/>
              </a:ext>
            </a:extLst>
          </p:cNvPr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2925" b="1">
                <a:solidFill>
                  <a:srgbClr val="222760"/>
                </a:solidFill>
                <a:latin typeface="Georgia"/>
              </a:defRPr>
            </a:pPr>
            <a:r>
              <a:t>Impact and Benefits | Why it matters</a:t>
            </a:r>
            <a:endParaRPr lang="en-US" sz="30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3185866-11F6-824C-9FCC-1D023AE9C71E}"/>
              </a:ext>
            </a:extLst>
          </p:cNvPr>
          <p:cNvSpPr/>
          <p:nvPr/>
        </p:nvSpPr>
        <p:spPr>
          <a:xfrm>
            <a:off x="54864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DC2B347-E581-38C0-5508-F51306B2545A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CA7DC4D3-6F9B-9B82-BF78-8D444223657C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250" b="1">
                <a:solidFill>
                  <a:srgbClr val="FFFFFF"/>
                </a:solidFill>
                <a:latin typeface="Arial"/>
              </a:defRPr>
            </a:pPr>
            <a:r>
              <a:t>4.4 million</a:t>
            </a:r>
            <a:endParaRPr lang="en-US" sz="13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D5ED718-9ACA-393D-7381-2BAE9FB80ABB}"/>
              </a:ext>
            </a:extLst>
          </p:cNvPr>
          <p:cNvSpPr/>
          <p:nvPr/>
        </p:nvSpPr>
        <p:spPr>
          <a:xfrm>
            <a:off x="82296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500" b="0">
                <a:solidFill>
                  <a:srgbClr val="46534C"/>
                </a:solidFill>
                <a:latin typeface="Arial"/>
              </a:defRPr>
            </a:pPr>
            <a:r>
              <a:t>Global injury-related deaths in 2019, including unintentional injuries.</a:t>
            </a:r>
            <a:endParaRPr lang="en-US" sz="12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710857C3-79A8-CA18-6262-1EE7C172509F}"/>
              </a:ext>
            </a:extLst>
          </p:cNvPr>
          <p:cNvSpPr/>
          <p:nvPr/>
        </p:nvSpPr>
        <p:spPr>
          <a:xfrm>
            <a:off x="425196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19EFA0D-3406-DE44-6475-EB9DBF77D709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E4588E4-6BC5-246B-EF41-78377AE24A3D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250" b="1">
                <a:solidFill>
                  <a:srgbClr val="FFFFFF"/>
                </a:solidFill>
                <a:latin typeface="Arial"/>
              </a:defRPr>
            </a:pPr>
            <a:r>
              <a:t>1.25 million</a:t>
            </a:r>
            <a:endParaRPr lang="en-US" sz="13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61D796A0-51AE-8FC4-ED52-7C7412EB4B6F}"/>
              </a:ext>
            </a:extLst>
          </p:cNvPr>
          <p:cNvSpPr/>
          <p:nvPr/>
        </p:nvSpPr>
        <p:spPr>
          <a:xfrm>
            <a:off x="452628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500" b="0">
                <a:solidFill>
                  <a:srgbClr val="46534C"/>
                </a:solidFill>
                <a:latin typeface="Arial"/>
              </a:defRPr>
            </a:pPr>
            <a:r>
              <a:t>Violence-related injury deaths in 2019, including self-harm and conflict.</a:t>
            </a:r>
            <a:endParaRPr lang="en-US" sz="12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7783ED2F-548C-A7AC-7DFA-72F1CFA43077}"/>
              </a:ext>
            </a:extLst>
          </p:cNvPr>
          <p:cNvSpPr/>
          <p:nvPr/>
        </p:nvSpPr>
        <p:spPr>
          <a:xfrm>
            <a:off x="795528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BD14AC99-0775-98A8-13E4-172861EE28E4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AAC04C4-1292-8F43-9FE5-1E152752B6E3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buNone/>
              <a:defRPr sz="2250" b="1">
                <a:solidFill>
                  <a:srgbClr val="FFFFFF"/>
                </a:solidFill>
                <a:latin typeface="Arial"/>
              </a:defRPr>
            </a:pPr>
            <a:r>
              <a:t>~12,000 / day</a:t>
            </a:r>
            <a:endParaRPr lang="en-US" sz="13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62E7A75-A4E9-3179-B351-AC44349DB9CF}"/>
              </a:ext>
            </a:extLst>
          </p:cNvPr>
          <p:cNvSpPr/>
          <p:nvPr/>
        </p:nvSpPr>
        <p:spPr>
          <a:xfrm>
            <a:off x="822960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  <a:defRPr sz="1500" b="0">
                <a:solidFill>
                  <a:srgbClr val="46534C"/>
                </a:solidFill>
                <a:latin typeface="Arial"/>
              </a:defRPr>
            </a:pPr>
            <a:r>
              <a:t>Approximate daily equivalent of 4.4 million. Not a count of public fights.</a:t>
            </a:r>
            <a:endParaRPr lang="en-US" sz="12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0E44F278-2528-5628-6C49-FD8711391855}"/>
              </a:ext>
            </a:extLst>
          </p:cNvPr>
          <p:cNvSpPr/>
          <p:nvPr/>
        </p:nvSpPr>
        <p:spPr>
          <a:xfrm>
            <a:off x="54864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buNone/>
              <a:defRPr sz="1500" b="1">
                <a:solidFill>
                  <a:srgbClr val="14251D"/>
                </a:solidFill>
                <a:latin typeface="Arial"/>
              </a:defRPr>
            </a:pPr>
            <a:r>
              <a:t>WHAT THESE FIGURES MEAN FOR NIVRA</a:t>
            </a:r>
            <a:endParaRPr lang="en-US" sz="13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1A3A24E7-A066-0567-3F0D-558B41D4B2F7}"/>
              </a:ext>
            </a:extLst>
          </p:cNvPr>
          <p:cNvSpPr/>
          <p:nvPr/>
        </p:nvSpPr>
        <p:spPr>
          <a:xfrm>
            <a:off x="54864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650" b="0">
                <a:solidFill>
                  <a:srgbClr val="46534C"/>
                </a:solidFill>
                <a:latin typeface="Arial"/>
              </a:defRPr>
            </a:pPr>
            <a:r>
              <a:t>The scale of harm supports investigating better observation and response.</a:t>
            </a:r>
            <a:endParaRPr lang="en-US" sz="1300" dirty="0"/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These broad global totals are not NIVRA’s addressable market or preventable cases.</a:t>
            </a:r>
          </a:p>
          <a:p>
            <a:pPr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Product value must be demonstrated through supervised, representative tests.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1975" y="6296025"/>
            <a:ext cx="10668000" cy="257175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46534C"/>
                </a:solidFill>
                <a:latin typeface="Arial"/>
              </a:defRPr>
            </a:pPr>
            <a:r>
              <a:rPr>
                <a:hlinkClick r:id="rId3"/>
              </a:rPr>
              <a:t>Source: WHO, Preventing injuries and violence (2022), 2019 estimates.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0" y="6562725"/>
            <a:ext cx="857250" cy="228600"/>
          </a:xfrm>
          <a:prstGeom prst="rect">
            <a:avLst/>
          </a:prstGeom>
          <a:noFill/>
        </p:spPr>
        <p:txBody>
          <a:bodyPr wrap="square" lIns="38100" rIns="38100" tIns="19050" bIns="19050" anchor="t">
            <a:spAutoFit/>
          </a:bodyPr>
          <a:lstStyle/>
          <a:p>
            <a:pPr>
              <a:spcAft>
                <a:spcPts val="600"/>
              </a:spcAft>
              <a:defRPr sz="975" b="0">
                <a:solidFill>
                  <a:srgbClr val="222760"/>
                </a:solidFill>
                <a:latin typeface="Arial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645</Words>
  <Application>Microsoft Office PowerPoint</Application>
  <PresentationFormat>Widescreen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Cambria</vt:lpstr>
      <vt:lpstr>Franklin Gothic</vt:lpstr>
      <vt:lpstr>Garamond</vt:lpstr>
      <vt:lpstr>Libre Franklin</vt:lpstr>
      <vt:lpstr>Noto Sans Symbols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Member Details </vt:lpstr>
      <vt:lpstr>Important Pointers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CES 4</cp:lastModifiedBy>
  <cp:revision>6</cp:revision>
  <dcterms:created xsi:type="dcterms:W3CDTF">2026-08-17T04:57:11Z</dcterms:created>
  <dcterms:modified xsi:type="dcterms:W3CDTF">2026-08-19T09:42:38Z</dcterms:modified>
</cp:coreProperties>
</file>